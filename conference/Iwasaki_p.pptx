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30"/>
  </p:notesMasterIdLst>
  <p:handoutMasterIdLst>
    <p:handoutMasterId r:id="rId31"/>
  </p:handoutMasterIdLst>
  <p:sldIdLst>
    <p:sldId id="256" r:id="rId2"/>
    <p:sldId id="329" r:id="rId3"/>
    <p:sldId id="330" r:id="rId4"/>
    <p:sldId id="258" r:id="rId5"/>
    <p:sldId id="316" r:id="rId6"/>
    <p:sldId id="297" r:id="rId7"/>
    <p:sldId id="298" r:id="rId8"/>
    <p:sldId id="331" r:id="rId9"/>
    <p:sldId id="332" r:id="rId10"/>
    <p:sldId id="333" r:id="rId11"/>
    <p:sldId id="260" r:id="rId12"/>
    <p:sldId id="262" r:id="rId13"/>
    <p:sldId id="300" r:id="rId14"/>
    <p:sldId id="266" r:id="rId15"/>
    <p:sldId id="267" r:id="rId16"/>
    <p:sldId id="268" r:id="rId17"/>
    <p:sldId id="292" r:id="rId18"/>
    <p:sldId id="271" r:id="rId19"/>
    <p:sldId id="272" r:id="rId20"/>
    <p:sldId id="293" r:id="rId21"/>
    <p:sldId id="294" r:id="rId22"/>
    <p:sldId id="295" r:id="rId23"/>
    <p:sldId id="277" r:id="rId24"/>
    <p:sldId id="276" r:id="rId25"/>
    <p:sldId id="281" r:id="rId26"/>
    <p:sldId id="282" r:id="rId27"/>
    <p:sldId id="334" r:id="rId28"/>
    <p:sldId id="335" r:id="rId29"/>
  </p:sldIdLst>
  <p:sldSz cx="9144000" cy="6858000" type="screen4x3"/>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456" autoAdjust="0"/>
    <p:restoredTop sz="94660"/>
  </p:normalViewPr>
  <p:slideViewPr>
    <p:cSldViewPr snapToGrid="0">
      <p:cViewPr varScale="1">
        <p:scale>
          <a:sx n="66" d="100"/>
          <a:sy n="66" d="100"/>
        </p:scale>
        <p:origin x="522"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3076363" cy="511730"/>
          </a:xfrm>
          <a:prstGeom prst="rect">
            <a:avLst/>
          </a:prstGeom>
        </p:spPr>
        <p:txBody>
          <a:bodyPr vert="horz" lIns="99044" tIns="49521" rIns="99044" bIns="49521" rtlCol="0"/>
          <a:lstStyle>
            <a:lvl1pPr algn="l">
              <a:defRPr sz="1300"/>
            </a:lvl1pPr>
          </a:lstStyle>
          <a:p>
            <a:r>
              <a:rPr kumimoji="1" lang="en-US" altLang="ja-JP" smtClean="0"/>
              <a:t>MAER-NET 2015 Colloquium, Prague</a:t>
            </a:r>
            <a:endParaRPr kumimoji="1" lang="ja-JP" altLang="en-US" dirty="0"/>
          </a:p>
        </p:txBody>
      </p:sp>
      <p:sp>
        <p:nvSpPr>
          <p:cNvPr id="3" name="日付プレースホルダー 2"/>
          <p:cNvSpPr>
            <a:spLocks noGrp="1"/>
          </p:cNvSpPr>
          <p:nvPr>
            <p:ph type="dt" sz="quarter" idx="1"/>
          </p:nvPr>
        </p:nvSpPr>
        <p:spPr>
          <a:xfrm>
            <a:off x="4021295" y="1"/>
            <a:ext cx="3076363" cy="511730"/>
          </a:xfrm>
          <a:prstGeom prst="rect">
            <a:avLst/>
          </a:prstGeom>
        </p:spPr>
        <p:txBody>
          <a:bodyPr vert="horz" lIns="99044" tIns="49521" rIns="99044" bIns="49521" rtlCol="0"/>
          <a:lstStyle>
            <a:lvl1pPr algn="r">
              <a:defRPr sz="1300"/>
            </a:lvl1pPr>
          </a:lstStyle>
          <a:p>
            <a:r>
              <a:rPr kumimoji="1" lang="en-US" altLang="ja-JP" smtClean="0"/>
              <a:t>September 10-12, 2015</a:t>
            </a:r>
            <a:endParaRPr kumimoji="1" lang="ja-JP" altLang="en-US" dirty="0"/>
          </a:p>
        </p:txBody>
      </p:sp>
      <p:sp>
        <p:nvSpPr>
          <p:cNvPr id="4" name="フッター プレースホルダー 3"/>
          <p:cNvSpPr>
            <a:spLocks noGrp="1"/>
          </p:cNvSpPr>
          <p:nvPr>
            <p:ph type="ftr" sz="quarter" idx="2"/>
          </p:nvPr>
        </p:nvSpPr>
        <p:spPr>
          <a:xfrm>
            <a:off x="1" y="9721107"/>
            <a:ext cx="3076363" cy="511730"/>
          </a:xfrm>
          <a:prstGeom prst="rect">
            <a:avLst/>
          </a:prstGeom>
        </p:spPr>
        <p:txBody>
          <a:bodyPr vert="horz" lIns="99044" tIns="49521" rIns="99044" bIns="49521" rtlCol="0" anchor="b"/>
          <a:lstStyle>
            <a:lvl1pPr algn="l">
              <a:defRPr sz="1300"/>
            </a:lvl1pPr>
          </a:lstStyle>
          <a:p>
            <a:endParaRPr kumimoji="1" lang="ja-JP" altLang="en-US" dirty="0"/>
          </a:p>
        </p:txBody>
      </p:sp>
      <p:sp>
        <p:nvSpPr>
          <p:cNvPr id="5" name="スライド番号プレースホルダー 4"/>
          <p:cNvSpPr>
            <a:spLocks noGrp="1"/>
          </p:cNvSpPr>
          <p:nvPr>
            <p:ph type="sldNum" sz="quarter" idx="3"/>
          </p:nvPr>
        </p:nvSpPr>
        <p:spPr>
          <a:xfrm>
            <a:off x="4021295" y="9721107"/>
            <a:ext cx="3076363" cy="511730"/>
          </a:xfrm>
          <a:prstGeom prst="rect">
            <a:avLst/>
          </a:prstGeom>
        </p:spPr>
        <p:txBody>
          <a:bodyPr vert="horz" lIns="99044" tIns="49521" rIns="99044" bIns="49521" rtlCol="0" anchor="b"/>
          <a:lstStyle>
            <a:lvl1pPr algn="r">
              <a:defRPr sz="1300"/>
            </a:lvl1pPr>
          </a:lstStyle>
          <a:p>
            <a:fld id="{53DDD759-A42F-46E4-B0B0-4C12EC3E01C0}" type="slidenum">
              <a:rPr kumimoji="1" lang="ja-JP" altLang="en-US" smtClean="0"/>
              <a:t>‹#›</a:t>
            </a:fld>
            <a:endParaRPr kumimoji="1" lang="ja-JP" altLang="en-US" dirty="0"/>
          </a:p>
        </p:txBody>
      </p:sp>
    </p:spTree>
    <p:extLst>
      <p:ext uri="{BB962C8B-B14F-4D97-AF65-F5344CB8AC3E}">
        <p14:creationId xmlns:p14="http://schemas.microsoft.com/office/powerpoint/2010/main" val="880666062"/>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3076363" cy="511730"/>
          </a:xfrm>
          <a:prstGeom prst="rect">
            <a:avLst/>
          </a:prstGeom>
        </p:spPr>
        <p:txBody>
          <a:bodyPr vert="horz" lIns="99044" tIns="49521" rIns="99044" bIns="49521" rtlCol="0"/>
          <a:lstStyle>
            <a:lvl1pPr algn="l">
              <a:defRPr sz="1300"/>
            </a:lvl1pPr>
          </a:lstStyle>
          <a:p>
            <a:r>
              <a:rPr kumimoji="1" lang="en-US" altLang="ja-JP" smtClean="0"/>
              <a:t>MAER-NET 2015 Colloquium, Prague</a:t>
            </a:r>
            <a:endParaRPr kumimoji="1" lang="ja-JP" altLang="en-US" dirty="0"/>
          </a:p>
        </p:txBody>
      </p:sp>
      <p:sp>
        <p:nvSpPr>
          <p:cNvPr id="3" name="日付プレースホルダー 2"/>
          <p:cNvSpPr>
            <a:spLocks noGrp="1"/>
          </p:cNvSpPr>
          <p:nvPr>
            <p:ph type="dt" idx="1"/>
          </p:nvPr>
        </p:nvSpPr>
        <p:spPr>
          <a:xfrm>
            <a:off x="4021295" y="1"/>
            <a:ext cx="3076363" cy="511730"/>
          </a:xfrm>
          <a:prstGeom prst="rect">
            <a:avLst/>
          </a:prstGeom>
        </p:spPr>
        <p:txBody>
          <a:bodyPr vert="horz" lIns="99044" tIns="49521" rIns="99044" bIns="49521" rtlCol="0"/>
          <a:lstStyle>
            <a:lvl1pPr algn="r">
              <a:defRPr sz="1300"/>
            </a:lvl1pPr>
          </a:lstStyle>
          <a:p>
            <a:r>
              <a:rPr kumimoji="1" lang="en-US" altLang="ja-JP" smtClean="0"/>
              <a:t>September 10-12, 2015</a:t>
            </a:r>
            <a:endParaRPr kumimoji="1" lang="ja-JP" altLang="en-US" dirty="0"/>
          </a:p>
        </p:txBody>
      </p:sp>
      <p:sp>
        <p:nvSpPr>
          <p:cNvPr id="4" name="スライド イメージ プレースホルダー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4" tIns="49521" rIns="99044" bIns="49521" rtlCol="0" anchor="ctr"/>
          <a:lstStyle/>
          <a:p>
            <a:endParaRPr lang="ja-JP" altLang="en-US" dirty="0"/>
          </a:p>
        </p:txBody>
      </p:sp>
      <p:sp>
        <p:nvSpPr>
          <p:cNvPr id="5" name="ノート プレースホルダー 4"/>
          <p:cNvSpPr>
            <a:spLocks noGrp="1"/>
          </p:cNvSpPr>
          <p:nvPr>
            <p:ph type="body" sz="quarter" idx="3"/>
          </p:nvPr>
        </p:nvSpPr>
        <p:spPr>
          <a:xfrm>
            <a:off x="709931" y="4861443"/>
            <a:ext cx="5679440" cy="4605575"/>
          </a:xfrm>
          <a:prstGeom prst="rect">
            <a:avLst/>
          </a:prstGeom>
        </p:spPr>
        <p:txBody>
          <a:bodyPr vert="horz" lIns="99044" tIns="49521" rIns="99044" bIns="49521"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1" y="9721107"/>
            <a:ext cx="3076363" cy="511730"/>
          </a:xfrm>
          <a:prstGeom prst="rect">
            <a:avLst/>
          </a:prstGeom>
        </p:spPr>
        <p:txBody>
          <a:bodyPr vert="horz" lIns="99044" tIns="49521" rIns="99044" bIns="49521" rtlCol="0" anchor="b"/>
          <a:lstStyle>
            <a:lvl1pPr algn="l">
              <a:defRPr sz="1300"/>
            </a:lvl1pPr>
          </a:lstStyle>
          <a:p>
            <a:endParaRPr kumimoji="1" lang="ja-JP" altLang="en-US" dirty="0"/>
          </a:p>
        </p:txBody>
      </p:sp>
      <p:sp>
        <p:nvSpPr>
          <p:cNvPr id="7" name="スライド番号プレースホルダー 6"/>
          <p:cNvSpPr>
            <a:spLocks noGrp="1"/>
          </p:cNvSpPr>
          <p:nvPr>
            <p:ph type="sldNum" sz="quarter" idx="5"/>
          </p:nvPr>
        </p:nvSpPr>
        <p:spPr>
          <a:xfrm>
            <a:off x="4021295" y="9721107"/>
            <a:ext cx="3076363" cy="511730"/>
          </a:xfrm>
          <a:prstGeom prst="rect">
            <a:avLst/>
          </a:prstGeom>
        </p:spPr>
        <p:txBody>
          <a:bodyPr vert="horz" lIns="99044" tIns="49521" rIns="99044" bIns="49521" rtlCol="0" anchor="b"/>
          <a:lstStyle>
            <a:lvl1pPr algn="r">
              <a:defRPr sz="1300"/>
            </a:lvl1pPr>
          </a:lstStyle>
          <a:p>
            <a:fld id="{A672109D-EAAE-40DD-B74D-48622D4AC7D0}" type="slidenum">
              <a:rPr kumimoji="1" lang="ja-JP" altLang="en-US" smtClean="0"/>
              <a:t>‹#›</a:t>
            </a:fld>
            <a:endParaRPr kumimoji="1" lang="ja-JP" altLang="en-US" dirty="0"/>
          </a:p>
        </p:txBody>
      </p:sp>
    </p:spTree>
    <p:extLst>
      <p:ext uri="{BB962C8B-B14F-4D97-AF65-F5344CB8AC3E}">
        <p14:creationId xmlns:p14="http://schemas.microsoft.com/office/powerpoint/2010/main" val="3786676374"/>
      </p:ext>
    </p:extLst>
  </p:cSld>
  <p:clrMap bg1="lt1" tx1="dk1" bg2="lt2" tx2="dk2" accent1="accent1" accent2="accent2" accent3="accent3" accent4="accent4" accent5="accent5" accent6="accent6" hlink="hlink" folHlink="folHlink"/>
  <p:hf ftr="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A672109D-EAAE-40DD-B74D-48622D4AC7D0}" type="slidenum">
              <a:rPr kumimoji="1" lang="ja-JP" altLang="en-US" smtClean="0"/>
              <a:t>1</a:t>
            </a:fld>
            <a:endParaRPr kumimoji="1" lang="ja-JP" altLang="en-US" dirty="0"/>
          </a:p>
        </p:txBody>
      </p:sp>
      <p:sp>
        <p:nvSpPr>
          <p:cNvPr id="6" name="ヘッダー プレースホルダー 5"/>
          <p:cNvSpPr>
            <a:spLocks noGrp="1"/>
          </p:cNvSpPr>
          <p:nvPr>
            <p:ph type="hdr" sz="quarter" idx="12"/>
          </p:nvPr>
        </p:nvSpPr>
        <p:spPr/>
        <p:txBody>
          <a:bodyPr/>
          <a:lstStyle/>
          <a:p>
            <a:r>
              <a:rPr kumimoji="1" lang="en-US" altLang="ja-JP" smtClean="0"/>
              <a:t>MAER-NET 2015 Colloquium, Prague</a:t>
            </a:r>
            <a:endParaRPr kumimoji="1" lang="ja-JP" altLang="en-US" dirty="0"/>
          </a:p>
        </p:txBody>
      </p:sp>
      <p:sp>
        <p:nvSpPr>
          <p:cNvPr id="7" name="日付プレースホルダー 6"/>
          <p:cNvSpPr>
            <a:spLocks noGrp="1"/>
          </p:cNvSpPr>
          <p:nvPr>
            <p:ph type="dt" idx="13"/>
          </p:nvPr>
        </p:nvSpPr>
        <p:spPr/>
        <p:txBody>
          <a:bodyPr/>
          <a:lstStyle/>
          <a:p>
            <a:r>
              <a:rPr kumimoji="1" lang="en-US" altLang="ja-JP" smtClean="0"/>
              <a:t>September 10-12, 2015</a:t>
            </a:r>
            <a:endParaRPr kumimoji="1" lang="ja-JP" altLang="en-US" dirty="0"/>
          </a:p>
        </p:txBody>
      </p:sp>
    </p:spTree>
    <p:extLst>
      <p:ext uri="{BB962C8B-B14F-4D97-AF65-F5344CB8AC3E}">
        <p14:creationId xmlns:p14="http://schemas.microsoft.com/office/powerpoint/2010/main" val="3809810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ヘッダー プレースホルダー 3"/>
          <p:cNvSpPr>
            <a:spLocks noGrp="1"/>
          </p:cNvSpPr>
          <p:nvPr>
            <p:ph type="hdr" sz="quarter" idx="10"/>
          </p:nvPr>
        </p:nvSpPr>
        <p:spPr/>
        <p:txBody>
          <a:bodyPr/>
          <a:lstStyle/>
          <a:p>
            <a:r>
              <a:rPr kumimoji="1" lang="en-US" altLang="ja-JP" smtClean="0"/>
              <a:t>MAER-NET 2015 Colloquium, Prague</a:t>
            </a:r>
            <a:endParaRPr kumimoji="1" lang="ja-JP" altLang="en-US" dirty="0"/>
          </a:p>
        </p:txBody>
      </p:sp>
      <p:sp>
        <p:nvSpPr>
          <p:cNvPr id="5" name="日付プレースホルダー 4"/>
          <p:cNvSpPr>
            <a:spLocks noGrp="1"/>
          </p:cNvSpPr>
          <p:nvPr>
            <p:ph type="dt" idx="11"/>
          </p:nvPr>
        </p:nvSpPr>
        <p:spPr/>
        <p:txBody>
          <a:bodyPr/>
          <a:lstStyle/>
          <a:p>
            <a:r>
              <a:rPr kumimoji="1" lang="en-US" altLang="ja-JP" smtClean="0"/>
              <a:t>September 10-12, 2015</a:t>
            </a:r>
            <a:endParaRPr kumimoji="1" lang="ja-JP" altLang="en-US" dirty="0"/>
          </a:p>
        </p:txBody>
      </p:sp>
      <p:sp>
        <p:nvSpPr>
          <p:cNvPr id="6" name="スライド番号プレースホルダー 5"/>
          <p:cNvSpPr>
            <a:spLocks noGrp="1"/>
          </p:cNvSpPr>
          <p:nvPr>
            <p:ph type="sldNum" sz="quarter" idx="12"/>
          </p:nvPr>
        </p:nvSpPr>
        <p:spPr/>
        <p:txBody>
          <a:bodyPr/>
          <a:lstStyle/>
          <a:p>
            <a:fld id="{A672109D-EAAE-40DD-B74D-48622D4AC7D0}" type="slidenum">
              <a:rPr kumimoji="1" lang="ja-JP" altLang="en-US" smtClean="0"/>
              <a:t>11</a:t>
            </a:fld>
            <a:endParaRPr kumimoji="1" lang="ja-JP" altLang="en-US" dirty="0"/>
          </a:p>
        </p:txBody>
      </p:sp>
    </p:spTree>
    <p:extLst>
      <p:ext uri="{BB962C8B-B14F-4D97-AF65-F5344CB8AC3E}">
        <p14:creationId xmlns:p14="http://schemas.microsoft.com/office/powerpoint/2010/main" val="3897730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5A985DE9-AE14-4DC8-8BA1-BC721FFBF743}" type="datetime1">
              <a:rPr lang="ja-JP" altLang="en-US" smtClean="0"/>
              <a:t>2015/8/25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4566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4E787A19-7F5E-4606-892E-472C8EB96CC9}" type="datetime1">
              <a:rPr lang="ja-JP" altLang="en-US" smtClean="0"/>
              <a:t>2015/8/25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67618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95DD788-4500-4A24-8425-AE6E6B1FE712}" type="datetime1">
              <a:rPr lang="ja-JP" altLang="en-US" smtClean="0"/>
              <a:t>2015/8/25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314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Date Placeholder 4"/>
          <p:cNvSpPr>
            <a:spLocks noGrp="1"/>
          </p:cNvSpPr>
          <p:nvPr>
            <p:ph type="dt" sz="half" idx="10"/>
          </p:nvPr>
        </p:nvSpPr>
        <p:spPr/>
        <p:txBody>
          <a:bodyPr/>
          <a:lstStyle/>
          <a:p>
            <a:fld id="{ED619D0C-A706-45AE-93EA-30EF91732113}" type="datetime1">
              <a:rPr lang="ja-JP" altLang="en-US" smtClean="0"/>
              <a:t>2015/8/25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37976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E68731C3-73DE-45B5-A092-BB1CE0C61D24}" type="datetime1">
              <a:rPr lang="ja-JP" altLang="en-US" smtClean="0"/>
              <a:t>2015/8/25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7075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Date Placeholder 2"/>
          <p:cNvSpPr>
            <a:spLocks noGrp="1"/>
          </p:cNvSpPr>
          <p:nvPr>
            <p:ph type="dt" sz="half" idx="10"/>
          </p:nvPr>
        </p:nvSpPr>
        <p:spPr/>
        <p:txBody>
          <a:bodyPr/>
          <a:lstStyle/>
          <a:p>
            <a:fld id="{B66CDB8C-4A1E-461B-BF7E-F886BEA26337}" type="datetime1">
              <a:rPr lang="ja-JP" altLang="en-US" smtClean="0"/>
              <a:t>2015/8/25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0247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7D3D5E-5449-47DA-8053-FE4485890A30}" type="datetime1">
              <a:rPr lang="ja-JP" altLang="en-US" smtClean="0"/>
              <a:t>2015/8/25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4970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D6D101EC-724D-4E46-B269-B43013284BF0}" type="datetime1">
              <a:rPr lang="ja-JP" altLang="en-US" smtClean="0"/>
              <a:t>2015/8/25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5326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ja-JP" altLang="en-US" smtClean="0"/>
              <a:t>マスター タイトルの書式設定</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dirty="0" smtClean="0"/>
              <a:t>図を追加</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862A17AC-C66C-4AB5-856D-CDDE6148EC5A}" type="datetime1">
              <a:rPr lang="ja-JP" altLang="en-US" smtClean="0"/>
              <a:t>2015/8/25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9274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p:txBody>
          <a:bodyPr/>
          <a:lstStyle/>
          <a:p>
            <a:fld id="{AC26F51A-C441-4357-B434-58304EF3F78B}" type="datetime1">
              <a:rPr lang="ja-JP" altLang="en-US" smtClean="0"/>
              <a:t>2015/8/25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78543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9E4668F4-FC8A-479D-AC3B-4F6BE59FECDB}" type="datetime1">
              <a:rPr lang="ja-JP" altLang="en-US" smtClean="0"/>
              <a:t>2015/8/25</a:t>
            </a:fld>
            <a:endParaRPr lang="en-US" dirty="0"/>
          </a:p>
        </p:txBody>
      </p:sp>
      <p:sp>
        <p:nvSpPr>
          <p:cNvPr id="5" name="Footer Placeholder 4"/>
          <p:cNvSpPr>
            <a:spLocks noGrp="1"/>
          </p:cNvSpPr>
          <p:nvPr>
            <p:ph type="ftr" sz="quarter" idx="11"/>
          </p:nvPr>
        </p:nvSpPr>
        <p:spPr>
          <a:xfrm>
            <a:off x="581192" y="5951810"/>
            <a:ext cx="5922209" cy="365125"/>
          </a:xfrm>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02260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B58B64E3-0B48-4769-A40B-A512F784B088}" type="datetime1">
              <a:rPr lang="ja-JP" altLang="en-US" smtClean="0"/>
              <a:t>2015/8/25</a:t>
            </a:fld>
            <a:endParaRPr lang="en-US" dirty="0"/>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8546549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457200" rtl="0" eaLnBrk="1" latinLnBrk="0" hangingPunct="1">
        <a:spcBef>
          <a:spcPct val="0"/>
        </a:spcBef>
        <a:buNone/>
        <a:defRPr kumimoji="1" sz="2800" b="0" kern="1200" cap="all">
          <a:solidFill>
            <a:schemeClr val="bg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kumimoji="1"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kumimoji="1"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kumimoji="1"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kumimoji="1"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kumimoji="1"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kumimoji="1"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kumimoji="1"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kumimoji="1"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kumimoji="1" sz="1200" kern="1200">
          <a:solidFill>
            <a:schemeClr val="tx2"/>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9.emf"/><Relationship Id="rId4" Type="http://schemas.openxmlformats.org/officeDocument/2006/relationships/package" Target="../embeddings/Microsoft_Excel_Worksheet1.xlsx"/></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0.emf"/><Relationship Id="rId4" Type="http://schemas.openxmlformats.org/officeDocument/2006/relationships/package" Target="../embeddings/Microsoft_Excel_Worksheet2.xlsx"/></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11.emf"/><Relationship Id="rId4" Type="http://schemas.openxmlformats.org/officeDocument/2006/relationships/package" Target="../embeddings/Microsoft_Excel_Worksheet3.xlsx"/></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12.emf"/><Relationship Id="rId4" Type="http://schemas.openxmlformats.org/officeDocument/2006/relationships/package" Target="../embeddings/Microsoft_Excel_Worksheet4.xls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3.emf"/><Relationship Id="rId4" Type="http://schemas.openxmlformats.org/officeDocument/2006/relationships/package" Target="../embeddings/Microsoft_Excel_Worksheet5.xlsx"/></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14.emf"/><Relationship Id="rId4" Type="http://schemas.openxmlformats.org/officeDocument/2006/relationships/package" Target="../embeddings/Microsoft_Excel_Worksheet6.xls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15.emf"/><Relationship Id="rId4" Type="http://schemas.openxmlformats.org/officeDocument/2006/relationships/package" Target="../embeddings/Microsoft_Excel_Worksheet7.xls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16.emf"/><Relationship Id="rId4" Type="http://schemas.openxmlformats.org/officeDocument/2006/relationships/package" Target="../embeddings/Microsoft_Excel_Worksheet8.xlsx"/></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17.emf"/><Relationship Id="rId4" Type="http://schemas.openxmlformats.org/officeDocument/2006/relationships/package" Target="../embeddings/Microsoft_Excel_Worksheet9.xlsx"/></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18.emf"/><Relationship Id="rId4" Type="http://schemas.openxmlformats.org/officeDocument/2006/relationships/package" Target="../embeddings/Microsoft_Excel_Worksheet10.xls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19.emf"/><Relationship Id="rId4" Type="http://schemas.openxmlformats.org/officeDocument/2006/relationships/package" Target="../embeddings/Microsoft_Excel_Worksheet11.xlsx"/></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494152" y="746253"/>
            <a:ext cx="7989752" cy="1657103"/>
          </a:xfrm>
        </p:spPr>
        <p:txBody>
          <a:bodyPr>
            <a:normAutofit fontScale="90000"/>
          </a:bodyPr>
          <a:lstStyle/>
          <a:p>
            <a:r>
              <a:rPr kumimoji="1" lang="en-US" altLang="ja-JP" b="1" dirty="0" smtClean="0"/>
              <a:t/>
            </a:r>
            <a:br>
              <a:rPr kumimoji="1" lang="en-US" altLang="ja-JP" b="1" dirty="0" smtClean="0"/>
            </a:br>
            <a:r>
              <a:rPr kumimoji="1" lang="en-US" altLang="ja-JP" cap="none" dirty="0" smtClean="0">
                <a:solidFill>
                  <a:schemeClr val="accent1">
                    <a:lumMod val="75000"/>
                  </a:schemeClr>
                </a:solidFill>
                <a:latin typeface="Arial Black" panose="020B0A04020102020204" pitchFamily="34" charset="0"/>
                <a:ea typeface="Arial Unicode MS" panose="020B0604020202020204" pitchFamily="50" charset="-128"/>
                <a:cs typeface="Arial Unicode MS" panose="020B0604020202020204" pitchFamily="50" charset="-128"/>
              </a:rPr>
              <a:t>Central Bank Independence and Inflation in Transition Economies</a:t>
            </a:r>
            <a:br>
              <a:rPr kumimoji="1" lang="en-US" altLang="ja-JP" cap="none" dirty="0" smtClean="0">
                <a:solidFill>
                  <a:schemeClr val="accent1">
                    <a:lumMod val="75000"/>
                  </a:schemeClr>
                </a:solidFill>
                <a:latin typeface="Arial Black" panose="020B0A04020102020204" pitchFamily="34" charset="0"/>
                <a:ea typeface="Arial Unicode MS" panose="020B0604020202020204" pitchFamily="50" charset="-128"/>
                <a:cs typeface="Arial Unicode MS" panose="020B0604020202020204" pitchFamily="50" charset="-128"/>
              </a:rPr>
            </a:br>
            <a:r>
              <a:rPr lang="en-US" altLang="ja-JP" sz="900" cap="none" dirty="0">
                <a:solidFill>
                  <a:schemeClr val="accent1">
                    <a:lumMod val="75000"/>
                  </a:schemeClr>
                </a:solidFill>
                <a:latin typeface="Arial Black" panose="020B0A04020102020204" pitchFamily="34" charset="0"/>
                <a:ea typeface="Arial Unicode MS" panose="020B0604020202020204" pitchFamily="50" charset="-128"/>
                <a:cs typeface="Arial Unicode MS" panose="020B0604020202020204" pitchFamily="50" charset="-128"/>
              </a:rPr>
              <a:t> </a:t>
            </a:r>
            <a:r>
              <a:rPr kumimoji="1" lang="en-US" altLang="ja-JP" sz="2700" cap="none" dirty="0" smtClean="0">
                <a:solidFill>
                  <a:schemeClr val="accent1">
                    <a:lumMod val="75000"/>
                  </a:schemeClr>
                </a:solidFill>
                <a:latin typeface="Arial Black" panose="020B0A04020102020204" pitchFamily="34" charset="0"/>
                <a:ea typeface="Arial Unicode MS" panose="020B0604020202020204" pitchFamily="50" charset="-128"/>
                <a:cs typeface="Arial Unicode MS" panose="020B0604020202020204" pitchFamily="50" charset="-128"/>
              </a:rPr>
              <a:t/>
            </a:r>
            <a:br>
              <a:rPr kumimoji="1" lang="en-US" altLang="ja-JP" sz="2700" cap="none" dirty="0" smtClean="0">
                <a:solidFill>
                  <a:schemeClr val="accent1">
                    <a:lumMod val="75000"/>
                  </a:schemeClr>
                </a:solidFill>
                <a:latin typeface="Arial Black" panose="020B0A04020102020204" pitchFamily="34" charset="0"/>
                <a:ea typeface="Arial Unicode MS" panose="020B0604020202020204" pitchFamily="50" charset="-128"/>
                <a:cs typeface="Arial Unicode MS" panose="020B0604020202020204" pitchFamily="50" charset="-128"/>
              </a:rPr>
            </a:br>
            <a:r>
              <a:rPr kumimoji="1" lang="en-US" altLang="ja-JP" sz="2000" cap="none" dirty="0" smtClean="0">
                <a:solidFill>
                  <a:schemeClr val="accent1">
                    <a:lumMod val="75000"/>
                  </a:schemeClr>
                </a:solidFill>
                <a:latin typeface="Arial Black" panose="020B0A04020102020204" pitchFamily="34" charset="0"/>
                <a:ea typeface="Arial Unicode MS" panose="020B0604020202020204" pitchFamily="50" charset="-128"/>
                <a:cs typeface="Arial Unicode MS" panose="020B0604020202020204" pitchFamily="50" charset="-128"/>
              </a:rPr>
              <a:t>A Comparative Meta-Analysis with Developed and Developing Economies</a:t>
            </a:r>
            <a:endParaRPr kumimoji="1" lang="ja-JP" altLang="en-US" sz="2000" cap="none" dirty="0">
              <a:solidFill>
                <a:schemeClr val="accent1">
                  <a:lumMod val="75000"/>
                </a:schemeClr>
              </a:solidFill>
              <a:latin typeface="Arial Black" panose="020B0A04020102020204" pitchFamily="34" charset="0"/>
              <a:ea typeface="Arial Unicode MS" panose="020B0604020202020204" pitchFamily="50" charset="-128"/>
              <a:cs typeface="Arial Unicode MS" panose="020B0604020202020204" pitchFamily="50" charset="-128"/>
            </a:endParaRPr>
          </a:p>
        </p:txBody>
      </p:sp>
      <p:sp>
        <p:nvSpPr>
          <p:cNvPr id="3" name="サブタイトル 2"/>
          <p:cNvSpPr>
            <a:spLocks noGrp="1"/>
          </p:cNvSpPr>
          <p:nvPr>
            <p:ph type="subTitle" idx="1"/>
          </p:nvPr>
        </p:nvSpPr>
        <p:spPr>
          <a:xfrm>
            <a:off x="494152" y="2506668"/>
            <a:ext cx="7989752" cy="432211"/>
          </a:xfrm>
        </p:spPr>
        <p:txBody>
          <a:bodyPr>
            <a:normAutofit lnSpcReduction="10000"/>
          </a:bodyPr>
          <a:lstStyle/>
          <a:p>
            <a:r>
              <a:rPr lang="en-US" altLang="ja-JP" sz="2400" cap="none" dirty="0" smtClean="0">
                <a:latin typeface="Arial Black" panose="020B0A04020102020204" pitchFamily="34" charset="0"/>
              </a:rPr>
              <a:t>Ichiro IWASAKI and Akira UEGAKI</a:t>
            </a:r>
            <a:endParaRPr kumimoji="1" lang="ja-JP" altLang="en-US" sz="2400" cap="none" dirty="0">
              <a:latin typeface="Arial Black" panose="020B0A04020102020204" pitchFamily="34" charset="0"/>
            </a:endParaRPr>
          </a:p>
        </p:txBody>
      </p:sp>
      <p:pic>
        <p:nvPicPr>
          <p:cNvPr id="6" name="図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8" y="3305636"/>
            <a:ext cx="1789580" cy="1191860"/>
          </a:xfrm>
          <a:prstGeom prst="rect">
            <a:avLst/>
          </a:prstGeom>
        </p:spPr>
      </p:pic>
      <p:pic>
        <p:nvPicPr>
          <p:cNvPr id="7" name="図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538" y="4995507"/>
            <a:ext cx="2336688" cy="1000882"/>
          </a:xfrm>
          <a:prstGeom prst="rect">
            <a:avLst/>
          </a:prstGeom>
        </p:spPr>
      </p:pic>
      <p:pic>
        <p:nvPicPr>
          <p:cNvPr id="8" name="図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69491" y="3452522"/>
            <a:ext cx="1689040" cy="1205552"/>
          </a:xfrm>
          <a:prstGeom prst="rect">
            <a:avLst/>
          </a:prstGeom>
        </p:spPr>
      </p:pic>
      <p:pic>
        <p:nvPicPr>
          <p:cNvPr id="9" name="図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11763" y="4864253"/>
            <a:ext cx="1740061" cy="1303465"/>
          </a:xfrm>
          <a:prstGeom prst="rect">
            <a:avLst/>
          </a:prstGeom>
        </p:spPr>
      </p:pic>
      <p:pic>
        <p:nvPicPr>
          <p:cNvPr id="10" name="図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40210" y="3339438"/>
            <a:ext cx="1860591" cy="1158058"/>
          </a:xfrm>
          <a:prstGeom prst="rect">
            <a:avLst/>
          </a:prstGeom>
        </p:spPr>
      </p:pic>
      <p:pic>
        <p:nvPicPr>
          <p:cNvPr id="11" name="図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61685" y="4700576"/>
            <a:ext cx="1657249" cy="1242937"/>
          </a:xfrm>
          <a:prstGeom prst="rect">
            <a:avLst/>
          </a:prstGeom>
        </p:spPr>
      </p:pic>
      <p:pic>
        <p:nvPicPr>
          <p:cNvPr id="12" name="図 1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82293" y="4595982"/>
            <a:ext cx="1101611" cy="1652417"/>
          </a:xfrm>
          <a:prstGeom prst="rect">
            <a:avLst/>
          </a:prstGeom>
        </p:spPr>
      </p:pic>
      <p:pic>
        <p:nvPicPr>
          <p:cNvPr id="15" name="図 14"/>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657300" y="3495024"/>
            <a:ext cx="1773593" cy="997646"/>
          </a:xfrm>
          <a:prstGeom prst="rect">
            <a:avLst/>
          </a:prstGeom>
        </p:spPr>
      </p:pic>
    </p:spTree>
    <p:extLst>
      <p:ext uri="{BB962C8B-B14F-4D97-AF65-F5344CB8AC3E}">
        <p14:creationId xmlns:p14="http://schemas.microsoft.com/office/powerpoint/2010/main" val="4325360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chor="ctr"/>
          <a:lstStyle/>
          <a:p>
            <a:r>
              <a:rPr lang="en-US" altLang="ja-JP" cap="none" dirty="0" smtClean="0">
                <a:latin typeface="Arial Black" panose="020B0A04020102020204" pitchFamily="34" charset="0"/>
              </a:rPr>
              <a:t>Introduction</a:t>
            </a:r>
            <a:endParaRPr kumimoji="1" lang="ja-JP" altLang="en-US" dirty="0"/>
          </a:p>
        </p:txBody>
      </p:sp>
      <p:sp>
        <p:nvSpPr>
          <p:cNvPr id="3" name="コンテンツ プレースホルダー 2"/>
          <p:cNvSpPr>
            <a:spLocks noGrp="1"/>
          </p:cNvSpPr>
          <p:nvPr>
            <p:ph idx="1"/>
          </p:nvPr>
        </p:nvSpPr>
        <p:spPr>
          <a:xfrm>
            <a:off x="581192" y="2228003"/>
            <a:ext cx="7989752" cy="4187311"/>
          </a:xfrm>
        </p:spPr>
        <p:txBody>
          <a:bodyPr/>
          <a:lstStyle/>
          <a:p>
            <a:pPr>
              <a:buFont typeface="Wingdings" panose="05000000000000000000" pitchFamily="2"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At the initial stage of the transformation process from a planned system to a market economy in Central and Eastern Europe (CEE) and the former Soviet Union (FSU</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 policy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makers and researchers, as compared to planning or finance authorities, paid little attention to banking sector reforms that played only a passive role in the socialist economic system</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t>
            </a:r>
          </a:p>
          <a:p>
            <a:pPr>
              <a:buFont typeface="Wingdings" panose="05000000000000000000" pitchFamily="2"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Before long, however, people who were involved in the structural reforms of the CEE and FSU countries came to realize that central bank reform and the building of a two-tier banking system is a task as important and difficult as economic liberalization and enterprise privatization</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t>
            </a:r>
          </a:p>
          <a:p>
            <a:pPr>
              <a:buFont typeface="Wingdings" panose="05000000000000000000" pitchFamily="2"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As a result, the bulk of research work regarding banking reforms in transition economies has been published in the last 25 years, and many of these studies have focused on the issue of central bank independence (CBI</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 – a barometer of transition from financial point of view.</a:t>
            </a:r>
            <a:endParaRPr kumimoji="1" lang="ja-JP" altLang="en-US" dirty="0">
              <a:latin typeface="Arial Unicode MS" panose="020B0604020202020204" pitchFamily="50" charset="-128"/>
              <a:ea typeface="Arial Unicode MS" panose="020B0604020202020204" pitchFamily="50" charset="-128"/>
              <a:cs typeface="Arial Unicode MS" panose="020B0604020202020204" pitchFamily="50" charset="-128"/>
            </a:endParaRPr>
          </a:p>
        </p:txBody>
      </p:sp>
    </p:spTree>
    <p:extLst>
      <p:ext uri="{BB962C8B-B14F-4D97-AF65-F5344CB8AC3E}">
        <p14:creationId xmlns:p14="http://schemas.microsoft.com/office/powerpoint/2010/main" val="2704934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chor="ctr"/>
          <a:lstStyle/>
          <a:p>
            <a:r>
              <a:rPr lang="en-US" altLang="ja-JP" cap="none" dirty="0">
                <a:latin typeface="Arial Black" panose="020B0A04020102020204" pitchFamily="34" charset="0"/>
              </a:rPr>
              <a:t>Introduction </a:t>
            </a:r>
            <a:r>
              <a:rPr lang="en-US" altLang="ja-JP" cap="none" dirty="0" smtClean="0">
                <a:latin typeface="Arial Black" panose="020B0A04020102020204" pitchFamily="34" charset="0"/>
              </a:rPr>
              <a:t>(2)</a:t>
            </a:r>
            <a:endParaRPr kumimoji="1" lang="ja-JP" altLang="en-US" dirty="0"/>
          </a:p>
        </p:txBody>
      </p:sp>
      <p:sp>
        <p:nvSpPr>
          <p:cNvPr id="3" name="コンテンツ プレースホルダー 2"/>
          <p:cNvSpPr>
            <a:spLocks noGrp="1"/>
          </p:cNvSpPr>
          <p:nvPr>
            <p:ph idx="1"/>
          </p:nvPr>
        </p:nvSpPr>
        <p:spPr>
          <a:xfrm>
            <a:off x="581192" y="2336801"/>
            <a:ext cx="7989752" cy="4209142"/>
          </a:xfrm>
        </p:spPr>
        <p:txBody>
          <a:bodyPr>
            <a:normAutofit fontScale="92500" lnSpcReduction="10000"/>
          </a:bodyPr>
          <a:lstStyle/>
          <a:p>
            <a:pPr>
              <a:buFont typeface="Wingdings" panose="05000000000000000000" pitchFamily="2"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response to the call from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Kydland</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and Prescott (1977) and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Barro</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and Gordon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1983), many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researchers not only tried to measure the degree of CBI in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CEE and FSU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countries but also carried out empirical studies that examined the relationship between CBI and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inflation.</a:t>
            </a:r>
          </a:p>
          <a:p>
            <a:pPr>
              <a:buFont typeface="Wingdings" panose="05000000000000000000" pitchFamily="2"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The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series of transition studies, however, has never reached a definite conclusion about the disinflation effect of CBI across the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literature. </a:t>
            </a:r>
          </a:p>
          <a:p>
            <a:pPr>
              <a:buFont typeface="Wingdings" panose="05000000000000000000" pitchFamily="2"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addition, although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Cukierman</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et al. (2002) pointed out that “[o]n average, aggregate legal independence of new central banks in transition economies is substantially higher than CBI in developed economies during the 1980s” (p. 243) and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hinted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possible overrating of CBI in transition economies, succeeding studies have not presented any clear answer to the issue they raised</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 We call this “</a:t>
            </a:r>
            <a:r>
              <a:rPr lang="en-US" altLang="ja-JP" i="1" dirty="0" err="1" smtClean="0">
                <a:latin typeface="Arial Unicode MS" panose="020B0604020202020204" pitchFamily="50" charset="-128"/>
                <a:ea typeface="Arial Unicode MS" panose="020B0604020202020204" pitchFamily="50" charset="-128"/>
                <a:cs typeface="Arial Unicode MS" panose="020B0604020202020204" pitchFamily="50" charset="-128"/>
              </a:rPr>
              <a:t>Cukierman</a:t>
            </a:r>
            <a:r>
              <a:rPr lang="en-US" altLang="ja-JP" i="1" dirty="0" smtClean="0">
                <a:latin typeface="Arial Unicode MS" panose="020B0604020202020204" pitchFamily="50" charset="-128"/>
                <a:ea typeface="Arial Unicode MS" panose="020B0604020202020204" pitchFamily="50" charset="-128"/>
                <a:cs typeface="Arial Unicode MS" panose="020B0604020202020204" pitchFamily="50" charset="-128"/>
              </a:rPr>
              <a:t> proposition</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 hereinafter.</a:t>
            </a:r>
          </a:p>
          <a:p>
            <a:pPr>
              <a:buFont typeface="Wingdings" panose="05000000000000000000" pitchFamily="2"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In this paper, we will tackle these two crucial issues concerning CBI in transition economies through a meta-analysis of transition studies and comparable studies targeting other developed and developing economies</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t>
            </a:r>
          </a:p>
        </p:txBody>
      </p:sp>
    </p:spTree>
    <p:extLst>
      <p:ext uri="{BB962C8B-B14F-4D97-AF65-F5344CB8AC3E}">
        <p14:creationId xmlns:p14="http://schemas.microsoft.com/office/powerpoint/2010/main" val="37161751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81192" y="687474"/>
            <a:ext cx="7989752" cy="1010697"/>
          </a:xfrm>
        </p:spPr>
        <p:txBody>
          <a:bodyPr/>
          <a:lstStyle/>
          <a:p>
            <a:r>
              <a:rPr lang="en-US" altLang="ja-JP" cap="none" dirty="0" smtClean="0">
                <a:latin typeface="Arial Black" panose="020B0A04020102020204" pitchFamily="34" charset="0"/>
              </a:rPr>
              <a:t>Today’s Presentation</a:t>
            </a:r>
            <a:r>
              <a:rPr kumimoji="1" lang="en-US" altLang="ja-JP" cap="none" dirty="0" smtClean="0">
                <a:latin typeface="Arial Black" panose="020B0A04020102020204" pitchFamily="34" charset="0"/>
              </a:rPr>
              <a:t/>
            </a:r>
            <a:br>
              <a:rPr kumimoji="1" lang="en-US" altLang="ja-JP" cap="none" dirty="0" smtClean="0">
                <a:latin typeface="Arial Black" panose="020B0A04020102020204" pitchFamily="34" charset="0"/>
              </a:rPr>
            </a:br>
            <a:endParaRPr kumimoji="1" lang="ja-JP" altLang="en-US" sz="1600" cap="none" dirty="0">
              <a:solidFill>
                <a:srgbClr val="00B0F0"/>
              </a:solidFill>
              <a:latin typeface="Arial Black" panose="020B0A04020102020204" pitchFamily="34" charset="0"/>
            </a:endParaRPr>
          </a:p>
        </p:txBody>
      </p:sp>
      <p:sp>
        <p:nvSpPr>
          <p:cNvPr id="3" name="コンテンツ プレースホルダー 2"/>
          <p:cNvSpPr>
            <a:spLocks noGrp="1"/>
          </p:cNvSpPr>
          <p:nvPr>
            <p:ph idx="1"/>
          </p:nvPr>
        </p:nvSpPr>
        <p:spPr>
          <a:xfrm>
            <a:off x="581192" y="2220686"/>
            <a:ext cx="8065609" cy="4144255"/>
          </a:xfrm>
        </p:spPr>
        <p:txBody>
          <a:bodyPr>
            <a:noAutofit/>
          </a:bodyPr>
          <a:lstStyle/>
          <a:p>
            <a:pPr marL="342900" indent="-342900">
              <a:buFont typeface="+mj-lt"/>
              <a:buAutoNum type="arabicPeriod"/>
            </a:pPr>
            <a:r>
              <a:rPr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rPr>
              <a:t>Central bank </a:t>
            </a:r>
            <a:r>
              <a:rPr lang="en-US" altLang="ja-JP" sz="2300" dirty="0">
                <a:latin typeface="Arial Unicode MS" panose="020B0604020202020204" pitchFamily="50" charset="-128"/>
                <a:ea typeface="Arial Unicode MS" panose="020B0604020202020204" pitchFamily="50" charset="-128"/>
                <a:cs typeface="Arial Unicode MS" panose="020B0604020202020204" pitchFamily="50" charset="-128"/>
              </a:rPr>
              <a:t>r</a:t>
            </a:r>
            <a:r>
              <a:rPr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rPr>
              <a:t>eforms in transition economies </a:t>
            </a:r>
            <a:endParaRPr kumimoji="1"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endParaRPr>
          </a:p>
          <a:p>
            <a:pPr marL="342900" indent="-342900">
              <a:buFont typeface="+mj-lt"/>
              <a:buAutoNum type="arabicPeriod"/>
            </a:pPr>
            <a:r>
              <a:rPr lang="en-US" altLang="ja-JP" sz="2300" dirty="0">
                <a:latin typeface="Arial Unicode MS" panose="020B0604020202020204" pitchFamily="50" charset="-128"/>
                <a:ea typeface="Arial Unicode MS" panose="020B0604020202020204" pitchFamily="50" charset="-128"/>
                <a:cs typeface="Arial Unicode MS" panose="020B0604020202020204" pitchFamily="50" charset="-128"/>
              </a:rPr>
              <a:t>C</a:t>
            </a:r>
            <a:r>
              <a:rPr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rPr>
              <a:t>entral bank independence and Inflation: </a:t>
            </a:r>
            <a:r>
              <a:rPr lang="en-US" altLang="ja-JP" sz="2300" dirty="0">
                <a:latin typeface="Arial Unicode MS" panose="020B0604020202020204" pitchFamily="50" charset="-128"/>
                <a:ea typeface="Arial Unicode MS" panose="020B0604020202020204" pitchFamily="50" charset="-128"/>
                <a:cs typeface="Arial Unicode MS" panose="020B0604020202020204" pitchFamily="50" charset="-128"/>
              </a:rPr>
              <a:t>l</a:t>
            </a:r>
            <a:r>
              <a:rPr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rPr>
              <a:t>iterature review</a:t>
            </a:r>
            <a:endParaRPr kumimoji="1"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endParaRPr>
          </a:p>
          <a:p>
            <a:pPr marL="342900" indent="-342900">
              <a:buFont typeface="+mj-lt"/>
              <a:buAutoNum type="arabicPeriod"/>
            </a:pPr>
            <a:r>
              <a:rPr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rPr>
              <a:t>Methodology of literature search, cording, and meta-analysis</a:t>
            </a:r>
          </a:p>
          <a:p>
            <a:pPr marL="342900" indent="-342900">
              <a:buFont typeface="+mj-lt"/>
              <a:buAutoNum type="arabicPeriod"/>
            </a:pPr>
            <a:r>
              <a:rPr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rPr>
              <a:t>Synthesis of estimates </a:t>
            </a:r>
          </a:p>
          <a:p>
            <a:pPr marL="342900" indent="-342900">
              <a:buFont typeface="+mj-lt"/>
              <a:buAutoNum type="arabicPeriod"/>
            </a:pPr>
            <a:r>
              <a:rPr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rPr>
              <a:t>Meta-regression analysis</a:t>
            </a:r>
            <a:endParaRPr lang="en-US" altLang="ja-JP" sz="2300" dirty="0">
              <a:latin typeface="Arial Unicode MS" panose="020B0604020202020204" pitchFamily="50" charset="-128"/>
              <a:ea typeface="Arial Unicode MS" panose="020B0604020202020204" pitchFamily="50" charset="-128"/>
              <a:cs typeface="Arial Unicode MS" panose="020B0604020202020204" pitchFamily="50" charset="-128"/>
            </a:endParaRPr>
          </a:p>
          <a:p>
            <a:pPr marL="342900" indent="-342900">
              <a:buFont typeface="+mj-lt"/>
              <a:buAutoNum type="arabicPeriod"/>
            </a:pPr>
            <a:r>
              <a:rPr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rPr>
              <a:t>Assessment of publication selection bias</a:t>
            </a:r>
          </a:p>
          <a:p>
            <a:pPr marL="342900" indent="-342900">
              <a:buFont typeface="+mj-lt"/>
              <a:buAutoNum type="arabicPeriod"/>
            </a:pPr>
            <a:r>
              <a:rPr lang="en-US" altLang="ja-JP" sz="2300" dirty="0" smtClean="0">
                <a:latin typeface="Arial Unicode MS" panose="020B0604020202020204" pitchFamily="50" charset="-128"/>
                <a:ea typeface="Arial Unicode MS" panose="020B0604020202020204" pitchFamily="50" charset="-128"/>
                <a:cs typeface="Arial Unicode MS" panose="020B0604020202020204" pitchFamily="50" charset="-128"/>
              </a:rPr>
              <a:t>Conclusions</a:t>
            </a:r>
          </a:p>
        </p:txBody>
      </p:sp>
    </p:spTree>
    <p:extLst>
      <p:ext uri="{BB962C8B-B14F-4D97-AF65-F5344CB8AC3E}">
        <p14:creationId xmlns:p14="http://schemas.microsoft.com/office/powerpoint/2010/main" val="12651527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title"/>
          </p:nvPr>
        </p:nvSpPr>
        <p:spPr>
          <a:xfrm>
            <a:off x="581192" y="687474"/>
            <a:ext cx="7989752" cy="981669"/>
          </a:xfrm>
        </p:spPr>
        <p:txBody>
          <a:bodyPr>
            <a:normAutofit/>
          </a:bodyPr>
          <a:lstStyle/>
          <a:p>
            <a:r>
              <a:rPr lang="en-US" altLang="ja-JP" cap="none" dirty="0" smtClean="0">
                <a:latin typeface="Arial Black" panose="020B0A04020102020204" pitchFamily="34" charset="0"/>
              </a:rPr>
              <a:t>Central Bank Reforms in Transition Economies</a:t>
            </a:r>
            <a:endParaRPr kumimoji="1" lang="ja-JP" altLang="en-US" sz="1600" cap="none" dirty="0">
              <a:solidFill>
                <a:srgbClr val="00B0F0"/>
              </a:solidFill>
            </a:endParaRPr>
          </a:p>
        </p:txBody>
      </p:sp>
      <p:sp>
        <p:nvSpPr>
          <p:cNvPr id="5" name="コンテンツ プレースホルダー 2"/>
          <p:cNvSpPr>
            <a:spLocks noGrp="1"/>
          </p:cNvSpPr>
          <p:nvPr>
            <p:ph idx="1"/>
          </p:nvPr>
        </p:nvSpPr>
        <p:spPr>
          <a:xfrm>
            <a:off x="581192" y="2228003"/>
            <a:ext cx="7989752" cy="4245949"/>
          </a:xfrm>
        </p:spPr>
        <p:txBody>
          <a:bodyPr>
            <a:noAutofit/>
          </a:bodyPr>
          <a:lstStyle/>
          <a:p>
            <a:pPr>
              <a:buFont typeface="Wingdings"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F</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rom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the viewpoint of a banking system,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transition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from a planned economy to a market economy means demolishing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mono-bank system to create a two-tier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system .</a:t>
            </a:r>
          </a:p>
          <a:p>
            <a:pPr>
              <a:buFont typeface="Wingdings"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In many cases, the building of a two-tier banking system was formally carried out at a very early stage of transition, in some countries, even before the collapse of the socialist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regime (e.g., 1990 in the Czech Republic).</a:t>
            </a:r>
          </a:p>
          <a:p>
            <a:pPr>
              <a:buFont typeface="Wingdings"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 the last 25 years, all CEE and FSU countries made progress in reforms of their central bank and banking system. However, great divergence has been emerged among them in this respect. </a:t>
            </a:r>
          </a:p>
          <a:p>
            <a:pPr>
              <a:buFont typeface="Wingdings"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 addition, banking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reforms and reinforcement of CBI should keep pace with each other. When we look back on the history of transition economies, however, these two did not necessarily proceeded hand-in-hand. </a:t>
            </a:r>
            <a:endPar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endParaRPr>
          </a:p>
        </p:txBody>
      </p:sp>
    </p:spTree>
    <p:extLst>
      <p:ext uri="{BB962C8B-B14F-4D97-AF65-F5344CB8AC3E}">
        <p14:creationId xmlns:p14="http://schemas.microsoft.com/office/powerpoint/2010/main" val="27004079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p:cNvGraphicFramePr>
            <a:graphicFrameLocks noChangeAspect="1"/>
          </p:cNvGraphicFramePr>
          <p:nvPr>
            <p:extLst>
              <p:ext uri="{D42A27DB-BD31-4B8C-83A1-F6EECF244321}">
                <p14:modId xmlns:p14="http://schemas.microsoft.com/office/powerpoint/2010/main" val="3443237769"/>
              </p:ext>
            </p:extLst>
          </p:nvPr>
        </p:nvGraphicFramePr>
        <p:xfrm>
          <a:off x="752021" y="754743"/>
          <a:ext cx="7854950" cy="5806202"/>
        </p:xfrm>
        <a:graphic>
          <a:graphicData uri="http://schemas.openxmlformats.org/presentationml/2006/ole">
            <mc:AlternateContent xmlns:mc="http://schemas.openxmlformats.org/markup-compatibility/2006">
              <mc:Choice xmlns:v="urn:schemas-microsoft-com:vml" Requires="v">
                <p:oleObj spid="_x0000_s16461" name="Worksheet" r:id="rId4" imgW="8801194" imgH="6505626" progId="Excel.Sheet.12">
                  <p:embed/>
                </p:oleObj>
              </mc:Choice>
              <mc:Fallback>
                <p:oleObj name="Worksheet" r:id="rId4" imgW="8801194" imgH="6505626" progId="Excel.Sheet.12">
                  <p:embed/>
                  <p:pic>
                    <p:nvPicPr>
                      <p:cNvPr id="0" name=""/>
                      <p:cNvPicPr/>
                      <p:nvPr/>
                    </p:nvPicPr>
                    <p:blipFill>
                      <a:blip r:embed="rId5"/>
                      <a:stretch>
                        <a:fillRect/>
                      </a:stretch>
                    </p:blipFill>
                    <p:spPr>
                      <a:xfrm>
                        <a:off x="752021" y="754743"/>
                        <a:ext cx="7854950" cy="5806202"/>
                      </a:xfrm>
                      <a:prstGeom prst="rect">
                        <a:avLst/>
                      </a:prstGeom>
                    </p:spPr>
                  </p:pic>
                </p:oleObj>
              </mc:Fallback>
            </mc:AlternateContent>
          </a:graphicData>
        </a:graphic>
      </p:graphicFrame>
    </p:spTree>
    <p:extLst>
      <p:ext uri="{BB962C8B-B14F-4D97-AF65-F5344CB8AC3E}">
        <p14:creationId xmlns:p14="http://schemas.microsoft.com/office/powerpoint/2010/main" val="28567325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p:cNvGraphicFramePr>
            <a:graphicFrameLocks noChangeAspect="1"/>
          </p:cNvGraphicFramePr>
          <p:nvPr>
            <p:extLst>
              <p:ext uri="{D42A27DB-BD31-4B8C-83A1-F6EECF244321}">
                <p14:modId xmlns:p14="http://schemas.microsoft.com/office/powerpoint/2010/main" val="750555714"/>
              </p:ext>
            </p:extLst>
          </p:nvPr>
        </p:nvGraphicFramePr>
        <p:xfrm>
          <a:off x="722994" y="725714"/>
          <a:ext cx="8054115" cy="5927271"/>
        </p:xfrm>
        <a:graphic>
          <a:graphicData uri="http://schemas.openxmlformats.org/presentationml/2006/ole">
            <mc:AlternateContent xmlns:mc="http://schemas.openxmlformats.org/markup-compatibility/2006">
              <mc:Choice xmlns:v="urn:schemas-microsoft-com:vml" Requires="v">
                <p:oleObj spid="_x0000_s17485" name="Worksheet" r:id="rId4" imgW="8801194" imgH="6476969" progId="Excel.Sheet.12">
                  <p:embed/>
                </p:oleObj>
              </mc:Choice>
              <mc:Fallback>
                <p:oleObj name="Worksheet" r:id="rId4" imgW="8801194" imgH="6476969" progId="Excel.Sheet.12">
                  <p:embed/>
                  <p:pic>
                    <p:nvPicPr>
                      <p:cNvPr id="0" name=""/>
                      <p:cNvPicPr/>
                      <p:nvPr/>
                    </p:nvPicPr>
                    <p:blipFill>
                      <a:blip r:embed="rId5"/>
                      <a:stretch>
                        <a:fillRect/>
                      </a:stretch>
                    </p:blipFill>
                    <p:spPr>
                      <a:xfrm>
                        <a:off x="722994" y="725714"/>
                        <a:ext cx="8054115" cy="5927271"/>
                      </a:xfrm>
                      <a:prstGeom prst="rect">
                        <a:avLst/>
                      </a:prstGeom>
                    </p:spPr>
                  </p:pic>
                </p:oleObj>
              </mc:Fallback>
            </mc:AlternateContent>
          </a:graphicData>
        </a:graphic>
      </p:graphicFrame>
    </p:spTree>
    <p:extLst>
      <p:ext uri="{BB962C8B-B14F-4D97-AF65-F5344CB8AC3E}">
        <p14:creationId xmlns:p14="http://schemas.microsoft.com/office/powerpoint/2010/main" val="31169343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title"/>
          </p:nvPr>
        </p:nvSpPr>
        <p:spPr>
          <a:xfrm>
            <a:off x="581192" y="687474"/>
            <a:ext cx="7989752" cy="981669"/>
          </a:xfrm>
        </p:spPr>
        <p:txBody>
          <a:bodyPr>
            <a:normAutofit/>
          </a:bodyPr>
          <a:lstStyle/>
          <a:p>
            <a:r>
              <a:rPr lang="en-US" altLang="ja-JP" cap="none" dirty="0" smtClean="0">
                <a:latin typeface="Arial Black" panose="020B0A04020102020204" pitchFamily="34" charset="0"/>
              </a:rPr>
              <a:t>Central Bank Reforms in Transition Economies</a:t>
            </a:r>
            <a:r>
              <a:rPr lang="ja-JP" altLang="en-US" cap="none" dirty="0" smtClean="0">
                <a:latin typeface="Arial Black" panose="020B0A04020102020204" pitchFamily="34" charset="0"/>
              </a:rPr>
              <a:t> </a:t>
            </a:r>
            <a:r>
              <a:rPr lang="en-US" altLang="ja-JP" cap="none" dirty="0" smtClean="0">
                <a:latin typeface="Arial Black" panose="020B0A04020102020204" pitchFamily="34" charset="0"/>
              </a:rPr>
              <a:t>(2)</a:t>
            </a:r>
            <a:endParaRPr kumimoji="1" lang="ja-JP" altLang="en-US" sz="1600" cap="none" dirty="0">
              <a:solidFill>
                <a:srgbClr val="00B0F0"/>
              </a:solidFill>
            </a:endParaRPr>
          </a:p>
        </p:txBody>
      </p:sp>
      <p:sp>
        <p:nvSpPr>
          <p:cNvPr id="5" name="コンテンツ プレースホルダー 2"/>
          <p:cNvSpPr>
            <a:spLocks noGrp="1"/>
          </p:cNvSpPr>
          <p:nvPr>
            <p:ph idx="1"/>
          </p:nvPr>
        </p:nvSpPr>
        <p:spPr>
          <a:xfrm>
            <a:off x="581192" y="2228003"/>
            <a:ext cx="7989752" cy="4245949"/>
          </a:xfrm>
        </p:spPr>
        <p:txBody>
          <a:bodyPr>
            <a:noAutofit/>
          </a:bodyPr>
          <a:lstStyle/>
          <a:p>
            <a:pPr>
              <a:buFont typeface="Wingdings"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T</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he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overall pattern of banking reforms and CBI in the CEE and FSU region is nothing but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diversity.</a:t>
            </a:r>
          </a:p>
          <a:p>
            <a:pPr>
              <a:buFont typeface="Wingdings"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On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one hand, there is a country such as Estonia, where both of these two policy elements are highly developed; on the other hand, there are countries such as Russia, where both elements have been at a low level. </a:t>
            </a:r>
            <a:endPar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endParaRPr>
          </a:p>
          <a:p>
            <a:pPr>
              <a:buFont typeface="Wingdings"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 addition, there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are also notable exceptions, such as Hungary and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Georgia, which deviate from the normal reform path of the reforms of central bank and banking system.</a:t>
            </a:r>
          </a:p>
          <a:p>
            <a:pPr>
              <a:buFont typeface="Wingdings"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Although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the question of why such diversity has occurred would be an important research topic from the perspective of historical path-dependence,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we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would like to examine t</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he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relationship between CBI and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inflation, because that addressing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the inflation risk was the most challenging and urgent task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 transition economies.</a:t>
            </a:r>
          </a:p>
        </p:txBody>
      </p:sp>
    </p:spTree>
    <p:extLst>
      <p:ext uri="{BB962C8B-B14F-4D97-AF65-F5344CB8AC3E}">
        <p14:creationId xmlns:p14="http://schemas.microsoft.com/office/powerpoint/2010/main" val="30134942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title"/>
          </p:nvPr>
        </p:nvSpPr>
        <p:spPr>
          <a:xfrm>
            <a:off x="581192" y="687474"/>
            <a:ext cx="7989752" cy="981669"/>
          </a:xfrm>
        </p:spPr>
        <p:txBody>
          <a:bodyPr>
            <a:normAutofit/>
          </a:bodyPr>
          <a:lstStyle/>
          <a:p>
            <a:r>
              <a:rPr lang="en-US" altLang="ja-JP" cap="none" dirty="0" smtClean="0">
                <a:latin typeface="Arial Black" panose="020B0A04020102020204" pitchFamily="34" charset="0"/>
              </a:rPr>
              <a:t>Central Bank Independence and Inflation: Literature Review</a:t>
            </a:r>
            <a:endParaRPr kumimoji="1" lang="ja-JP" altLang="en-US" sz="1600" cap="none" dirty="0">
              <a:solidFill>
                <a:srgbClr val="00B0F0"/>
              </a:solidFill>
            </a:endParaRPr>
          </a:p>
        </p:txBody>
      </p:sp>
      <p:sp>
        <p:nvSpPr>
          <p:cNvPr id="5" name="コンテンツ プレースホルダー 2"/>
          <p:cNvSpPr>
            <a:spLocks noGrp="1"/>
          </p:cNvSpPr>
          <p:nvPr>
            <p:ph idx="1"/>
          </p:nvPr>
        </p:nvSpPr>
        <p:spPr>
          <a:xfrm>
            <a:off x="581192" y="2228003"/>
            <a:ext cx="7989752" cy="4245949"/>
          </a:xfrm>
        </p:spPr>
        <p:txBody>
          <a:bodyPr>
            <a:noAutofit/>
          </a:bodyPr>
          <a:lstStyle/>
          <a:p>
            <a:pPr>
              <a:buFont typeface="Wingdings"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On the issue of the relationship between CBI and inflation,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there has been an accumulation of studies, both theoretical and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empirical: </a:t>
            </a:r>
            <a:r>
              <a:rPr lang="en-US" altLang="ja-JP" dirty="0" err="1" smtClean="0">
                <a:latin typeface="Arial Unicode MS" panose="020B0604020202020204" pitchFamily="50" charset="-128"/>
                <a:ea typeface="Arial Unicode MS" panose="020B0604020202020204" pitchFamily="50" charset="-128"/>
                <a:cs typeface="Arial Unicode MS" panose="020B0604020202020204" pitchFamily="50" charset="-128"/>
              </a:rPr>
              <a:t>Kydland</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and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Prescott (1977) and </a:t>
            </a:r>
            <a:r>
              <a:rPr lang="en-US" altLang="ja-JP" dirty="0" err="1" smtClean="0">
                <a:latin typeface="Arial Unicode MS" panose="020B0604020202020204" pitchFamily="50" charset="-128"/>
                <a:ea typeface="Arial Unicode MS" panose="020B0604020202020204" pitchFamily="50" charset="-128"/>
                <a:cs typeface="Arial Unicode MS" panose="020B0604020202020204" pitchFamily="50" charset="-128"/>
              </a:rPr>
              <a:t>Barro</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and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Gordon (1983) argued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that discretionary financial policies create a so-called “time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inconsistency problem.” </a:t>
            </a:r>
          </a:p>
          <a:p>
            <a:pPr>
              <a:buFont typeface="Wingdings"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In response to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their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theoretical arguments,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Alesina</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(1988),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Grillini</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et al. (1991),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Cukierman</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et al.</a:t>
            </a:r>
            <a:r>
              <a:rPr lang="en-US" altLang="ja-JP" i="1" dirty="0">
                <a:latin typeface="Arial Unicode MS" panose="020B0604020202020204" pitchFamily="50" charset="-128"/>
                <a:ea typeface="Arial Unicode MS" panose="020B0604020202020204" pitchFamily="50" charset="-128"/>
                <a:cs typeface="Arial Unicode MS" panose="020B0604020202020204" pitchFamily="50" charset="-128"/>
              </a:rPr>
              <a:t>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(1992), and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Alesina</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and Summers (1993) developed unique CBI indices and empirically examined the relationship between inflation and CBI in developed and developing economies</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t>
            </a:r>
          </a:p>
          <a:p>
            <a:pPr>
              <a:buFont typeface="Wingdings"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Following these pioneering works, studies on former socialist transition economies also started appearing in 1997. They include: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Loungani</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and Sheets (1997),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Maliszewski</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(2000),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Cukierman</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et al. (2002),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Eijffinger</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and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Stadhouders</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(2003),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Hammermann</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and Flanagan (2007),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Dumiter</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(2011),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Maslowska</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(2011),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Bogoev</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et al. (2012a),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Bogoev</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et al. (2012b), and </a:t>
            </a:r>
            <a:r>
              <a:rPr lang="en-US" altLang="ja-JP" dirty="0" err="1">
                <a:latin typeface="Arial Unicode MS" panose="020B0604020202020204" pitchFamily="50" charset="-128"/>
                <a:ea typeface="Arial Unicode MS" panose="020B0604020202020204" pitchFamily="50" charset="-128"/>
                <a:cs typeface="Arial Unicode MS" panose="020B0604020202020204" pitchFamily="50" charset="-128"/>
              </a:rPr>
              <a:t>Petrevski</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et al. (2012).</a:t>
            </a:r>
            <a:endPar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endParaRPr>
          </a:p>
        </p:txBody>
      </p:sp>
    </p:spTree>
    <p:extLst>
      <p:ext uri="{BB962C8B-B14F-4D97-AF65-F5344CB8AC3E}">
        <p14:creationId xmlns:p14="http://schemas.microsoft.com/office/powerpoint/2010/main" val="27051250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1"/>
          <p:cNvSpPr>
            <a:spLocks noGrp="1"/>
          </p:cNvSpPr>
          <p:nvPr>
            <p:ph type="title"/>
          </p:nvPr>
        </p:nvSpPr>
        <p:spPr>
          <a:xfrm>
            <a:off x="581192" y="687474"/>
            <a:ext cx="7989752" cy="981669"/>
          </a:xfrm>
        </p:spPr>
        <p:txBody>
          <a:bodyPr>
            <a:normAutofit/>
          </a:bodyPr>
          <a:lstStyle/>
          <a:p>
            <a:r>
              <a:rPr lang="en-US" altLang="ja-JP" cap="none" dirty="0" smtClean="0">
                <a:latin typeface="Arial Black" panose="020B0A04020102020204" pitchFamily="34" charset="0"/>
              </a:rPr>
              <a:t>Central Bank Independence and Inflation: Literature Review (2)</a:t>
            </a:r>
            <a:endParaRPr kumimoji="1" lang="ja-JP" altLang="en-US" sz="1600" cap="none" dirty="0">
              <a:solidFill>
                <a:srgbClr val="00B0F0"/>
              </a:solidFill>
            </a:endParaRPr>
          </a:p>
        </p:txBody>
      </p:sp>
      <p:sp>
        <p:nvSpPr>
          <p:cNvPr id="5" name="コンテンツ プレースホルダー 2"/>
          <p:cNvSpPr>
            <a:spLocks noGrp="1"/>
          </p:cNvSpPr>
          <p:nvPr>
            <p:ph idx="1"/>
          </p:nvPr>
        </p:nvSpPr>
        <p:spPr>
          <a:xfrm>
            <a:off x="581192" y="2235199"/>
            <a:ext cx="7989752" cy="4455887"/>
          </a:xfrm>
        </p:spPr>
        <p:txBody>
          <a:bodyPr anchor="t">
            <a:noAutofit/>
          </a:bodyPr>
          <a:lstStyle/>
          <a:p>
            <a:pPr>
              <a:buFont typeface="Wingdings"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From the review of the transition literature, we found that:</a:t>
            </a:r>
          </a:p>
          <a:p>
            <a:pPr marL="324000" lvl="1" indent="0">
              <a:buNone/>
            </a:pPr>
            <a:r>
              <a:rPr lang="en-US" altLang="ja-JP" sz="1800" b="1"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First</a:t>
            </a:r>
            <a:r>
              <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rPr>
              <a:t>, </a:t>
            </a:r>
            <a:r>
              <a:rPr lang="en-US" altLang="ja-JP" sz="1800" dirty="0">
                <a:latin typeface="Arial Unicode MS" panose="020B0604020202020204" pitchFamily="50" charset="-128"/>
                <a:ea typeface="Arial Unicode MS" panose="020B0604020202020204" pitchFamily="50" charset="-128"/>
                <a:cs typeface="Arial Unicode MS" panose="020B0604020202020204" pitchFamily="50" charset="-128"/>
              </a:rPr>
              <a:t>the empirical results of transition economies regarding the disinflation effect of CBI as a whole are mixed; hence, it is difficult to grasp the whole picture through a narrative review of the previous </a:t>
            </a:r>
            <a:r>
              <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rPr>
              <a:t>studies</a:t>
            </a:r>
            <a:r>
              <a:rPr lang="en-US" altLang="ja-JP" sz="1800" dirty="0">
                <a:latin typeface="Arial Unicode MS" panose="020B0604020202020204" pitchFamily="50" charset="-128"/>
                <a:ea typeface="Arial Unicode MS" panose="020B0604020202020204" pitchFamily="50" charset="-128"/>
                <a:cs typeface="Arial Unicode MS" panose="020B0604020202020204" pitchFamily="50" charset="-128"/>
              </a:rPr>
              <a:t>;</a:t>
            </a:r>
            <a:endPar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endParaRPr>
          </a:p>
          <a:p>
            <a:pPr marL="324000" lvl="1" indent="0">
              <a:buNone/>
            </a:pPr>
            <a:r>
              <a:rPr lang="en-US" altLang="ja-JP" sz="1800" b="1" dirty="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Second</a:t>
            </a:r>
            <a:r>
              <a:rPr lang="en-US" altLang="ja-JP" sz="1800" dirty="0">
                <a:latin typeface="Arial Unicode MS" panose="020B0604020202020204" pitchFamily="50" charset="-128"/>
                <a:ea typeface="Arial Unicode MS" panose="020B0604020202020204" pitchFamily="50" charset="-128"/>
                <a:cs typeface="Arial Unicode MS" panose="020B0604020202020204" pitchFamily="50" charset="-128"/>
              </a:rPr>
              <a:t>, </a:t>
            </a:r>
            <a:r>
              <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rPr>
              <a:t>although some papers </a:t>
            </a:r>
            <a:r>
              <a:rPr lang="en-US" altLang="ja-JP" sz="1800" dirty="0">
                <a:latin typeface="Arial Unicode MS" panose="020B0604020202020204" pitchFamily="50" charset="-128"/>
                <a:ea typeface="Arial Unicode MS" panose="020B0604020202020204" pitchFamily="50" charset="-128"/>
                <a:cs typeface="Arial Unicode MS" panose="020B0604020202020204" pitchFamily="50" charset="-128"/>
              </a:rPr>
              <a:t>conducted an empirical analysis using data of developed and developing economies to compare with transition economies, </a:t>
            </a:r>
            <a:r>
              <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rPr>
              <a:t>they </a:t>
            </a:r>
            <a:r>
              <a:rPr lang="en-US" altLang="ja-JP" sz="1800" dirty="0">
                <a:latin typeface="Arial Unicode MS" panose="020B0604020202020204" pitchFamily="50" charset="-128"/>
                <a:ea typeface="Arial Unicode MS" panose="020B0604020202020204" pitchFamily="50" charset="-128"/>
                <a:cs typeface="Arial Unicode MS" panose="020B0604020202020204" pitchFamily="50" charset="-128"/>
              </a:rPr>
              <a:t>do not necessarily work out the differences between the </a:t>
            </a:r>
            <a:r>
              <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rPr>
              <a:t>two;</a:t>
            </a:r>
          </a:p>
          <a:p>
            <a:pPr marL="324000" lvl="1" indent="0">
              <a:buNone/>
            </a:pPr>
            <a:r>
              <a:rPr lang="en-US" altLang="ja-JP" sz="1800" b="1"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Third</a:t>
            </a:r>
            <a:r>
              <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rPr>
              <a:t>, </a:t>
            </a:r>
            <a:r>
              <a:rPr lang="en-US" altLang="ja-JP" sz="1800" dirty="0">
                <a:latin typeface="Arial Unicode MS" panose="020B0604020202020204" pitchFamily="50" charset="-128"/>
                <a:ea typeface="Arial Unicode MS" panose="020B0604020202020204" pitchFamily="50" charset="-128"/>
                <a:cs typeface="Arial Unicode MS" panose="020B0604020202020204" pitchFamily="50" charset="-128"/>
              </a:rPr>
              <a:t>every author is concerned with how to measure CBI or what kind of proxy should be utilized to capture the impact of CBI on inflation. </a:t>
            </a:r>
            <a:r>
              <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rPr>
              <a:t>But they did not address to the </a:t>
            </a:r>
            <a:r>
              <a:rPr lang="en-US" altLang="ja-JP" sz="1800" dirty="0" err="1">
                <a:latin typeface="Arial Unicode MS" panose="020B0604020202020204" pitchFamily="50" charset="-128"/>
                <a:ea typeface="Arial Unicode MS" panose="020B0604020202020204" pitchFamily="50" charset="-128"/>
                <a:cs typeface="Arial Unicode MS" panose="020B0604020202020204" pitchFamily="50" charset="-128"/>
              </a:rPr>
              <a:t>Cukierman</a:t>
            </a:r>
            <a:r>
              <a:rPr lang="en-US" altLang="ja-JP" sz="1800" dirty="0">
                <a:latin typeface="Arial Unicode MS" panose="020B0604020202020204" pitchFamily="50" charset="-128"/>
                <a:ea typeface="Arial Unicode MS" panose="020B0604020202020204" pitchFamily="50" charset="-128"/>
                <a:cs typeface="Arial Unicode MS" panose="020B0604020202020204" pitchFamily="50" charset="-128"/>
              </a:rPr>
              <a:t> proposition </a:t>
            </a:r>
            <a:r>
              <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rPr>
              <a:t>of </a:t>
            </a:r>
            <a:r>
              <a:rPr lang="en-US" altLang="ja-JP" sz="1800" dirty="0">
                <a:latin typeface="Arial Unicode MS" panose="020B0604020202020204" pitchFamily="50" charset="-128"/>
                <a:ea typeface="Arial Unicode MS" panose="020B0604020202020204" pitchFamily="50" charset="-128"/>
                <a:cs typeface="Arial Unicode MS" panose="020B0604020202020204" pitchFamily="50" charset="-128"/>
              </a:rPr>
              <a:t>a possible overestimate of CBI in transition </a:t>
            </a:r>
            <a:r>
              <a:rPr lang="en-US" altLang="ja-JP" sz="1800" dirty="0" smtClean="0">
                <a:latin typeface="Arial Unicode MS" panose="020B0604020202020204" pitchFamily="50" charset="-128"/>
                <a:ea typeface="Arial Unicode MS" panose="020B0604020202020204" pitchFamily="50" charset="-128"/>
                <a:cs typeface="Arial Unicode MS" panose="020B0604020202020204" pitchFamily="50" charset="-128"/>
              </a:rPr>
              <a:t>economies.</a:t>
            </a:r>
          </a:p>
        </p:txBody>
      </p:sp>
      <p:sp>
        <p:nvSpPr>
          <p:cNvPr id="3" name="横巻き 2"/>
          <p:cNvSpPr/>
          <p:nvPr/>
        </p:nvSpPr>
        <p:spPr>
          <a:xfrm>
            <a:off x="287096" y="1944915"/>
            <a:ext cx="8577943" cy="4412342"/>
          </a:xfrm>
          <a:prstGeom prst="horizontalScroll">
            <a:avLst/>
          </a:prstGeom>
        </p:spPr>
        <p:style>
          <a:lnRef idx="1">
            <a:schemeClr val="accent6"/>
          </a:lnRef>
          <a:fillRef idx="3">
            <a:schemeClr val="accent6"/>
          </a:fillRef>
          <a:effectRef idx="2">
            <a:schemeClr val="accent6"/>
          </a:effectRef>
          <a:fontRef idx="minor">
            <a:schemeClr val="lt1"/>
          </a:fontRef>
        </p:style>
        <p:txBody>
          <a:bodyPr rtlCol="0" anchor="ctr"/>
          <a:lstStyle/>
          <a:p>
            <a:r>
              <a:rPr lang="en-US" altLang="ja-JP" sz="2400" dirty="0">
                <a:latin typeface="Arial Unicode MS" panose="020B0604020202020204" pitchFamily="50" charset="-128"/>
                <a:ea typeface="Arial Unicode MS" panose="020B0604020202020204" pitchFamily="50" charset="-128"/>
                <a:cs typeface="Arial Unicode MS" panose="020B0604020202020204" pitchFamily="50" charset="-128"/>
              </a:rPr>
              <a:t>On the basis of these discussions, the task of our meta-analysis becomes clear: we </a:t>
            </a:r>
            <a:r>
              <a:rPr lang="en-US" altLang="ja-JP" sz="2400" dirty="0" smtClean="0">
                <a:latin typeface="Arial Unicode MS" panose="020B0604020202020204" pitchFamily="50" charset="-128"/>
                <a:ea typeface="Arial Unicode MS" panose="020B0604020202020204" pitchFamily="50" charset="-128"/>
                <a:cs typeface="Arial Unicode MS" panose="020B0604020202020204" pitchFamily="50" charset="-128"/>
              </a:rPr>
              <a:t>should </a:t>
            </a:r>
            <a:r>
              <a:rPr lang="en-US" altLang="ja-JP" sz="2400" dirty="0">
                <a:latin typeface="Arial Unicode MS" panose="020B0604020202020204" pitchFamily="50" charset="-128"/>
                <a:ea typeface="Arial Unicode MS" panose="020B0604020202020204" pitchFamily="50" charset="-128"/>
                <a:cs typeface="Arial Unicode MS" panose="020B0604020202020204" pitchFamily="50" charset="-128"/>
              </a:rPr>
              <a:t>shed light on the characteristics of transition economies as compared to other developed and developing economies while explicitly incorporating into our meta-analysis the differences in CBI indices, paying special attention to the </a:t>
            </a:r>
            <a:r>
              <a:rPr lang="en-US" altLang="ja-JP" sz="2400" dirty="0" err="1">
                <a:latin typeface="Arial Unicode MS" panose="020B0604020202020204" pitchFamily="50" charset="-128"/>
                <a:ea typeface="Arial Unicode MS" panose="020B0604020202020204" pitchFamily="50" charset="-128"/>
                <a:cs typeface="Arial Unicode MS" panose="020B0604020202020204" pitchFamily="50" charset="-128"/>
              </a:rPr>
              <a:t>Cukierman</a:t>
            </a:r>
            <a:r>
              <a:rPr lang="en-US" altLang="ja-JP" sz="2400" dirty="0">
                <a:latin typeface="Arial Unicode MS" panose="020B0604020202020204" pitchFamily="50" charset="-128"/>
                <a:ea typeface="Arial Unicode MS" panose="020B0604020202020204" pitchFamily="50" charset="-128"/>
                <a:cs typeface="Arial Unicode MS" panose="020B0604020202020204" pitchFamily="50" charset="-128"/>
              </a:rPr>
              <a:t> proposition.</a:t>
            </a:r>
          </a:p>
        </p:txBody>
      </p:sp>
    </p:spTree>
    <p:extLst>
      <p:ext uri="{BB962C8B-B14F-4D97-AF65-F5344CB8AC3E}">
        <p14:creationId xmlns:p14="http://schemas.microsoft.com/office/powerpoint/2010/main" val="35774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81192" y="687475"/>
            <a:ext cx="7989752" cy="1025212"/>
          </a:xfrm>
        </p:spPr>
        <p:txBody>
          <a:bodyPr>
            <a:normAutofit/>
          </a:bodyPr>
          <a:lstStyle/>
          <a:p>
            <a:r>
              <a:rPr lang="en-US" altLang="ja-JP" cap="none" dirty="0" smtClean="0">
                <a:latin typeface="Arial Black" panose="020B0A04020102020204" pitchFamily="34" charset="0"/>
                <a:ea typeface="Arial Unicode MS" panose="020B0604020202020204" pitchFamily="50" charset="-128"/>
                <a:cs typeface="Arial Unicode MS" panose="020B0604020202020204" pitchFamily="50" charset="-128"/>
              </a:rPr>
              <a:t>Methodology of Literature Search, Cording, and Meta-analysis</a:t>
            </a:r>
            <a:endParaRPr lang="en-US" altLang="ja-JP" cap="none" dirty="0">
              <a:latin typeface="Arial Black" panose="020B0A04020102020204" pitchFamily="34" charset="0"/>
              <a:ea typeface="Arial Unicode MS" panose="020B0604020202020204" pitchFamily="50" charset="-128"/>
              <a:cs typeface="Arial Unicode MS" panose="020B0604020202020204" pitchFamily="50" charset="-128"/>
            </a:endParaRPr>
          </a:p>
        </p:txBody>
      </p:sp>
      <p:sp>
        <p:nvSpPr>
          <p:cNvPr id="3" name="コンテンツ プレースホルダー 2"/>
          <p:cNvSpPr>
            <a:spLocks noGrp="1"/>
          </p:cNvSpPr>
          <p:nvPr>
            <p:ph idx="1"/>
          </p:nvPr>
        </p:nvSpPr>
        <p:spPr>
          <a:xfrm>
            <a:off x="581192" y="2061029"/>
            <a:ext cx="7989752" cy="4303912"/>
          </a:xfrm>
        </p:spPr>
        <p:txBody>
          <a:bodyPr>
            <a:noAutofit/>
          </a:bodyPr>
          <a:lstStyle/>
          <a:p>
            <a:pPr>
              <a:buFont typeface="Wingdings" panose="05000000000000000000" pitchFamily="2" charset="2"/>
              <a:buChar char="Ø"/>
            </a:pPr>
            <a:r>
              <a:rPr lang="en-US" altLang="ja-JP" sz="2000" dirty="0">
                <a:latin typeface="Arial Unicode MS" panose="020B0604020202020204" pitchFamily="50" charset="-128"/>
                <a:ea typeface="Arial Unicode MS" panose="020B0604020202020204" pitchFamily="50" charset="-128"/>
                <a:cs typeface="Arial Unicode MS" panose="020B0604020202020204" pitchFamily="50" charset="-128"/>
              </a:rPr>
              <a:t>Using the </a:t>
            </a:r>
            <a:r>
              <a:rPr lang="en-US" altLang="ja-JP" sz="2000" dirty="0" smtClean="0">
                <a:latin typeface="Arial Unicode MS" panose="020B0604020202020204" pitchFamily="50" charset="-128"/>
                <a:ea typeface="Arial Unicode MS" panose="020B0604020202020204" pitchFamily="50" charset="-128"/>
                <a:cs typeface="Arial Unicode MS" panose="020B0604020202020204" pitchFamily="50" charset="-128"/>
              </a:rPr>
              <a:t>Econ-Lit, Web-of-Science and </a:t>
            </a:r>
            <a:r>
              <a:rPr lang="en-US" altLang="ja-JP" sz="2000" dirty="0">
                <a:latin typeface="Arial Unicode MS" panose="020B0604020202020204" pitchFamily="50" charset="-128"/>
                <a:ea typeface="Arial Unicode MS" panose="020B0604020202020204" pitchFamily="50" charset="-128"/>
                <a:cs typeface="Arial Unicode MS" panose="020B0604020202020204" pitchFamily="50" charset="-128"/>
              </a:rPr>
              <a:t>Google </a:t>
            </a:r>
            <a:r>
              <a:rPr lang="en-US" altLang="ja-JP" sz="2000" dirty="0" smtClean="0">
                <a:latin typeface="Arial Unicode MS" panose="020B0604020202020204" pitchFamily="50" charset="-128"/>
                <a:ea typeface="Arial Unicode MS" panose="020B0604020202020204" pitchFamily="50" charset="-128"/>
                <a:cs typeface="Arial Unicode MS" panose="020B0604020202020204" pitchFamily="50" charset="-128"/>
              </a:rPr>
              <a:t>Scholar databases</a:t>
            </a:r>
            <a:r>
              <a:rPr lang="en-US" altLang="ja-JP" sz="2000" dirty="0">
                <a:latin typeface="Arial Unicode MS" panose="020B0604020202020204" pitchFamily="50" charset="-128"/>
                <a:ea typeface="Arial Unicode MS" panose="020B0604020202020204" pitchFamily="50" charset="-128"/>
                <a:cs typeface="Arial Unicode MS" panose="020B0604020202020204" pitchFamily="50" charset="-128"/>
              </a:rPr>
              <a:t>, we searched out </a:t>
            </a:r>
            <a:r>
              <a:rPr lang="en-US" altLang="ja-JP" sz="2000" dirty="0" smtClean="0">
                <a:latin typeface="Arial Unicode MS" panose="020B0604020202020204" pitchFamily="50" charset="-128"/>
                <a:ea typeface="Arial Unicode MS" panose="020B0604020202020204" pitchFamily="50" charset="-128"/>
                <a:cs typeface="Arial Unicode MS" panose="020B0604020202020204" pitchFamily="50" charset="-128"/>
              </a:rPr>
              <a:t>125 research works </a:t>
            </a:r>
            <a:r>
              <a:rPr lang="en-US" altLang="ja-JP" sz="2000" dirty="0">
                <a:latin typeface="Arial Unicode MS" panose="020B0604020202020204" pitchFamily="50" charset="-128"/>
                <a:ea typeface="Arial Unicode MS" panose="020B0604020202020204" pitchFamily="50" charset="-128"/>
                <a:cs typeface="Arial Unicode MS" panose="020B0604020202020204" pitchFamily="50" charset="-128"/>
              </a:rPr>
              <a:t>that empirically examine </a:t>
            </a:r>
            <a:r>
              <a:rPr lang="en-US" altLang="ja-JP" sz="2000" dirty="0" smtClean="0">
                <a:latin typeface="Arial Unicode MS" panose="020B0604020202020204" pitchFamily="50" charset="-128"/>
                <a:ea typeface="Arial Unicode MS" panose="020B0604020202020204" pitchFamily="50" charset="-128"/>
                <a:cs typeface="Arial Unicode MS" panose="020B0604020202020204" pitchFamily="50" charset="-128"/>
              </a:rPr>
              <a:t>disinflation </a:t>
            </a:r>
            <a:r>
              <a:rPr lang="en-US" altLang="ja-JP" sz="2000" dirty="0">
                <a:latin typeface="Arial Unicode MS" panose="020B0604020202020204" pitchFamily="50" charset="-128"/>
                <a:ea typeface="Arial Unicode MS" panose="020B0604020202020204" pitchFamily="50" charset="-128"/>
                <a:cs typeface="Arial Unicode MS" panose="020B0604020202020204" pitchFamily="50" charset="-128"/>
              </a:rPr>
              <a:t>effect of </a:t>
            </a:r>
            <a:r>
              <a:rPr lang="en-US" altLang="ja-JP" sz="2000" dirty="0" smtClean="0">
                <a:latin typeface="Arial Unicode MS" panose="020B0604020202020204" pitchFamily="50" charset="-128"/>
                <a:ea typeface="Arial Unicode MS" panose="020B0604020202020204" pitchFamily="50" charset="-128"/>
                <a:cs typeface="Arial Unicode MS" panose="020B0604020202020204" pitchFamily="50" charset="-128"/>
              </a:rPr>
              <a:t>CBI.</a:t>
            </a:r>
            <a:endParaRPr lang="en-US" altLang="ja-JP" sz="2000" dirty="0">
              <a:latin typeface="Arial Unicode MS" panose="020B0604020202020204" pitchFamily="50" charset="-128"/>
              <a:ea typeface="Arial Unicode MS" panose="020B0604020202020204" pitchFamily="50" charset="-128"/>
              <a:cs typeface="Arial Unicode MS" panose="020B0604020202020204" pitchFamily="50" charset="-128"/>
            </a:endParaRPr>
          </a:p>
          <a:p>
            <a:pPr>
              <a:buFont typeface="Wingdings" panose="05000000000000000000" pitchFamily="2" charset="2"/>
              <a:buChar char="Ø"/>
            </a:pPr>
            <a:r>
              <a:rPr lang="en-US" altLang="ja-JP" sz="2000" dirty="0" smtClean="0">
                <a:latin typeface="Arial Unicode MS" panose="020B0604020202020204" pitchFamily="50" charset="-128"/>
                <a:ea typeface="Arial Unicode MS" panose="020B0604020202020204" pitchFamily="50" charset="-128"/>
                <a:cs typeface="Arial Unicode MS" panose="020B0604020202020204" pitchFamily="50" charset="-128"/>
              </a:rPr>
              <a:t>Among these 125 works, we selected 10 transition studies and 12 non-transition studies for our meta-analysis.</a:t>
            </a:r>
          </a:p>
          <a:p>
            <a:pPr>
              <a:buFont typeface="Wingdings" panose="05000000000000000000" pitchFamily="2" charset="2"/>
              <a:buChar char="Ø"/>
            </a:pPr>
            <a:r>
              <a:rPr lang="en-US" altLang="ja-JP" sz="2000" dirty="0" smtClean="0">
                <a:latin typeface="Arial Unicode MS" panose="020B0604020202020204" pitchFamily="50" charset="-128"/>
                <a:ea typeface="Arial Unicode MS" panose="020B0604020202020204" pitchFamily="50" charset="-128"/>
                <a:cs typeface="Arial Unicode MS" panose="020B0604020202020204" pitchFamily="50" charset="-128"/>
              </a:rPr>
              <a:t>The non-transition studies satisfy 3 conditions: (a) proportion of the CEE and FSU countries in observations is zero or negligible; (b) publication year is 1997 or later; (c) estimation period ranges from 1980 and onward.</a:t>
            </a:r>
          </a:p>
          <a:p>
            <a:pPr>
              <a:buFont typeface="Wingdings" panose="05000000000000000000" pitchFamily="2" charset="2"/>
              <a:buChar char="Ø"/>
            </a:pPr>
            <a:r>
              <a:rPr lang="en-US" altLang="ja-JP" sz="2000" dirty="0" smtClean="0">
                <a:latin typeface="Arial Unicode MS" panose="020B0604020202020204" pitchFamily="50" charset="-128"/>
                <a:ea typeface="Arial Unicode MS" panose="020B0604020202020204" pitchFamily="50" charset="-128"/>
                <a:cs typeface="Arial Unicode MS" panose="020B0604020202020204" pitchFamily="50" charset="-128"/>
              </a:rPr>
              <a:t>We collected total 109 and 173 estimates from the transition and non-transition studies, respectively.    </a:t>
            </a:r>
          </a:p>
        </p:txBody>
      </p:sp>
    </p:spTree>
    <p:extLst>
      <p:ext uri="{BB962C8B-B14F-4D97-AF65-F5344CB8AC3E}">
        <p14:creationId xmlns:p14="http://schemas.microsoft.com/office/powerpoint/2010/main" val="6545444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p:cNvGraphicFramePr>
            <a:graphicFrameLocks noChangeAspect="1"/>
          </p:cNvGraphicFramePr>
          <p:nvPr>
            <p:extLst>
              <p:ext uri="{D42A27DB-BD31-4B8C-83A1-F6EECF244321}">
                <p14:modId xmlns:p14="http://schemas.microsoft.com/office/powerpoint/2010/main" val="494191856"/>
              </p:ext>
            </p:extLst>
          </p:nvPr>
        </p:nvGraphicFramePr>
        <p:xfrm>
          <a:off x="1088571" y="615111"/>
          <a:ext cx="7030093" cy="6075975"/>
        </p:xfrm>
        <a:graphic>
          <a:graphicData uri="http://schemas.openxmlformats.org/presentationml/2006/ole">
            <mc:AlternateContent xmlns:mc="http://schemas.openxmlformats.org/markup-compatibility/2006">
              <mc:Choice xmlns:v="urn:schemas-microsoft-com:vml" Requires="v">
                <p:oleObj spid="_x0000_s2188" name="Worksheet" r:id="rId4" imgW="16564137" imgH="14315922" progId="Excel.Sheet.12">
                  <p:embed/>
                </p:oleObj>
              </mc:Choice>
              <mc:Fallback>
                <p:oleObj name="Worksheet" r:id="rId4" imgW="16564137" imgH="14315922" progId="Excel.Sheet.12">
                  <p:embed/>
                  <p:pic>
                    <p:nvPicPr>
                      <p:cNvPr id="0" name=""/>
                      <p:cNvPicPr/>
                      <p:nvPr/>
                    </p:nvPicPr>
                    <p:blipFill>
                      <a:blip r:embed="rId5"/>
                      <a:stretch>
                        <a:fillRect/>
                      </a:stretch>
                    </p:blipFill>
                    <p:spPr>
                      <a:xfrm>
                        <a:off x="1088571" y="615111"/>
                        <a:ext cx="7030093" cy="6075975"/>
                      </a:xfrm>
                      <a:prstGeom prst="rect">
                        <a:avLst/>
                      </a:prstGeom>
                    </p:spPr>
                  </p:pic>
                </p:oleObj>
              </mc:Fallback>
            </mc:AlternateContent>
          </a:graphicData>
        </a:graphic>
      </p:graphicFrame>
    </p:spTree>
    <p:extLst>
      <p:ext uri="{BB962C8B-B14F-4D97-AF65-F5344CB8AC3E}">
        <p14:creationId xmlns:p14="http://schemas.microsoft.com/office/powerpoint/2010/main" val="2331737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581192" y="687475"/>
            <a:ext cx="7989752" cy="1025212"/>
          </a:xfrm>
        </p:spPr>
        <p:txBody>
          <a:bodyPr>
            <a:normAutofit/>
          </a:bodyPr>
          <a:lstStyle/>
          <a:p>
            <a:r>
              <a:rPr lang="en-US" altLang="ja-JP" cap="none" dirty="0" smtClean="0">
                <a:latin typeface="Arial Black" panose="020B0A04020102020204" pitchFamily="34" charset="0"/>
                <a:ea typeface="Arial Unicode MS" panose="020B0604020202020204" pitchFamily="50" charset="-128"/>
                <a:cs typeface="Arial Unicode MS" panose="020B0604020202020204" pitchFamily="50" charset="-128"/>
              </a:rPr>
              <a:t>Methodology of Literature Search, Cording, and Meta-analysis (2)</a:t>
            </a:r>
            <a:endParaRPr lang="en-US" altLang="ja-JP" cap="none" dirty="0">
              <a:latin typeface="Arial Black" panose="020B0A04020102020204" pitchFamily="34" charset="0"/>
              <a:ea typeface="Arial Unicode MS" panose="020B0604020202020204" pitchFamily="50" charset="-128"/>
              <a:cs typeface="Arial Unicode MS" panose="020B0604020202020204" pitchFamily="50" charset="-128"/>
            </a:endParaRPr>
          </a:p>
        </p:txBody>
      </p:sp>
      <p:sp>
        <p:nvSpPr>
          <p:cNvPr id="3" name="コンテンツ プレースホルダー 2"/>
          <p:cNvSpPr>
            <a:spLocks noGrp="1"/>
          </p:cNvSpPr>
          <p:nvPr>
            <p:ph idx="1"/>
          </p:nvPr>
        </p:nvSpPr>
        <p:spPr>
          <a:xfrm>
            <a:off x="581192" y="2026024"/>
            <a:ext cx="7989752" cy="4432833"/>
          </a:xfrm>
        </p:spPr>
        <p:txBody>
          <a:bodyPr>
            <a:noAutofit/>
          </a:bodyPr>
          <a:lstStyle/>
          <a:p>
            <a:pPr>
              <a:buFont typeface="Wingdings" panose="05000000000000000000" pitchFamily="2" charset="2"/>
              <a:buChar char="Ø"/>
            </a:pP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We use the associated partial </a:t>
            </a:r>
            <a:r>
              <a:rPr lang="en-US" altLang="ja-JP" dirty="0" smtClean="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correlation coefficients </a:t>
            </a: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a:t>
            </a:r>
            <a:r>
              <a:rPr lang="en-US" altLang="ja-JP" dirty="0" smtClean="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PCCs</a:t>
            </a: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 and </a:t>
            </a:r>
            <a:r>
              <a:rPr lang="en-US" altLang="ja-JP" i="1"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t </a:t>
            </a: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values of the reported estimates for meta-analysis. </a:t>
            </a:r>
          </a:p>
          <a:p>
            <a:pPr>
              <a:buFont typeface="Wingdings" panose="05000000000000000000" pitchFamily="2" charset="2"/>
              <a:buChar char="Ø"/>
            </a:pP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We synthesize </a:t>
            </a:r>
            <a:r>
              <a:rPr lang="en-US" altLang="ja-JP" dirty="0" smtClean="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PCCs </a:t>
            </a: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using the fixed-effect model and the random-effects model and, according to the test of homogeneity, we adopt one of the two estimates as an integrated effect size.</a:t>
            </a:r>
          </a:p>
          <a:p>
            <a:pPr>
              <a:buFont typeface="Wingdings" panose="05000000000000000000" pitchFamily="2" charset="2"/>
              <a:buChar char="Ø"/>
            </a:pP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We combine </a:t>
            </a:r>
            <a:r>
              <a:rPr lang="en-US" altLang="ja-JP" i="1"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t</a:t>
            </a: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 values </a:t>
            </a:r>
            <a:r>
              <a:rPr lang="en-US" altLang="ja-JP" dirty="0" smtClean="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using </a:t>
            </a: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a 10-point scale of research quality for its weight.  We also report unweighted </a:t>
            </a:r>
            <a:r>
              <a:rPr lang="en-US" altLang="ja-JP" i="1"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t</a:t>
            </a: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 values and failsafe N.</a:t>
            </a:r>
          </a:p>
          <a:p>
            <a:pPr>
              <a:buFont typeface="Wingdings" panose="05000000000000000000" pitchFamily="2" charset="2"/>
              <a:buChar char="Ø"/>
            </a:pP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Taking possible heterogeneity between different studies into consideration, we estimate meta-regression models using 6 estimators to check statistical robustness. </a:t>
            </a:r>
          </a:p>
          <a:p>
            <a:pPr>
              <a:buFont typeface="Wingdings" panose="05000000000000000000" pitchFamily="2" charset="2"/>
              <a:buChar char="Ø"/>
            </a:pPr>
            <a:r>
              <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To examine publication selection bias (PSB), we employ the FAT-PET-PEESE approach advocated by Stanley and Doucouliagos (2012) along with the use of funnel graph and Galbraith plot</a:t>
            </a:r>
            <a:r>
              <a:rPr lang="en-US" altLang="ja-JP" dirty="0" smtClean="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rPr>
              <a:t>.</a:t>
            </a:r>
            <a:endParaRPr lang="en-US" altLang="ja-JP" dirty="0">
              <a:solidFill>
                <a:schemeClr val="tx1"/>
              </a:solidFill>
              <a:latin typeface="Arial Unicode MS" panose="020B0604020202020204" pitchFamily="50" charset="-128"/>
              <a:ea typeface="Arial Unicode MS" panose="020B0604020202020204" pitchFamily="50" charset="-128"/>
              <a:cs typeface="Arial Unicode MS" panose="020B0604020202020204" pitchFamily="50" charset="-128"/>
            </a:endParaRPr>
          </a:p>
        </p:txBody>
      </p:sp>
    </p:spTree>
    <p:extLst>
      <p:ext uri="{BB962C8B-B14F-4D97-AF65-F5344CB8AC3E}">
        <p14:creationId xmlns:p14="http://schemas.microsoft.com/office/powerpoint/2010/main" val="33438740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9943" y="3036573"/>
            <a:ext cx="8121001" cy="2014398"/>
          </a:xfrm>
        </p:spPr>
        <p:txBody>
          <a:bodyPr/>
          <a:lstStyle/>
          <a:p>
            <a:r>
              <a:rPr lang="en-US" altLang="ja-JP" cap="none" dirty="0" smtClean="0">
                <a:solidFill>
                  <a:srgbClr val="0070C0"/>
                </a:solidFill>
                <a:latin typeface="Arial Black" panose="020B0A04020102020204" pitchFamily="34" charset="0"/>
              </a:rPr>
              <a:t>Synthesis of Estimates</a:t>
            </a:r>
            <a:endParaRPr kumimoji="1" lang="ja-JP" altLang="en-US" cap="none" dirty="0">
              <a:solidFill>
                <a:srgbClr val="0070C0"/>
              </a:solidFill>
              <a:latin typeface="Arial Black" panose="020B0A04020102020204" pitchFamily="34" charset="0"/>
            </a:endParaRPr>
          </a:p>
        </p:txBody>
      </p:sp>
    </p:spTree>
    <p:extLst>
      <p:ext uri="{BB962C8B-B14F-4D97-AF65-F5344CB8AC3E}">
        <p14:creationId xmlns:p14="http://schemas.microsoft.com/office/powerpoint/2010/main" val="27730975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p:cNvGraphicFramePr>
            <a:graphicFrameLocks noChangeAspect="1"/>
          </p:cNvGraphicFramePr>
          <p:nvPr>
            <p:extLst>
              <p:ext uri="{D42A27DB-BD31-4B8C-83A1-F6EECF244321}">
                <p14:modId xmlns:p14="http://schemas.microsoft.com/office/powerpoint/2010/main" val="198551021"/>
              </p:ext>
            </p:extLst>
          </p:nvPr>
        </p:nvGraphicFramePr>
        <p:xfrm>
          <a:off x="511947" y="1524000"/>
          <a:ext cx="8200853" cy="3846285"/>
        </p:xfrm>
        <a:graphic>
          <a:graphicData uri="http://schemas.openxmlformats.org/presentationml/2006/ole">
            <mc:AlternateContent xmlns:mc="http://schemas.openxmlformats.org/markup-compatibility/2006">
              <mc:Choice xmlns:v="urn:schemas-microsoft-com:vml" Requires="v">
                <p:oleObj spid="_x0000_s4233" name="Worksheet" r:id="rId4" imgW="10887127" imgH="5105557" progId="Excel.Sheet.12">
                  <p:embed/>
                </p:oleObj>
              </mc:Choice>
              <mc:Fallback>
                <p:oleObj name="Worksheet" r:id="rId4" imgW="10887127" imgH="5105557" progId="Excel.Sheet.12">
                  <p:embed/>
                  <p:pic>
                    <p:nvPicPr>
                      <p:cNvPr id="0" name=""/>
                      <p:cNvPicPr/>
                      <p:nvPr/>
                    </p:nvPicPr>
                    <p:blipFill>
                      <a:blip r:embed="rId5"/>
                      <a:stretch>
                        <a:fillRect/>
                      </a:stretch>
                    </p:blipFill>
                    <p:spPr>
                      <a:xfrm>
                        <a:off x="511947" y="1524000"/>
                        <a:ext cx="8200853" cy="3846285"/>
                      </a:xfrm>
                      <a:prstGeom prst="rect">
                        <a:avLst/>
                      </a:prstGeom>
                    </p:spPr>
                  </p:pic>
                </p:oleObj>
              </mc:Fallback>
            </mc:AlternateContent>
          </a:graphicData>
        </a:graphic>
      </p:graphicFrame>
    </p:spTree>
    <p:extLst>
      <p:ext uri="{BB962C8B-B14F-4D97-AF65-F5344CB8AC3E}">
        <p14:creationId xmlns:p14="http://schemas.microsoft.com/office/powerpoint/2010/main" val="13974918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p:cNvGraphicFramePr>
            <a:graphicFrameLocks noChangeAspect="1"/>
          </p:cNvGraphicFramePr>
          <p:nvPr>
            <p:extLst>
              <p:ext uri="{D42A27DB-BD31-4B8C-83A1-F6EECF244321}">
                <p14:modId xmlns:p14="http://schemas.microsoft.com/office/powerpoint/2010/main" val="3986279374"/>
              </p:ext>
            </p:extLst>
          </p:nvPr>
        </p:nvGraphicFramePr>
        <p:xfrm>
          <a:off x="412458" y="972458"/>
          <a:ext cx="8251893" cy="5196114"/>
        </p:xfrm>
        <a:graphic>
          <a:graphicData uri="http://schemas.openxmlformats.org/presentationml/2006/ole">
            <mc:AlternateContent xmlns:mc="http://schemas.openxmlformats.org/markup-compatibility/2006">
              <mc:Choice xmlns:v="urn:schemas-microsoft-com:vml" Requires="v">
                <p:oleObj spid="_x0000_s5257" name="Worksheet" r:id="rId4" imgW="12601582" imgH="7934352" progId="Excel.Sheet.12">
                  <p:embed/>
                </p:oleObj>
              </mc:Choice>
              <mc:Fallback>
                <p:oleObj name="Worksheet" r:id="rId4" imgW="12601582" imgH="7934352" progId="Excel.Sheet.12">
                  <p:embed/>
                  <p:pic>
                    <p:nvPicPr>
                      <p:cNvPr id="0" name=""/>
                      <p:cNvPicPr/>
                      <p:nvPr/>
                    </p:nvPicPr>
                    <p:blipFill>
                      <a:blip r:embed="rId5"/>
                      <a:stretch>
                        <a:fillRect/>
                      </a:stretch>
                    </p:blipFill>
                    <p:spPr>
                      <a:xfrm>
                        <a:off x="412458" y="972458"/>
                        <a:ext cx="8251893" cy="5196114"/>
                      </a:xfrm>
                      <a:prstGeom prst="rect">
                        <a:avLst/>
                      </a:prstGeom>
                    </p:spPr>
                  </p:pic>
                </p:oleObj>
              </mc:Fallback>
            </mc:AlternateContent>
          </a:graphicData>
        </a:graphic>
      </p:graphicFrame>
      <p:sp>
        <p:nvSpPr>
          <p:cNvPr id="3" name="角丸四角形 2"/>
          <p:cNvSpPr/>
          <p:nvPr/>
        </p:nvSpPr>
        <p:spPr>
          <a:xfrm>
            <a:off x="412458" y="2002972"/>
            <a:ext cx="8330608" cy="246743"/>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角丸四角形 3"/>
          <p:cNvSpPr/>
          <p:nvPr/>
        </p:nvSpPr>
        <p:spPr>
          <a:xfrm>
            <a:off x="412458" y="5771563"/>
            <a:ext cx="8330608" cy="266380"/>
          </a:xfrm>
          <a:prstGeom prst="round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8643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9943" y="3036573"/>
            <a:ext cx="8121001" cy="2014398"/>
          </a:xfrm>
        </p:spPr>
        <p:txBody>
          <a:bodyPr/>
          <a:lstStyle/>
          <a:p>
            <a:r>
              <a:rPr lang="en-US" altLang="ja-JP" cap="none" dirty="0" smtClean="0">
                <a:solidFill>
                  <a:srgbClr val="0070C0"/>
                </a:solidFill>
                <a:latin typeface="Arial Black" panose="020B0A04020102020204" pitchFamily="34" charset="0"/>
              </a:rPr>
              <a:t>Meta-Regression Analysis</a:t>
            </a:r>
            <a:endParaRPr kumimoji="1" lang="ja-JP" altLang="en-US" cap="none" dirty="0">
              <a:solidFill>
                <a:srgbClr val="0070C0"/>
              </a:solidFill>
              <a:latin typeface="Arial Black" panose="020B0A04020102020204" pitchFamily="34" charset="0"/>
            </a:endParaRPr>
          </a:p>
        </p:txBody>
      </p:sp>
    </p:spTree>
    <p:extLst>
      <p:ext uri="{BB962C8B-B14F-4D97-AF65-F5344CB8AC3E}">
        <p14:creationId xmlns:p14="http://schemas.microsoft.com/office/powerpoint/2010/main" val="314789881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p:cNvGraphicFramePr>
            <a:graphicFrameLocks noChangeAspect="1"/>
          </p:cNvGraphicFramePr>
          <p:nvPr>
            <p:extLst>
              <p:ext uri="{D42A27DB-BD31-4B8C-83A1-F6EECF244321}">
                <p14:modId xmlns:p14="http://schemas.microsoft.com/office/powerpoint/2010/main" val="1124935215"/>
              </p:ext>
            </p:extLst>
          </p:nvPr>
        </p:nvGraphicFramePr>
        <p:xfrm>
          <a:off x="566057" y="1243353"/>
          <a:ext cx="8159841" cy="4736532"/>
        </p:xfrm>
        <a:graphic>
          <a:graphicData uri="http://schemas.openxmlformats.org/presentationml/2006/ole">
            <mc:AlternateContent xmlns:mc="http://schemas.openxmlformats.org/markup-compatibility/2006">
              <mc:Choice xmlns:v="urn:schemas-microsoft-com:vml" Requires="v">
                <p:oleObj spid="_x0000_s6277" name="Worksheet" r:id="rId4" imgW="10106081" imgH="5867243" progId="Excel.Sheet.12">
                  <p:embed/>
                </p:oleObj>
              </mc:Choice>
              <mc:Fallback>
                <p:oleObj name="Worksheet" r:id="rId4" imgW="10106081" imgH="5867243" progId="Excel.Sheet.12">
                  <p:embed/>
                  <p:pic>
                    <p:nvPicPr>
                      <p:cNvPr id="0" name=""/>
                      <p:cNvPicPr/>
                      <p:nvPr/>
                    </p:nvPicPr>
                    <p:blipFill>
                      <a:blip r:embed="rId5"/>
                      <a:stretch>
                        <a:fillRect/>
                      </a:stretch>
                    </p:blipFill>
                    <p:spPr>
                      <a:xfrm>
                        <a:off x="566057" y="1243353"/>
                        <a:ext cx="8159841" cy="4736532"/>
                      </a:xfrm>
                      <a:prstGeom prst="rect">
                        <a:avLst/>
                      </a:prstGeom>
                    </p:spPr>
                  </p:pic>
                </p:oleObj>
              </mc:Fallback>
            </mc:AlternateContent>
          </a:graphicData>
        </a:graphic>
      </p:graphicFrame>
    </p:spTree>
    <p:extLst>
      <p:ext uri="{BB962C8B-B14F-4D97-AF65-F5344CB8AC3E}">
        <p14:creationId xmlns:p14="http://schemas.microsoft.com/office/powerpoint/2010/main" val="4020962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オブジェクト 2"/>
          <p:cNvGraphicFramePr>
            <a:graphicFrameLocks noChangeAspect="1"/>
          </p:cNvGraphicFramePr>
          <p:nvPr>
            <p:extLst>
              <p:ext uri="{D42A27DB-BD31-4B8C-83A1-F6EECF244321}">
                <p14:modId xmlns:p14="http://schemas.microsoft.com/office/powerpoint/2010/main" val="837741803"/>
              </p:ext>
            </p:extLst>
          </p:nvPr>
        </p:nvGraphicFramePr>
        <p:xfrm>
          <a:off x="566057" y="798305"/>
          <a:ext cx="8048497" cy="5718609"/>
        </p:xfrm>
        <a:graphic>
          <a:graphicData uri="http://schemas.openxmlformats.org/presentationml/2006/ole">
            <mc:AlternateContent xmlns:mc="http://schemas.openxmlformats.org/markup-compatibility/2006">
              <mc:Choice xmlns:v="urn:schemas-microsoft-com:vml" Requires="v">
                <p:oleObj spid="_x0000_s7301" name="Worksheet" r:id="rId4" imgW="9639188" imgH="6848385" progId="Excel.Sheet.12">
                  <p:embed/>
                </p:oleObj>
              </mc:Choice>
              <mc:Fallback>
                <p:oleObj name="Worksheet" r:id="rId4" imgW="9639188" imgH="6848385" progId="Excel.Sheet.12">
                  <p:embed/>
                  <p:pic>
                    <p:nvPicPr>
                      <p:cNvPr id="0" name=""/>
                      <p:cNvPicPr/>
                      <p:nvPr/>
                    </p:nvPicPr>
                    <p:blipFill>
                      <a:blip r:embed="rId5"/>
                      <a:stretch>
                        <a:fillRect/>
                      </a:stretch>
                    </p:blipFill>
                    <p:spPr>
                      <a:xfrm>
                        <a:off x="566057" y="798305"/>
                        <a:ext cx="8048497" cy="5718609"/>
                      </a:xfrm>
                      <a:prstGeom prst="rect">
                        <a:avLst/>
                      </a:prstGeom>
                    </p:spPr>
                  </p:pic>
                </p:oleObj>
              </mc:Fallback>
            </mc:AlternateContent>
          </a:graphicData>
        </a:graphic>
      </p:graphicFrame>
    </p:spTree>
    <p:extLst>
      <p:ext uri="{BB962C8B-B14F-4D97-AF65-F5344CB8AC3E}">
        <p14:creationId xmlns:p14="http://schemas.microsoft.com/office/powerpoint/2010/main" val="20371345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p:cNvGraphicFramePr>
            <a:graphicFrameLocks noChangeAspect="1"/>
          </p:cNvGraphicFramePr>
          <p:nvPr>
            <p:extLst>
              <p:ext uri="{D42A27DB-BD31-4B8C-83A1-F6EECF244321}">
                <p14:modId xmlns:p14="http://schemas.microsoft.com/office/powerpoint/2010/main" val="1669803263"/>
              </p:ext>
            </p:extLst>
          </p:nvPr>
        </p:nvGraphicFramePr>
        <p:xfrm>
          <a:off x="577318" y="798285"/>
          <a:ext cx="7957081" cy="5682950"/>
        </p:xfrm>
        <a:graphic>
          <a:graphicData uri="http://schemas.openxmlformats.org/presentationml/2006/ole">
            <mc:AlternateContent xmlns:mc="http://schemas.openxmlformats.org/markup-compatibility/2006">
              <mc:Choice xmlns:v="urn:schemas-microsoft-com:vml" Requires="v">
                <p:oleObj spid="_x0000_s13392" name="Worksheet" r:id="rId4" imgW="9639188" imgH="6848385" progId="Excel.Sheet.12">
                  <p:embed/>
                </p:oleObj>
              </mc:Choice>
              <mc:Fallback>
                <p:oleObj name="Worksheet" r:id="rId4" imgW="9639188" imgH="6848385" progId="Excel.Sheet.12">
                  <p:embed/>
                  <p:pic>
                    <p:nvPicPr>
                      <p:cNvPr id="0" name=""/>
                      <p:cNvPicPr/>
                      <p:nvPr/>
                    </p:nvPicPr>
                    <p:blipFill>
                      <a:blip r:embed="rId5"/>
                      <a:stretch>
                        <a:fillRect/>
                      </a:stretch>
                    </p:blipFill>
                    <p:spPr>
                      <a:xfrm>
                        <a:off x="577318" y="798285"/>
                        <a:ext cx="7957081" cy="5682950"/>
                      </a:xfrm>
                      <a:prstGeom prst="rect">
                        <a:avLst/>
                      </a:prstGeom>
                    </p:spPr>
                  </p:pic>
                </p:oleObj>
              </mc:Fallback>
            </mc:AlternateContent>
          </a:graphicData>
        </a:graphic>
      </p:graphicFrame>
    </p:spTree>
    <p:extLst>
      <p:ext uri="{BB962C8B-B14F-4D97-AF65-F5344CB8AC3E}">
        <p14:creationId xmlns:p14="http://schemas.microsoft.com/office/powerpoint/2010/main" val="26732311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p:cNvGraphicFramePr>
            <a:graphicFrameLocks noChangeAspect="1"/>
          </p:cNvGraphicFramePr>
          <p:nvPr>
            <p:extLst>
              <p:ext uri="{D42A27DB-BD31-4B8C-83A1-F6EECF244321}">
                <p14:modId xmlns:p14="http://schemas.microsoft.com/office/powerpoint/2010/main" val="2342737531"/>
              </p:ext>
            </p:extLst>
          </p:nvPr>
        </p:nvGraphicFramePr>
        <p:xfrm>
          <a:off x="651505" y="899886"/>
          <a:ext cx="7874862" cy="5544457"/>
        </p:xfrm>
        <a:graphic>
          <a:graphicData uri="http://schemas.openxmlformats.org/presentationml/2006/ole">
            <mc:AlternateContent xmlns:mc="http://schemas.openxmlformats.org/markup-compatibility/2006">
              <mc:Choice xmlns:v="urn:schemas-microsoft-com:vml" Requires="v">
                <p:oleObj spid="_x0000_s14415" name="Worksheet" r:id="rId4" imgW="9172672" imgH="6458115" progId="Excel.Sheet.12">
                  <p:embed/>
                </p:oleObj>
              </mc:Choice>
              <mc:Fallback>
                <p:oleObj name="Worksheet" r:id="rId4" imgW="9172672" imgH="6458115" progId="Excel.Sheet.12">
                  <p:embed/>
                  <p:pic>
                    <p:nvPicPr>
                      <p:cNvPr id="0" name=""/>
                      <p:cNvPicPr/>
                      <p:nvPr/>
                    </p:nvPicPr>
                    <p:blipFill>
                      <a:blip r:embed="rId5"/>
                      <a:stretch>
                        <a:fillRect/>
                      </a:stretch>
                    </p:blipFill>
                    <p:spPr>
                      <a:xfrm>
                        <a:off x="651505" y="899886"/>
                        <a:ext cx="7874862" cy="5544457"/>
                      </a:xfrm>
                      <a:prstGeom prst="rect">
                        <a:avLst/>
                      </a:prstGeom>
                    </p:spPr>
                  </p:pic>
                </p:oleObj>
              </mc:Fallback>
            </mc:AlternateContent>
          </a:graphicData>
        </a:graphic>
      </p:graphicFrame>
    </p:spTree>
    <p:extLst>
      <p:ext uri="{BB962C8B-B14F-4D97-AF65-F5344CB8AC3E}">
        <p14:creationId xmlns:p14="http://schemas.microsoft.com/office/powerpoint/2010/main" val="216794878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9943" y="3036573"/>
            <a:ext cx="8121001" cy="2014398"/>
          </a:xfrm>
        </p:spPr>
        <p:txBody>
          <a:bodyPr/>
          <a:lstStyle/>
          <a:p>
            <a:r>
              <a:rPr lang="en-US" altLang="ja-JP" cap="none" dirty="0" smtClean="0">
                <a:solidFill>
                  <a:srgbClr val="0070C0"/>
                </a:solidFill>
                <a:latin typeface="Arial Black" panose="020B0A04020102020204" pitchFamily="34" charset="0"/>
              </a:rPr>
              <a:t>Assessment of Publication Selection Bias</a:t>
            </a:r>
            <a:endParaRPr kumimoji="1" lang="ja-JP" altLang="en-US" cap="none" dirty="0">
              <a:solidFill>
                <a:srgbClr val="0070C0"/>
              </a:solidFill>
              <a:latin typeface="Arial Black" panose="020B0A04020102020204" pitchFamily="34" charset="0"/>
            </a:endParaRPr>
          </a:p>
        </p:txBody>
      </p:sp>
    </p:spTree>
    <p:extLst>
      <p:ext uri="{BB962C8B-B14F-4D97-AF65-F5344CB8AC3E}">
        <p14:creationId xmlns:p14="http://schemas.microsoft.com/office/powerpoint/2010/main" val="33783733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p:cNvGraphicFramePr>
            <a:graphicFrameLocks noChangeAspect="1"/>
          </p:cNvGraphicFramePr>
          <p:nvPr>
            <p:extLst>
              <p:ext uri="{D42A27DB-BD31-4B8C-83A1-F6EECF244321}">
                <p14:modId xmlns:p14="http://schemas.microsoft.com/office/powerpoint/2010/main" val="2035889432"/>
              </p:ext>
            </p:extLst>
          </p:nvPr>
        </p:nvGraphicFramePr>
        <p:xfrm>
          <a:off x="458733" y="1436914"/>
          <a:ext cx="8154855" cy="3947885"/>
        </p:xfrm>
        <a:graphic>
          <a:graphicData uri="http://schemas.openxmlformats.org/presentationml/2006/ole">
            <mc:AlternateContent xmlns:mc="http://schemas.openxmlformats.org/markup-compatibility/2006">
              <mc:Choice xmlns:v="urn:schemas-microsoft-com:vml" Requires="v">
                <p:oleObj spid="_x0000_s10374" name="Worksheet" r:id="rId4" imgW="11725120" imgH="5676821" progId="Excel.Sheet.12">
                  <p:embed/>
                </p:oleObj>
              </mc:Choice>
              <mc:Fallback>
                <p:oleObj name="Worksheet" r:id="rId4" imgW="11725120" imgH="5676821" progId="Excel.Sheet.12">
                  <p:embed/>
                  <p:pic>
                    <p:nvPicPr>
                      <p:cNvPr id="0" name=""/>
                      <p:cNvPicPr/>
                      <p:nvPr/>
                    </p:nvPicPr>
                    <p:blipFill>
                      <a:blip r:embed="rId5"/>
                      <a:stretch>
                        <a:fillRect/>
                      </a:stretch>
                    </p:blipFill>
                    <p:spPr>
                      <a:xfrm>
                        <a:off x="458733" y="1436914"/>
                        <a:ext cx="8154855" cy="3947885"/>
                      </a:xfrm>
                      <a:prstGeom prst="rect">
                        <a:avLst/>
                      </a:prstGeom>
                    </p:spPr>
                  </p:pic>
                </p:oleObj>
              </mc:Fallback>
            </mc:AlternateContent>
          </a:graphicData>
        </a:graphic>
      </p:graphicFrame>
    </p:spTree>
    <p:extLst>
      <p:ext uri="{BB962C8B-B14F-4D97-AF65-F5344CB8AC3E}">
        <p14:creationId xmlns:p14="http://schemas.microsoft.com/office/powerpoint/2010/main" val="24544738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p:cNvGraphicFramePr>
            <a:graphicFrameLocks noChangeAspect="1"/>
          </p:cNvGraphicFramePr>
          <p:nvPr>
            <p:extLst>
              <p:ext uri="{D42A27DB-BD31-4B8C-83A1-F6EECF244321}">
                <p14:modId xmlns:p14="http://schemas.microsoft.com/office/powerpoint/2010/main" val="321815020"/>
              </p:ext>
            </p:extLst>
          </p:nvPr>
        </p:nvGraphicFramePr>
        <p:xfrm>
          <a:off x="518697" y="1465943"/>
          <a:ext cx="8214818" cy="3976914"/>
        </p:xfrm>
        <a:graphic>
          <a:graphicData uri="http://schemas.openxmlformats.org/presentationml/2006/ole">
            <mc:AlternateContent xmlns:mc="http://schemas.openxmlformats.org/markup-compatibility/2006">
              <mc:Choice xmlns:v="urn:schemas-microsoft-com:vml" Requires="v">
                <p:oleObj spid="_x0000_s11397" name="Worksheet" r:id="rId4" imgW="11725120" imgH="5676821" progId="Excel.Sheet.12">
                  <p:embed/>
                </p:oleObj>
              </mc:Choice>
              <mc:Fallback>
                <p:oleObj name="Worksheet" r:id="rId4" imgW="11725120" imgH="5676821" progId="Excel.Sheet.12">
                  <p:embed/>
                  <p:pic>
                    <p:nvPicPr>
                      <p:cNvPr id="0" name=""/>
                      <p:cNvPicPr/>
                      <p:nvPr/>
                    </p:nvPicPr>
                    <p:blipFill>
                      <a:blip r:embed="rId5"/>
                      <a:stretch>
                        <a:fillRect/>
                      </a:stretch>
                    </p:blipFill>
                    <p:spPr>
                      <a:xfrm>
                        <a:off x="518697" y="1465943"/>
                        <a:ext cx="8214818" cy="3976914"/>
                      </a:xfrm>
                      <a:prstGeom prst="rect">
                        <a:avLst/>
                      </a:prstGeom>
                    </p:spPr>
                  </p:pic>
                </p:oleObj>
              </mc:Fallback>
            </mc:AlternateContent>
          </a:graphicData>
        </a:graphic>
      </p:graphicFrame>
    </p:spTree>
    <p:extLst>
      <p:ext uri="{BB962C8B-B14F-4D97-AF65-F5344CB8AC3E}">
        <p14:creationId xmlns:p14="http://schemas.microsoft.com/office/powerpoint/2010/main" val="10657527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 1"/>
          <p:cNvGraphicFramePr>
            <a:graphicFrameLocks noGrp="1"/>
          </p:cNvGraphicFramePr>
          <p:nvPr>
            <p:extLst>
              <p:ext uri="{D42A27DB-BD31-4B8C-83A1-F6EECF244321}">
                <p14:modId xmlns:p14="http://schemas.microsoft.com/office/powerpoint/2010/main" val="512757153"/>
              </p:ext>
            </p:extLst>
          </p:nvPr>
        </p:nvGraphicFramePr>
        <p:xfrm>
          <a:off x="502024" y="2177207"/>
          <a:ext cx="8149321" cy="3638674"/>
        </p:xfrm>
        <a:graphic>
          <a:graphicData uri="http://schemas.openxmlformats.org/drawingml/2006/table">
            <a:tbl>
              <a:tblPr firstRow="1" bandRow="1">
                <a:tableStyleId>{85BE263C-DBD7-4A20-BB59-AAB30ACAA65A}</a:tableStyleId>
              </a:tblPr>
              <a:tblGrid>
                <a:gridCol w="1660953"/>
                <a:gridCol w="1622092"/>
                <a:gridCol w="1622092"/>
                <a:gridCol w="1622092"/>
                <a:gridCol w="1622092"/>
              </a:tblGrid>
              <a:tr h="1320736">
                <a:tc>
                  <a:txBody>
                    <a:bodyPr/>
                    <a:lstStyle/>
                    <a:p>
                      <a:endParaRPr kumimoji="1" lang="ja-JP" altLang="en-US" sz="1600" dirty="0">
                        <a:latin typeface="メイリオ" panose="020B0604030504040204" pitchFamily="50" charset="-128"/>
                        <a:ea typeface="メイリオ" panose="020B0604030504040204" pitchFamily="50" charset="-128"/>
                        <a:cs typeface="メイリオ" panose="020B0604030504040204" pitchFamily="50" charset="-128"/>
                      </a:endParaRPr>
                    </a:p>
                  </a:txBody>
                  <a:tcPr/>
                </a:tc>
                <a:tc>
                  <a:txBody>
                    <a:bodyPr/>
                    <a:lstStyle/>
                    <a:p>
                      <a:r>
                        <a:rPr kumimoji="1" lang="en-US" altLang="ja-JP" sz="1600" b="0" dirty="0" smtClean="0">
                          <a:latin typeface="Arial Unicode MS" panose="020B0604020202020204" pitchFamily="50" charset="-128"/>
                          <a:ea typeface="Arial Unicode MS" panose="020B0604020202020204" pitchFamily="50" charset="-128"/>
                          <a:cs typeface="Arial Unicode MS" panose="020B0604020202020204" pitchFamily="50" charset="-128"/>
                        </a:rPr>
                        <a:t>Type</a:t>
                      </a:r>
                      <a:r>
                        <a:rPr kumimoji="1" lang="en-US" altLang="ja-JP" sz="1600" b="0" baseline="0" dirty="0" smtClean="0">
                          <a:latin typeface="Arial Unicode MS" panose="020B0604020202020204" pitchFamily="50" charset="-128"/>
                          <a:ea typeface="Arial Unicode MS" panose="020B0604020202020204" pitchFamily="50" charset="-128"/>
                          <a:cs typeface="Arial Unicode MS" panose="020B0604020202020204" pitchFamily="50" charset="-128"/>
                        </a:rPr>
                        <a:t> I PSB test </a:t>
                      </a:r>
                      <a:r>
                        <a:rPr kumimoji="1" lang="en-US" altLang="ja-JP" sz="1600" b="0" dirty="0" smtClean="0">
                          <a:latin typeface="Arial Unicode MS" panose="020B0604020202020204" pitchFamily="50" charset="-128"/>
                          <a:ea typeface="Arial Unicode MS" panose="020B0604020202020204" pitchFamily="50" charset="-128"/>
                          <a:cs typeface="Arial Unicode MS" panose="020B0604020202020204" pitchFamily="50" charset="-128"/>
                        </a:rPr>
                        <a:t>(Funnel asymmetry</a:t>
                      </a:r>
                    </a:p>
                    <a:p>
                      <a:r>
                        <a:rPr kumimoji="1" lang="en-US" altLang="ja-JP" sz="1600" b="0" dirty="0" smtClean="0">
                          <a:latin typeface="Arial Unicode MS" panose="020B0604020202020204" pitchFamily="50" charset="-128"/>
                          <a:ea typeface="Arial Unicode MS" panose="020B0604020202020204" pitchFamily="50" charset="-128"/>
                          <a:cs typeface="Arial Unicode MS" panose="020B0604020202020204" pitchFamily="50" charset="-128"/>
                        </a:rPr>
                        <a:t>test: FAT)</a:t>
                      </a:r>
                      <a:endParaRPr kumimoji="1" lang="ja-JP" altLang="en-US" sz="1600" b="0" dirty="0">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r>
                        <a:rPr kumimoji="1" lang="en-US" altLang="ja-JP" sz="1600" b="0" dirty="0" smtClean="0">
                          <a:latin typeface="Arial Unicode MS" panose="020B0604020202020204" pitchFamily="50" charset="-128"/>
                          <a:ea typeface="Arial Unicode MS" panose="020B0604020202020204" pitchFamily="50" charset="-128"/>
                          <a:cs typeface="Arial Unicode MS" panose="020B0604020202020204" pitchFamily="50" charset="-128"/>
                        </a:rPr>
                        <a:t>Type</a:t>
                      </a:r>
                      <a:r>
                        <a:rPr kumimoji="1" lang="en-US" altLang="ja-JP" sz="1600" b="0" baseline="0" dirty="0" smtClean="0">
                          <a:latin typeface="Arial Unicode MS" panose="020B0604020202020204" pitchFamily="50" charset="-128"/>
                          <a:ea typeface="Arial Unicode MS" panose="020B0604020202020204" pitchFamily="50" charset="-128"/>
                          <a:cs typeface="Arial Unicode MS" panose="020B0604020202020204" pitchFamily="50" charset="-128"/>
                        </a:rPr>
                        <a:t> II PSB test</a:t>
                      </a:r>
                      <a:endParaRPr kumimoji="1" lang="ja-JP" altLang="en-US" sz="1600" b="0" dirty="0">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r>
                        <a:rPr kumimoji="1" lang="en-US" altLang="ja-JP" sz="1600" b="0" dirty="0" smtClean="0">
                          <a:latin typeface="Arial Unicode MS" panose="020B0604020202020204" pitchFamily="50" charset="-128"/>
                          <a:ea typeface="Arial Unicode MS" panose="020B0604020202020204" pitchFamily="50" charset="-128"/>
                          <a:cs typeface="Arial Unicode MS" panose="020B0604020202020204" pitchFamily="50" charset="-128"/>
                        </a:rPr>
                        <a:t>Precision-</a:t>
                      </a:r>
                      <a:r>
                        <a:rPr kumimoji="1" lang="en-US" altLang="ja-JP" sz="1600" b="0" baseline="0" dirty="0" smtClean="0">
                          <a:latin typeface="Arial Unicode MS" panose="020B0604020202020204" pitchFamily="50" charset="-128"/>
                          <a:ea typeface="Arial Unicode MS" panose="020B0604020202020204" pitchFamily="50" charset="-128"/>
                          <a:cs typeface="Arial Unicode MS" panose="020B0604020202020204" pitchFamily="50" charset="-128"/>
                        </a:rPr>
                        <a:t>effect test: </a:t>
                      </a:r>
                      <a:r>
                        <a:rPr kumimoji="1" lang="en-US" altLang="ja-JP" sz="1600" b="0" dirty="0" smtClean="0">
                          <a:latin typeface="Arial Unicode MS" panose="020B0604020202020204" pitchFamily="50" charset="-128"/>
                          <a:ea typeface="Arial Unicode MS" panose="020B0604020202020204" pitchFamily="50" charset="-128"/>
                          <a:cs typeface="Arial Unicode MS" panose="020B0604020202020204" pitchFamily="50" charset="-128"/>
                        </a:rPr>
                        <a:t>PET</a:t>
                      </a:r>
                      <a:endParaRPr kumimoji="1" lang="ja-JP" altLang="en-US" sz="1600" b="0" dirty="0">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r>
                        <a:rPr kumimoji="1" lang="en-US" altLang="ja-JP" sz="1600" b="0" dirty="0" smtClean="0">
                          <a:latin typeface="Arial Unicode MS" panose="020B0604020202020204" pitchFamily="50" charset="-128"/>
                          <a:ea typeface="Arial Unicode MS" panose="020B0604020202020204" pitchFamily="50" charset="-128"/>
                          <a:cs typeface="Arial Unicode MS" panose="020B0604020202020204" pitchFamily="50" charset="-128"/>
                        </a:rPr>
                        <a:t>Precision-effect estimate with standard error:</a:t>
                      </a:r>
                      <a:r>
                        <a:rPr kumimoji="1" lang="en-US" altLang="ja-JP" sz="1600" b="0" baseline="0" dirty="0" smtClean="0">
                          <a:latin typeface="Arial Unicode MS" panose="020B0604020202020204" pitchFamily="50" charset="-128"/>
                          <a:ea typeface="Arial Unicode MS" panose="020B0604020202020204" pitchFamily="50" charset="-128"/>
                          <a:cs typeface="Arial Unicode MS" panose="020B0604020202020204" pitchFamily="50" charset="-128"/>
                        </a:rPr>
                        <a:t> </a:t>
                      </a:r>
                      <a:r>
                        <a:rPr kumimoji="1" lang="en-US" altLang="ja-JP" sz="1600" b="0" dirty="0" smtClean="0">
                          <a:latin typeface="Arial Unicode MS" panose="020B0604020202020204" pitchFamily="50" charset="-128"/>
                          <a:ea typeface="Arial Unicode MS" panose="020B0604020202020204" pitchFamily="50" charset="-128"/>
                          <a:cs typeface="Arial Unicode MS" panose="020B0604020202020204" pitchFamily="50" charset="-128"/>
                        </a:rPr>
                        <a:t>PEESE</a:t>
                      </a:r>
                      <a:endParaRPr kumimoji="1" lang="ja-JP" altLang="en-US" sz="1600" b="0" dirty="0">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r>
              <a:tr h="1120771">
                <a:tc>
                  <a:txBody>
                    <a:bodyPr/>
                    <a:lstStyle/>
                    <a:p>
                      <a:r>
                        <a:rPr kumimoji="1" lang="en-US" altLang="ja-JP" sz="1600" b="0" dirty="0" smtClean="0">
                          <a:solidFill>
                            <a:schemeClr val="dk1"/>
                          </a:solidFill>
                          <a:effectLst/>
                          <a:latin typeface="Arial Unicode MS" panose="020B0604020202020204" pitchFamily="50" charset="-128"/>
                          <a:ea typeface="Arial Unicode MS" panose="020B0604020202020204" pitchFamily="50" charset="-128"/>
                          <a:cs typeface="Arial Unicode MS" panose="020B0604020202020204" pitchFamily="50" charset="-128"/>
                        </a:rPr>
                        <a:t>Transition</a:t>
                      </a:r>
                      <a:r>
                        <a:rPr kumimoji="1" lang="en-US" altLang="ja-JP" sz="1600" b="0" baseline="0" dirty="0" smtClean="0">
                          <a:solidFill>
                            <a:schemeClr val="dk1"/>
                          </a:solidFill>
                          <a:effectLst/>
                          <a:latin typeface="Arial Unicode MS" panose="020B0604020202020204" pitchFamily="50" charset="-128"/>
                          <a:ea typeface="Arial Unicode MS" panose="020B0604020202020204" pitchFamily="50" charset="-128"/>
                          <a:cs typeface="Arial Unicode MS" panose="020B0604020202020204" pitchFamily="50" charset="-128"/>
                        </a:rPr>
                        <a:t> studies</a:t>
                      </a:r>
                      <a:endParaRPr kumimoji="1" lang="ja-JP" altLang="en-US" sz="1600" b="1" dirty="0">
                        <a:solidFill>
                          <a:schemeClr val="accent2">
                            <a:lumMod val="50000"/>
                          </a:schemeClr>
                        </a:solidFill>
                        <a:effectLst/>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r>
                        <a:rPr kumimoji="1" lang="en-US" altLang="ja-JP" sz="1600" b="0" dirty="0" smtClean="0">
                          <a:solidFill>
                            <a:srgbClr val="0070C0"/>
                          </a:solidFill>
                          <a:latin typeface="Arial Unicode MS" panose="020B0604020202020204" pitchFamily="50" charset="-128"/>
                          <a:ea typeface="Arial Unicode MS" panose="020B0604020202020204" pitchFamily="50" charset="-128"/>
                          <a:cs typeface="Arial Unicode MS" panose="020B0604020202020204" pitchFamily="50" charset="-128"/>
                        </a:rPr>
                        <a:t>Null-hypothesis</a:t>
                      </a:r>
                      <a:r>
                        <a:rPr kumimoji="1" lang="en-US" altLang="ja-JP" sz="1600" b="0" baseline="0" dirty="0" smtClean="0">
                          <a:solidFill>
                            <a:srgbClr val="0070C0"/>
                          </a:solidFill>
                          <a:latin typeface="Arial Unicode MS" panose="020B0604020202020204" pitchFamily="50" charset="-128"/>
                          <a:ea typeface="Arial Unicode MS" panose="020B0604020202020204" pitchFamily="50" charset="-128"/>
                          <a:cs typeface="Arial Unicode MS" panose="020B0604020202020204" pitchFamily="50" charset="-128"/>
                        </a:rPr>
                        <a:t> accepted</a:t>
                      </a:r>
                      <a:endParaRPr kumimoji="1" lang="ja-JP" altLang="en-US" sz="1600" b="1" dirty="0">
                        <a:solidFill>
                          <a:srgbClr val="0070C0"/>
                        </a:solidFill>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Null-hypothesis rejected</a:t>
                      </a: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Null-hypothesis rejected</a:t>
                      </a: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Null-hypothesis rejected</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(-0.012/-0.015)</a:t>
                      </a:r>
                      <a:endParaRPr kumimoji="1" lang="ja-JP" altLang="en-US"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endParaRPr>
                    </a:p>
                    <a:p>
                      <a:endParaRPr kumimoji="1" lang="ja-JP" altLang="en-US" sz="1600" b="1" dirty="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r>
              <a:tr h="1197167">
                <a:tc>
                  <a:txBody>
                    <a:bodyPr/>
                    <a:lstStyle/>
                    <a:p>
                      <a:r>
                        <a:rPr kumimoji="1" lang="en-US" altLang="ja-JP" sz="1600" b="0" dirty="0" smtClean="0">
                          <a:solidFill>
                            <a:schemeClr val="dk1"/>
                          </a:solidFill>
                          <a:effectLst/>
                          <a:latin typeface="Arial Unicode MS" panose="020B0604020202020204" pitchFamily="50" charset="-128"/>
                          <a:ea typeface="Arial Unicode MS" panose="020B0604020202020204" pitchFamily="50" charset="-128"/>
                          <a:cs typeface="Arial Unicode MS" panose="020B0604020202020204" pitchFamily="50" charset="-128"/>
                        </a:rPr>
                        <a:t>Non-transition</a:t>
                      </a:r>
                      <a:r>
                        <a:rPr kumimoji="1" lang="en-US" altLang="ja-JP" sz="1600" b="0" baseline="0" dirty="0" smtClean="0">
                          <a:solidFill>
                            <a:schemeClr val="dk1"/>
                          </a:solidFill>
                          <a:effectLst/>
                          <a:latin typeface="Arial Unicode MS" panose="020B0604020202020204" pitchFamily="50" charset="-128"/>
                          <a:ea typeface="Arial Unicode MS" panose="020B0604020202020204" pitchFamily="50" charset="-128"/>
                          <a:cs typeface="Arial Unicode MS" panose="020B0604020202020204" pitchFamily="50" charset="-128"/>
                        </a:rPr>
                        <a:t> studies</a:t>
                      </a:r>
                      <a:endParaRPr kumimoji="1" lang="ja-JP" altLang="en-US" sz="1600" b="1" dirty="0">
                        <a:solidFill>
                          <a:schemeClr val="accent2">
                            <a:lumMod val="50000"/>
                          </a:schemeClr>
                        </a:solidFill>
                        <a:effectLst/>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Null-hypothesis</a:t>
                      </a:r>
                      <a:r>
                        <a:rPr kumimoji="1" lang="en-US" altLang="ja-JP" sz="1600" baseline="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 rejected</a:t>
                      </a:r>
                      <a:endParaRPr kumimoji="1" lang="ja-JP" altLang="en-US"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endParaRPr>
                    </a:p>
                    <a:p>
                      <a:endParaRPr kumimoji="1" lang="ja-JP" altLang="en-US" sz="1600" dirty="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Null-hypothesis rejected</a:t>
                      </a: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0070C0"/>
                          </a:solidFill>
                          <a:latin typeface="Arial Unicode MS" panose="020B0604020202020204" pitchFamily="50" charset="-128"/>
                          <a:ea typeface="Arial Unicode MS" panose="020B0604020202020204" pitchFamily="50" charset="-128"/>
                          <a:cs typeface="Arial Unicode MS" panose="020B0604020202020204" pitchFamily="50" charset="-128"/>
                        </a:rPr>
                        <a:t>Null-hypothesis accepted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Null-hypothesis rejected</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(-0.002/</a:t>
                      </a: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  -0.006)</a:t>
                      </a:r>
                      <a:endParaRPr kumimoji="1" lang="ja-JP" altLang="en-US" sz="1600" b="1" dirty="0" smtClean="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endParaRPr>
                    </a:p>
                  </a:txBody>
                  <a:tcPr/>
                </a:tc>
              </a:tr>
            </a:tbl>
          </a:graphicData>
        </a:graphic>
      </p:graphicFrame>
      <p:sp>
        <p:nvSpPr>
          <p:cNvPr id="3" name="テキスト ボックス 2"/>
          <p:cNvSpPr txBox="1"/>
          <p:nvPr/>
        </p:nvSpPr>
        <p:spPr>
          <a:xfrm>
            <a:off x="502024" y="1099466"/>
            <a:ext cx="8059270" cy="830997"/>
          </a:xfrm>
          <a:prstGeom prst="rect">
            <a:avLst/>
          </a:prstGeom>
          <a:noFill/>
        </p:spPr>
        <p:txBody>
          <a:bodyPr wrap="square" rtlCol="0">
            <a:spAutoFit/>
          </a:bodyPr>
          <a:lstStyle/>
          <a:p>
            <a:pPr algn="ctr"/>
            <a:r>
              <a:rPr kumimoji="1" lang="en-US" altLang="ja-JP" sz="2400" dirty="0" smtClean="0">
                <a:solidFill>
                  <a:srgbClr val="0070C0"/>
                </a:solidFill>
                <a:latin typeface="Arial Black" panose="020B0A04020102020204" pitchFamily="34" charset="0"/>
                <a:ea typeface="メイリオ" panose="020B0604030504040204" pitchFamily="50" charset="-128"/>
                <a:cs typeface="メイリオ" panose="020B0604030504040204" pitchFamily="50" charset="-128"/>
              </a:rPr>
              <a:t>Results from meta-regression analysis of </a:t>
            </a:r>
          </a:p>
          <a:p>
            <a:pPr algn="ctr"/>
            <a:r>
              <a:rPr kumimoji="1" lang="en-US" altLang="ja-JP" sz="2400" dirty="0">
                <a:solidFill>
                  <a:srgbClr val="0070C0"/>
                </a:solidFill>
                <a:latin typeface="Arial Black" panose="020B0A04020102020204" pitchFamily="34" charset="0"/>
                <a:ea typeface="メイリオ" panose="020B0604030504040204" pitchFamily="50" charset="-128"/>
                <a:cs typeface="メイリオ" panose="020B0604030504040204" pitchFamily="50" charset="-128"/>
              </a:rPr>
              <a:t>p</a:t>
            </a:r>
            <a:r>
              <a:rPr kumimoji="1" lang="en-US" altLang="ja-JP" sz="2400" dirty="0" smtClean="0">
                <a:solidFill>
                  <a:srgbClr val="0070C0"/>
                </a:solidFill>
                <a:latin typeface="Arial Black" panose="020B0A04020102020204" pitchFamily="34" charset="0"/>
                <a:ea typeface="メイリオ" panose="020B0604030504040204" pitchFamily="50" charset="-128"/>
                <a:cs typeface="メイリオ" panose="020B0604030504040204" pitchFamily="50" charset="-128"/>
              </a:rPr>
              <a:t>ublication </a:t>
            </a:r>
            <a:r>
              <a:rPr kumimoji="1" lang="en-US" altLang="ja-JP" sz="2400" dirty="0">
                <a:solidFill>
                  <a:srgbClr val="0070C0"/>
                </a:solidFill>
                <a:latin typeface="Arial Black" panose="020B0A04020102020204" pitchFamily="34" charset="0"/>
                <a:ea typeface="メイリオ" panose="020B0604030504040204" pitchFamily="50" charset="-128"/>
                <a:cs typeface="メイリオ" panose="020B0604030504040204" pitchFamily="50" charset="-128"/>
              </a:rPr>
              <a:t>s</a:t>
            </a:r>
            <a:r>
              <a:rPr kumimoji="1" lang="en-US" altLang="ja-JP" sz="2400" dirty="0" smtClean="0">
                <a:solidFill>
                  <a:srgbClr val="0070C0"/>
                </a:solidFill>
                <a:latin typeface="Arial Black" panose="020B0A04020102020204" pitchFamily="34" charset="0"/>
                <a:ea typeface="メイリオ" panose="020B0604030504040204" pitchFamily="50" charset="-128"/>
                <a:cs typeface="メイリオ" panose="020B0604030504040204" pitchFamily="50" charset="-128"/>
              </a:rPr>
              <a:t>election </a:t>
            </a:r>
            <a:r>
              <a:rPr kumimoji="1" lang="en-US" altLang="ja-JP" sz="2400" dirty="0">
                <a:solidFill>
                  <a:srgbClr val="0070C0"/>
                </a:solidFill>
                <a:latin typeface="Arial Black" panose="020B0A04020102020204" pitchFamily="34" charset="0"/>
                <a:ea typeface="メイリオ" panose="020B0604030504040204" pitchFamily="50" charset="-128"/>
                <a:cs typeface="メイリオ" panose="020B0604030504040204" pitchFamily="50" charset="-128"/>
              </a:rPr>
              <a:t>b</a:t>
            </a:r>
            <a:r>
              <a:rPr kumimoji="1" lang="en-US" altLang="ja-JP" sz="2400" dirty="0" smtClean="0">
                <a:solidFill>
                  <a:srgbClr val="0070C0"/>
                </a:solidFill>
                <a:latin typeface="Arial Black" panose="020B0A04020102020204" pitchFamily="34" charset="0"/>
                <a:ea typeface="メイリオ" panose="020B0604030504040204" pitchFamily="50" charset="-128"/>
                <a:cs typeface="メイリオ" panose="020B0604030504040204" pitchFamily="50" charset="-128"/>
              </a:rPr>
              <a:t>ias</a:t>
            </a:r>
            <a:endParaRPr kumimoji="1" lang="ja-JP" altLang="en-US" sz="2400" dirty="0">
              <a:solidFill>
                <a:srgbClr val="0070C0"/>
              </a:solidFill>
              <a:latin typeface="Arial Black" panose="020B0A04020102020204" pitchFamily="34" charset="0"/>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753670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cap="none" dirty="0" smtClean="0">
                <a:latin typeface="Arial Black" panose="020B0A04020102020204" pitchFamily="34" charset="0"/>
              </a:rPr>
              <a:t>Conclusions</a:t>
            </a:r>
            <a:br>
              <a:rPr lang="en-US" altLang="ja-JP" cap="none" dirty="0" smtClean="0">
                <a:latin typeface="Arial Black" panose="020B0A04020102020204" pitchFamily="34" charset="0"/>
              </a:rPr>
            </a:br>
            <a:endParaRPr kumimoji="1" lang="ja-JP" altLang="en-US" sz="1600" cap="none" dirty="0">
              <a:solidFill>
                <a:srgbClr val="00B0F0"/>
              </a:solidFill>
            </a:endParaRPr>
          </a:p>
        </p:txBody>
      </p:sp>
      <p:sp>
        <p:nvSpPr>
          <p:cNvPr id="3" name="コンテンツ プレースホルダー 2"/>
          <p:cNvSpPr>
            <a:spLocks noGrp="1"/>
          </p:cNvSpPr>
          <p:nvPr>
            <p:ph idx="1"/>
          </p:nvPr>
        </p:nvSpPr>
        <p:spPr>
          <a:xfrm>
            <a:off x="654384" y="2257032"/>
            <a:ext cx="8114752" cy="4264237"/>
          </a:xfrm>
        </p:spPr>
        <p:txBody>
          <a:bodyPr anchor="t">
            <a:normAutofit/>
          </a:bodyPr>
          <a:lstStyle/>
          <a:p>
            <a:pPr>
              <a:buFont typeface="Wingdings" panose="05000000000000000000" pitchFamily="2"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From the results of the meta-analysis using a total of 282 estimates collected from 10 studies of transition economies and 12 non-transition studies, we came up with the following findings</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t>
            </a:r>
          </a:p>
          <a:p>
            <a:pPr>
              <a:buFont typeface="Wingdings" panose="05000000000000000000" pitchFamily="2" charset="2"/>
              <a:buChar char="Ø"/>
            </a:pPr>
            <a:r>
              <a:rPr lang="en-US" altLang="ja-JP" b="1" dirty="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First</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the synthesized PCC and the combined </a:t>
            </a:r>
            <a:r>
              <a:rPr lang="en-US" altLang="ja-JP" i="1" dirty="0">
                <a:latin typeface="Arial Unicode MS" panose="020B0604020202020204" pitchFamily="50" charset="-128"/>
                <a:ea typeface="Arial Unicode MS" panose="020B0604020202020204" pitchFamily="50" charset="-128"/>
                <a:cs typeface="Arial Unicode MS" panose="020B0604020202020204" pitchFamily="50" charset="-128"/>
              </a:rPr>
              <a:t>t</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value of the collected estimates are negative and statistically significant in both study areas, suggesting that, irrespective of the target region, the negative impact of CBI on inflation is verified in the literature as a whole. However, it was also revealed that the effect size and the statistical significance of the transition studies are inferior to those of non-transition studies</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t>
            </a:r>
          </a:p>
          <a:p>
            <a:pPr>
              <a:buFont typeface="Wingdings" panose="05000000000000000000" pitchFamily="2" charset="2"/>
              <a:buChar char="Ø"/>
            </a:pPr>
            <a:r>
              <a:rPr lang="en-US" altLang="ja-JP" b="1" dirty="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Second</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the meta-synthesis of the estimates collected from the transition studies indicated the possibility that their empirical results are strongly affected by a series of study conditions, including the target country, the estimation period, the data type, and the type of index used to measure CBI.</a:t>
            </a:r>
            <a:endParaRPr kumimoji="1" lang="ja-JP" altLang="en-US" dirty="0">
              <a:latin typeface="Arial Unicode MS" panose="020B0604020202020204" pitchFamily="50" charset="-128"/>
              <a:ea typeface="Arial Unicode MS" panose="020B0604020202020204" pitchFamily="50" charset="-128"/>
              <a:cs typeface="Arial Unicode MS" panose="020B0604020202020204" pitchFamily="50" charset="-128"/>
            </a:endParaRPr>
          </a:p>
        </p:txBody>
      </p:sp>
    </p:spTree>
    <p:extLst>
      <p:ext uri="{BB962C8B-B14F-4D97-AF65-F5344CB8AC3E}">
        <p14:creationId xmlns:p14="http://schemas.microsoft.com/office/powerpoint/2010/main" val="15681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cap="none" dirty="0" smtClean="0">
                <a:latin typeface="Arial Black" panose="020B0A04020102020204" pitchFamily="34" charset="0"/>
              </a:rPr>
              <a:t>Conclusions (2)</a:t>
            </a:r>
            <a:br>
              <a:rPr lang="en-US" altLang="ja-JP" cap="none" dirty="0" smtClean="0">
                <a:latin typeface="Arial Black" panose="020B0A04020102020204" pitchFamily="34" charset="0"/>
              </a:rPr>
            </a:br>
            <a:endParaRPr kumimoji="1" lang="ja-JP" altLang="en-US" sz="1600" cap="none" dirty="0">
              <a:solidFill>
                <a:srgbClr val="00B0F0"/>
              </a:solidFill>
            </a:endParaRPr>
          </a:p>
        </p:txBody>
      </p:sp>
      <p:sp>
        <p:nvSpPr>
          <p:cNvPr id="3" name="コンテンツ プレースホルダー 2"/>
          <p:cNvSpPr>
            <a:spLocks noGrp="1"/>
          </p:cNvSpPr>
          <p:nvPr>
            <p:ph idx="1"/>
          </p:nvPr>
        </p:nvSpPr>
        <p:spPr>
          <a:xfrm>
            <a:off x="654384" y="2257032"/>
            <a:ext cx="8114752" cy="4264237"/>
          </a:xfrm>
        </p:spPr>
        <p:txBody>
          <a:bodyPr anchor="t">
            <a:noAutofit/>
          </a:bodyPr>
          <a:lstStyle/>
          <a:p>
            <a:pPr>
              <a:buFont typeface="Wingdings" panose="05000000000000000000" pitchFamily="2" charset="2"/>
              <a:buChar char="Ø"/>
            </a:pPr>
            <a:r>
              <a:rPr lang="en-US" altLang="ja-JP" b="1" dirty="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Third</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the MRA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also revealed that the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heterogeneity among studies of transition economies is caused by the choice of estimator, inflation variable type, degree of freedom, and research quality, in particular.</a:t>
            </a:r>
            <a:endParaRPr lang="ja-JP" altLang="ja-JP" dirty="0">
              <a:latin typeface="Arial Unicode MS" panose="020B0604020202020204" pitchFamily="50" charset="-128"/>
              <a:ea typeface="Arial Unicode MS" panose="020B0604020202020204" pitchFamily="50" charset="-128"/>
              <a:cs typeface="Arial Unicode MS" panose="020B0604020202020204" pitchFamily="50" charset="-128"/>
            </a:endParaRPr>
          </a:p>
          <a:p>
            <a:pPr>
              <a:buFont typeface="Wingdings" panose="05000000000000000000" pitchFamily="2" charset="2"/>
              <a:buChar char="Ø"/>
            </a:pPr>
            <a:r>
              <a:rPr lang="en-US" altLang="ja-JP" b="1" dirty="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Fourth</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the MRA using the collected estimates of both transition and non-transition studies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indicated </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that there is no statistically significant difference between the two types of studies so long as we control for the degree of freedom and the quality level of the study</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t>
            </a:r>
            <a:endParaRPr lang="ja-JP" altLang="ja-JP" dirty="0">
              <a:latin typeface="Arial Unicode MS" panose="020B0604020202020204" pitchFamily="50" charset="-128"/>
              <a:ea typeface="Arial Unicode MS" panose="020B0604020202020204" pitchFamily="50" charset="-128"/>
              <a:cs typeface="Arial Unicode MS" panose="020B0604020202020204" pitchFamily="50" charset="-128"/>
            </a:endParaRPr>
          </a:p>
          <a:p>
            <a:pPr>
              <a:buFont typeface="Wingdings" panose="05000000000000000000" pitchFamily="2" charset="2"/>
              <a:buChar char="Ø"/>
            </a:pPr>
            <a:r>
              <a:rPr lang="en-US" altLang="ja-JP" b="1" dirty="0">
                <a:solidFill>
                  <a:srgbClr val="FF0000"/>
                </a:solidFill>
                <a:latin typeface="Arial Unicode MS" panose="020B0604020202020204" pitchFamily="50" charset="-128"/>
                <a:ea typeface="Arial Unicode MS" panose="020B0604020202020204" pitchFamily="50" charset="-128"/>
                <a:cs typeface="Arial Unicode MS" panose="020B0604020202020204" pitchFamily="50" charset="-128"/>
              </a:rPr>
              <a:t>Fifth</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according to the results of the assessment of publication selection bias, we found that, while the transition studies contain genuine empirical evidence of the disinflation effect of CBI in their estimates beyond type II publication selection bias, the non-transition studies failed to provide evidence of a non-zero effect of CBI, due to the strong influence of publication selection bias on their empirical results</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t>
            </a:r>
            <a:endParaRPr lang="ja-JP" altLang="ja-JP" dirty="0">
              <a:latin typeface="Arial Unicode MS" panose="020B0604020202020204" pitchFamily="50" charset="-128"/>
              <a:ea typeface="Arial Unicode MS" panose="020B0604020202020204" pitchFamily="50" charset="-128"/>
              <a:cs typeface="Arial Unicode MS" panose="020B0604020202020204" pitchFamily="50" charset="-128"/>
            </a:endParaRPr>
          </a:p>
        </p:txBody>
      </p:sp>
    </p:spTree>
    <p:extLst>
      <p:ext uri="{BB962C8B-B14F-4D97-AF65-F5344CB8AC3E}">
        <p14:creationId xmlns:p14="http://schemas.microsoft.com/office/powerpoint/2010/main" val="2732430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cap="none" dirty="0" smtClean="0">
                <a:latin typeface="Arial Black" panose="020B0A04020102020204" pitchFamily="34" charset="0"/>
              </a:rPr>
              <a:t>Conclusions (3)</a:t>
            </a:r>
            <a:br>
              <a:rPr lang="en-US" altLang="ja-JP" cap="none" dirty="0" smtClean="0">
                <a:latin typeface="Arial Black" panose="020B0A04020102020204" pitchFamily="34" charset="0"/>
              </a:rPr>
            </a:br>
            <a:endParaRPr kumimoji="1" lang="ja-JP" altLang="en-US" sz="1600" cap="none" dirty="0">
              <a:solidFill>
                <a:srgbClr val="00B0F0"/>
              </a:solidFill>
            </a:endParaRPr>
          </a:p>
        </p:txBody>
      </p:sp>
      <p:sp>
        <p:nvSpPr>
          <p:cNvPr id="3" name="コンテンツ プレースホルダー 2"/>
          <p:cNvSpPr>
            <a:spLocks noGrp="1"/>
          </p:cNvSpPr>
          <p:nvPr>
            <p:ph idx="1"/>
          </p:nvPr>
        </p:nvSpPr>
        <p:spPr>
          <a:xfrm>
            <a:off x="696686" y="2257033"/>
            <a:ext cx="8115993" cy="3447082"/>
          </a:xfrm>
        </p:spPr>
        <p:txBody>
          <a:bodyPr anchor="t">
            <a:noAutofit/>
          </a:bodyPr>
          <a:lstStyle/>
          <a:p>
            <a:pPr>
              <a:buFont typeface="Wingdings" panose="05000000000000000000" pitchFamily="2" charset="2"/>
              <a:buChar char="Ø"/>
            </a:pP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To summarize, the results of our meta-analysis strongly back up the argument that the socioeconomic progress is substantial, in the sense that there exists a close relationship between CBI and inflation in the post-communist world. </a:t>
            </a:r>
            <a:endPar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endParaRPr>
          </a:p>
          <a:p>
            <a:pPr>
              <a:buFont typeface="Wingdings" panose="05000000000000000000" pitchFamily="2"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However</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the results never support the contention that the central banks in the CEE and FSU countries have reached a desirable level of independence from policy makers and other parties with interests in monetary policies. </a:t>
            </a:r>
            <a:endPar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endParaRPr>
          </a:p>
          <a:p>
            <a:pPr>
              <a:buFont typeface="Wingdings" panose="05000000000000000000" pitchFamily="2" charset="2"/>
              <a:buChar char="Ø"/>
            </a:pP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Rather</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in many of transition economies, the central bank is still under the strong control of political leaders and the central government. </a:t>
            </a:r>
            <a:r>
              <a:rPr lang="en-US" altLang="ja-JP" dirty="0" smtClean="0">
                <a:latin typeface="Arial Unicode MS" panose="020B0604020202020204" pitchFamily="50" charset="-128"/>
                <a:ea typeface="Arial Unicode MS" panose="020B0604020202020204" pitchFamily="50" charset="-128"/>
                <a:cs typeface="Arial Unicode MS" panose="020B0604020202020204" pitchFamily="50" charset="-128"/>
              </a:rPr>
              <a:t>Accordingly</a:t>
            </a:r>
            <a:r>
              <a:rPr lang="en-US" altLang="ja-JP" dirty="0">
                <a:latin typeface="Arial Unicode MS" panose="020B0604020202020204" pitchFamily="50" charset="-128"/>
                <a:ea typeface="Arial Unicode MS" panose="020B0604020202020204" pitchFamily="50" charset="-128"/>
                <a:cs typeface="Arial Unicode MS" panose="020B0604020202020204" pitchFamily="50" charset="-128"/>
              </a:rPr>
              <a:t>, we should pay careful attention to further development of this aspect.</a:t>
            </a:r>
            <a:endParaRPr lang="ja-JP" altLang="ja-JP" dirty="0">
              <a:latin typeface="Arial Unicode MS" panose="020B0604020202020204" pitchFamily="50" charset="-128"/>
              <a:ea typeface="Arial Unicode MS" panose="020B0604020202020204" pitchFamily="50" charset="-128"/>
              <a:cs typeface="Arial Unicode MS" panose="020B0604020202020204" pitchFamily="50" charset="-128"/>
            </a:endParaRPr>
          </a:p>
        </p:txBody>
      </p:sp>
      <p:sp>
        <p:nvSpPr>
          <p:cNvPr id="5" name="正方形/長方形 4"/>
          <p:cNvSpPr/>
          <p:nvPr/>
        </p:nvSpPr>
        <p:spPr>
          <a:xfrm>
            <a:off x="472440" y="5928735"/>
            <a:ext cx="8366902" cy="584775"/>
          </a:xfrm>
          <a:prstGeom prst="rect">
            <a:avLst/>
          </a:prstGeom>
          <a:noFill/>
        </p:spPr>
        <p:txBody>
          <a:bodyPr wrap="square" lIns="91440" tIns="45720" rIns="91440" bIns="45720">
            <a:spAutoFit/>
          </a:bodyPr>
          <a:lstStyle/>
          <a:p>
            <a:pPr algn="ctr"/>
            <a:r>
              <a:rPr kumimoji="1" lang="en-US" altLang="ja-JP" sz="3200" b="1" cap="none" spc="0" dirty="0" smtClean="0">
                <a:ln w="22225">
                  <a:solidFill>
                    <a:srgbClr val="FF0000"/>
                  </a:solidFill>
                  <a:prstDash val="solid"/>
                </a:ln>
                <a:solidFill>
                  <a:srgbClr val="C00000"/>
                </a:solidFill>
                <a:effectLst/>
              </a:rPr>
              <a:t>Thank you so much for your kind attention!</a:t>
            </a:r>
            <a:endParaRPr lang="ja-JP" altLang="en-US" sz="3200" b="1" cap="none" spc="0" dirty="0">
              <a:ln w="22225">
                <a:solidFill>
                  <a:srgbClr val="FF0000"/>
                </a:solidFill>
                <a:prstDash val="solid"/>
              </a:ln>
              <a:solidFill>
                <a:srgbClr val="C00000"/>
              </a:solidFill>
              <a:effectLst/>
            </a:endParaRPr>
          </a:p>
        </p:txBody>
      </p:sp>
    </p:spTree>
    <p:extLst>
      <p:ext uri="{BB962C8B-B14F-4D97-AF65-F5344CB8AC3E}">
        <p14:creationId xmlns:p14="http://schemas.microsoft.com/office/powerpoint/2010/main" val="128803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randombar(horizont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theme/theme1.xml><?xml version="1.0" encoding="utf-8"?>
<a:theme xmlns:a="http://schemas.openxmlformats.org/drawingml/2006/main" name="配当">
  <a:themeElements>
    <a:clrScheme name="配当">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配当">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配当">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4658</TotalTime>
  <Words>1881</Words>
  <Application>Microsoft Office PowerPoint</Application>
  <PresentationFormat>画面に合わせる (4:3)</PresentationFormat>
  <Paragraphs>92</Paragraphs>
  <Slides>28</Slides>
  <Notes>2</Notes>
  <HiddenSlides>0</HiddenSlides>
  <MMClips>0</MMClips>
  <ScaleCrop>false</ScaleCrop>
  <HeadingPairs>
    <vt:vector size="8" baseType="variant">
      <vt:variant>
        <vt:lpstr>使用されているフォント</vt:lpstr>
      </vt:variant>
      <vt:variant>
        <vt:i4>9</vt:i4>
      </vt:variant>
      <vt:variant>
        <vt:lpstr>テーマ</vt:lpstr>
      </vt:variant>
      <vt:variant>
        <vt:i4>1</vt:i4>
      </vt:variant>
      <vt:variant>
        <vt:lpstr>埋め込まれた OLE サーバー</vt:lpstr>
      </vt:variant>
      <vt:variant>
        <vt:i4>1</vt:i4>
      </vt:variant>
      <vt:variant>
        <vt:lpstr>スライド タイトル</vt:lpstr>
      </vt:variant>
      <vt:variant>
        <vt:i4>28</vt:i4>
      </vt:variant>
    </vt:vector>
  </HeadingPairs>
  <TitlesOfParts>
    <vt:vector size="39" baseType="lpstr">
      <vt:lpstr>Arial Unicode MS</vt:lpstr>
      <vt:lpstr>Gill Sans MT</vt:lpstr>
      <vt:lpstr>HGｺﾞｼｯｸE</vt:lpstr>
      <vt:lpstr>ＭＳ Ｐゴシック</vt:lpstr>
      <vt:lpstr>メイリオ</vt:lpstr>
      <vt:lpstr>Arial Black</vt:lpstr>
      <vt:lpstr>Calibri</vt:lpstr>
      <vt:lpstr>Wingdings</vt:lpstr>
      <vt:lpstr>Wingdings 2</vt:lpstr>
      <vt:lpstr>配当</vt:lpstr>
      <vt:lpstr>Worksheet</vt:lpstr>
      <vt:lpstr> Central Bank Independence and Inflation in Transition Economies   A Comparative Meta-Analysis with Developed and Developing Economies</vt:lpstr>
      <vt:lpstr>Introduction</vt:lpstr>
      <vt:lpstr>Introduction (2)</vt:lpstr>
      <vt:lpstr>Today’s Presentation </vt:lpstr>
      <vt:lpstr>Central Bank Reforms in Transition Economies</vt:lpstr>
      <vt:lpstr>PowerPoint プレゼンテーション</vt:lpstr>
      <vt:lpstr>PowerPoint プレゼンテーション</vt:lpstr>
      <vt:lpstr>Central Bank Reforms in Transition Economies (2)</vt:lpstr>
      <vt:lpstr>Central Bank Independence and Inflation: Literature Review</vt:lpstr>
      <vt:lpstr>Central Bank Independence and Inflation: Literature Review (2)</vt:lpstr>
      <vt:lpstr>Methodology of Literature Search, Cording, and Meta-analysis</vt:lpstr>
      <vt:lpstr>PowerPoint プレゼンテーション</vt:lpstr>
      <vt:lpstr>Methodology of Literature Search, Cording, and Meta-analysis (2)</vt:lpstr>
      <vt:lpstr>Synthesis of Estimates</vt:lpstr>
      <vt:lpstr>PowerPoint プレゼンテーション</vt:lpstr>
      <vt:lpstr>PowerPoint プレゼンテーション</vt:lpstr>
      <vt:lpstr>Meta-Regression Analysis</vt:lpstr>
      <vt:lpstr>PowerPoint プレゼンテーション</vt:lpstr>
      <vt:lpstr>PowerPoint プレゼンテーション</vt:lpstr>
      <vt:lpstr>PowerPoint プレゼンテーション</vt:lpstr>
      <vt:lpstr>PowerPoint プレゼンテーション</vt:lpstr>
      <vt:lpstr>Assessment of Publication Selection Bias</vt:lpstr>
      <vt:lpstr>PowerPoint プレゼンテーション</vt:lpstr>
      <vt:lpstr>PowerPoint プレゼンテーション</vt:lpstr>
      <vt:lpstr>PowerPoint プレゼンテーション</vt:lpstr>
      <vt:lpstr>Conclusions </vt:lpstr>
      <vt:lpstr>Conclusions (2) </vt:lpstr>
      <vt:lpstr>Conclusions (3)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移行経済における中央銀行の独立性と物価抑制効果：メタ分析 Central Bank Independence and Inflation in Transition Economies: A Meta-Analysis</dc:title>
  <dc:creator>岩崎一郎</dc:creator>
  <cp:lastModifiedBy>岩崎一郎</cp:lastModifiedBy>
  <cp:revision>166</cp:revision>
  <cp:lastPrinted>2015-06-12T13:03:20Z</cp:lastPrinted>
  <dcterms:created xsi:type="dcterms:W3CDTF">2014-12-15T06:09:50Z</dcterms:created>
  <dcterms:modified xsi:type="dcterms:W3CDTF">2015-08-25T09:29:57Z</dcterms:modified>
</cp:coreProperties>
</file>