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Lst>
  <p:notesMasterIdLst>
    <p:notesMasterId r:id="rId23"/>
  </p:notesMasterIdLst>
  <p:sldIdLst>
    <p:sldId id="262" r:id="rId2"/>
    <p:sldId id="336" r:id="rId3"/>
    <p:sldId id="284" r:id="rId4"/>
    <p:sldId id="356" r:id="rId5"/>
    <p:sldId id="357" r:id="rId6"/>
    <p:sldId id="283" r:id="rId7"/>
    <p:sldId id="358" r:id="rId8"/>
    <p:sldId id="352" r:id="rId9"/>
    <p:sldId id="359" r:id="rId10"/>
    <p:sldId id="360" r:id="rId11"/>
    <p:sldId id="339" r:id="rId12"/>
    <p:sldId id="361" r:id="rId13"/>
    <p:sldId id="362" r:id="rId14"/>
    <p:sldId id="363" r:id="rId15"/>
    <p:sldId id="365" r:id="rId16"/>
    <p:sldId id="366" r:id="rId17"/>
    <p:sldId id="367" r:id="rId18"/>
    <p:sldId id="364" r:id="rId19"/>
    <p:sldId id="368" r:id="rId20"/>
    <p:sldId id="369" r:id="rId21"/>
    <p:sldId id="370" r:id="rId22"/>
  </p:sldIdLst>
  <p:sldSz cx="9144000" cy="6858000" type="screen4x3"/>
  <p:notesSz cx="6662738" cy="9893300"/>
  <p:defaultTextStyle>
    <a:defPPr>
      <a:defRPr lang="el-GR"/>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D5D5"/>
    <a:srgbClr val="4FFFEA"/>
    <a:srgbClr val="77FF57"/>
    <a:srgbClr val="23B800"/>
    <a:srgbClr val="663300"/>
    <a:srgbClr val="CC0066"/>
    <a:srgbClr val="6666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59" autoAdjust="0"/>
    <p:restoredTop sz="94660"/>
  </p:normalViewPr>
  <p:slideViewPr>
    <p:cSldViewPr snapToObjects="1">
      <p:cViewPr>
        <p:scale>
          <a:sx n="70" d="100"/>
          <a:sy n="70" d="100"/>
        </p:scale>
        <p:origin x="-1374" y="6"/>
      </p:cViewPr>
      <p:guideLst>
        <p:guide orient="horz" pos="2160"/>
        <p:guide pos="2880"/>
      </p:guideLst>
    </p:cSldViewPr>
  </p:slideViewPr>
  <p:notesTextViewPr>
    <p:cViewPr>
      <p:scale>
        <a:sx n="100" d="100"/>
        <a:sy n="100" d="100"/>
      </p:scale>
      <p:origin x="0" y="0"/>
    </p:cViewPr>
  </p:notesTextViewPr>
  <p:gridSpacing cx="46085125" cy="4608512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 Θέση κεφαλίδας"/>
          <p:cNvSpPr>
            <a:spLocks noGrp="1"/>
          </p:cNvSpPr>
          <p:nvPr>
            <p:ph type="hdr" sz="quarter"/>
          </p:nvPr>
        </p:nvSpPr>
        <p:spPr>
          <a:xfrm>
            <a:off x="0" y="0"/>
            <a:ext cx="2887663" cy="495300"/>
          </a:xfrm>
          <a:prstGeom prst="rect">
            <a:avLst/>
          </a:prstGeom>
        </p:spPr>
        <p:txBody>
          <a:bodyPr vert="horz" lIns="91440" tIns="45720" rIns="91440" bIns="45720" rtlCol="0"/>
          <a:lstStyle>
            <a:lvl1pPr algn="l">
              <a:defRPr sz="1200" smtClean="0">
                <a:latin typeface="Arial" charset="0"/>
              </a:defRPr>
            </a:lvl1pPr>
          </a:lstStyle>
          <a:p>
            <a:pPr>
              <a:defRPr/>
            </a:pPr>
            <a:endParaRPr lang="el-GR"/>
          </a:p>
        </p:txBody>
      </p:sp>
      <p:sp>
        <p:nvSpPr>
          <p:cNvPr id="3" name="2 - Θέση ημερομηνίας"/>
          <p:cNvSpPr>
            <a:spLocks noGrp="1"/>
          </p:cNvSpPr>
          <p:nvPr>
            <p:ph type="dt" idx="1"/>
          </p:nvPr>
        </p:nvSpPr>
        <p:spPr>
          <a:xfrm>
            <a:off x="3773488" y="0"/>
            <a:ext cx="2887662" cy="495300"/>
          </a:xfrm>
          <a:prstGeom prst="rect">
            <a:avLst/>
          </a:prstGeom>
        </p:spPr>
        <p:txBody>
          <a:bodyPr vert="horz" lIns="91440" tIns="45720" rIns="91440" bIns="45720" rtlCol="0"/>
          <a:lstStyle>
            <a:lvl1pPr algn="r">
              <a:defRPr sz="1200" smtClean="0">
                <a:latin typeface="Arial" charset="0"/>
              </a:defRPr>
            </a:lvl1pPr>
          </a:lstStyle>
          <a:p>
            <a:pPr>
              <a:defRPr/>
            </a:pPr>
            <a:fld id="{B69582A6-7172-4636-B95D-E492896861D0}" type="datetimeFigureOut">
              <a:rPr lang="el-GR"/>
              <a:pPr>
                <a:defRPr/>
              </a:pPr>
              <a:t>15/9/2015</a:t>
            </a:fld>
            <a:endParaRPr lang="el-GR"/>
          </a:p>
        </p:txBody>
      </p:sp>
      <p:sp>
        <p:nvSpPr>
          <p:cNvPr id="4" name="3 - Θέση εικόνας διαφάνειας"/>
          <p:cNvSpPr>
            <a:spLocks noGrp="1" noRot="1" noChangeAspect="1"/>
          </p:cNvSpPr>
          <p:nvPr>
            <p:ph type="sldImg" idx="2"/>
          </p:nvPr>
        </p:nvSpPr>
        <p:spPr>
          <a:xfrm>
            <a:off x="858838" y="741363"/>
            <a:ext cx="4946650" cy="3709987"/>
          </a:xfrm>
          <a:prstGeom prst="rect">
            <a:avLst/>
          </a:prstGeom>
          <a:noFill/>
          <a:ln w="12700">
            <a:solidFill>
              <a:prstClr val="black"/>
            </a:solidFill>
          </a:ln>
        </p:spPr>
        <p:txBody>
          <a:bodyPr vert="horz" lIns="91440" tIns="45720" rIns="91440" bIns="45720" rtlCol="0" anchor="ctr"/>
          <a:lstStyle/>
          <a:p>
            <a:pPr lvl="0"/>
            <a:endParaRPr lang="el-GR" noProof="0" smtClean="0"/>
          </a:p>
        </p:txBody>
      </p:sp>
      <p:sp>
        <p:nvSpPr>
          <p:cNvPr id="5" name="4 - Θέση σημειώσεων"/>
          <p:cNvSpPr>
            <a:spLocks noGrp="1"/>
          </p:cNvSpPr>
          <p:nvPr>
            <p:ph type="body" sz="quarter" idx="3"/>
          </p:nvPr>
        </p:nvSpPr>
        <p:spPr>
          <a:xfrm>
            <a:off x="666750" y="4699000"/>
            <a:ext cx="5329238" cy="4452938"/>
          </a:xfrm>
          <a:prstGeom prst="rect">
            <a:avLst/>
          </a:prstGeom>
        </p:spPr>
        <p:txBody>
          <a:bodyPr vert="horz" lIns="91440" tIns="45720" rIns="91440" bIns="45720" rtlCol="0">
            <a:normAutofit/>
          </a:bodyPr>
          <a:lstStyle/>
          <a:p>
            <a:pPr lvl="0"/>
            <a:r>
              <a:rPr lang="el-GR" noProof="0" smtClean="0"/>
              <a:t>Kλικ για επεξεργασία των στυλ του υποδείγματος</a:t>
            </a:r>
          </a:p>
          <a:p>
            <a:pPr lvl="1"/>
            <a:r>
              <a:rPr lang="el-GR" noProof="0" smtClean="0"/>
              <a:t>Δεύτερου επιπέδου</a:t>
            </a:r>
          </a:p>
          <a:p>
            <a:pPr lvl="2"/>
            <a:r>
              <a:rPr lang="el-GR" noProof="0" smtClean="0"/>
              <a:t>Τρίτου επιπέδου</a:t>
            </a:r>
          </a:p>
          <a:p>
            <a:pPr lvl="3"/>
            <a:r>
              <a:rPr lang="el-GR" noProof="0" smtClean="0"/>
              <a:t>Τέταρτου επιπέδου</a:t>
            </a:r>
          </a:p>
          <a:p>
            <a:pPr lvl="4"/>
            <a:r>
              <a:rPr lang="el-GR" noProof="0" smtClean="0"/>
              <a:t>Πέμπτου επιπέδου</a:t>
            </a:r>
          </a:p>
        </p:txBody>
      </p:sp>
      <p:sp>
        <p:nvSpPr>
          <p:cNvPr id="6" name="5 - Θέση υποσέλιδου"/>
          <p:cNvSpPr>
            <a:spLocks noGrp="1"/>
          </p:cNvSpPr>
          <p:nvPr>
            <p:ph type="ftr" sz="quarter" idx="4"/>
          </p:nvPr>
        </p:nvSpPr>
        <p:spPr>
          <a:xfrm>
            <a:off x="0" y="9396413"/>
            <a:ext cx="2887663" cy="495300"/>
          </a:xfrm>
          <a:prstGeom prst="rect">
            <a:avLst/>
          </a:prstGeom>
        </p:spPr>
        <p:txBody>
          <a:bodyPr vert="horz" lIns="91440" tIns="45720" rIns="91440" bIns="45720" rtlCol="0" anchor="b"/>
          <a:lstStyle>
            <a:lvl1pPr algn="l">
              <a:defRPr sz="1200" smtClean="0">
                <a:latin typeface="Arial" charset="0"/>
              </a:defRPr>
            </a:lvl1pPr>
          </a:lstStyle>
          <a:p>
            <a:pPr>
              <a:defRPr/>
            </a:pPr>
            <a:endParaRPr lang="el-GR"/>
          </a:p>
        </p:txBody>
      </p:sp>
      <p:sp>
        <p:nvSpPr>
          <p:cNvPr id="7" name="6 - Θέση αριθμού διαφάνειας"/>
          <p:cNvSpPr>
            <a:spLocks noGrp="1"/>
          </p:cNvSpPr>
          <p:nvPr>
            <p:ph type="sldNum" sz="quarter" idx="5"/>
          </p:nvPr>
        </p:nvSpPr>
        <p:spPr>
          <a:xfrm>
            <a:off x="3773488" y="9396413"/>
            <a:ext cx="2887662" cy="495300"/>
          </a:xfrm>
          <a:prstGeom prst="rect">
            <a:avLst/>
          </a:prstGeom>
        </p:spPr>
        <p:txBody>
          <a:bodyPr vert="horz" lIns="91440" tIns="45720" rIns="91440" bIns="45720" rtlCol="0" anchor="b"/>
          <a:lstStyle>
            <a:lvl1pPr algn="r">
              <a:defRPr sz="1200" smtClean="0">
                <a:latin typeface="Arial" charset="0"/>
              </a:defRPr>
            </a:lvl1pPr>
          </a:lstStyle>
          <a:p>
            <a:pPr>
              <a:defRPr/>
            </a:pPr>
            <a:fld id="{8900420C-3E29-4BE0-B5E8-402D7C88F297}" type="slidenum">
              <a:rPr lang="el-GR"/>
              <a:pPr>
                <a:defRPr/>
              </a:pPr>
              <a:t>‹#›</a:t>
            </a:fld>
            <a:endParaRPr lang="el-GR"/>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 Θέση εικόνας διαφάνειας"/>
          <p:cNvSpPr>
            <a:spLocks noGrp="1" noRot="1" noChangeAspect="1" noTextEdit="1"/>
          </p:cNvSpPr>
          <p:nvPr>
            <p:ph type="sldImg"/>
          </p:nvPr>
        </p:nvSpPr>
        <p:spPr bwMode="auto">
          <a:noFill/>
          <a:ln>
            <a:solidFill>
              <a:srgbClr val="000000"/>
            </a:solidFill>
            <a:miter lim="800000"/>
            <a:headEnd/>
            <a:tailEnd/>
          </a:ln>
        </p:spPr>
      </p:sp>
      <p:sp>
        <p:nvSpPr>
          <p:cNvPr id="24579" name="2 - Θέση σημειώσεων"/>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l-GR" altLang="el-GR" smtClean="0"/>
          </a:p>
        </p:txBody>
      </p:sp>
      <p:sp>
        <p:nvSpPr>
          <p:cNvPr id="24580" name="3 - Θέση αριθμού διαφάνειας"/>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E53D8E7-272F-438C-9E07-828D16A0C6A6}" type="slidenum">
              <a:rPr lang="el-GR" altLang="el-GR">
                <a:latin typeface="Arial" pitchFamily="34" charset="0"/>
              </a:rPr>
              <a:pPr/>
              <a:t>12</a:t>
            </a:fld>
            <a:endParaRPr lang="el-GR" altLang="el-GR">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 Θέση εικόνας διαφάνειας"/>
          <p:cNvSpPr>
            <a:spLocks noGrp="1" noRot="1" noChangeAspect="1" noTextEdit="1"/>
          </p:cNvSpPr>
          <p:nvPr>
            <p:ph type="sldImg"/>
          </p:nvPr>
        </p:nvSpPr>
        <p:spPr bwMode="auto">
          <a:noFill/>
          <a:ln>
            <a:solidFill>
              <a:srgbClr val="000000"/>
            </a:solidFill>
            <a:miter lim="800000"/>
            <a:headEnd/>
            <a:tailEnd/>
          </a:ln>
        </p:spPr>
      </p:sp>
      <p:sp>
        <p:nvSpPr>
          <p:cNvPr id="25603" name="2 - Θέση σημειώσεων"/>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l-GR" altLang="el-GR" smtClean="0"/>
          </a:p>
        </p:txBody>
      </p:sp>
      <p:sp>
        <p:nvSpPr>
          <p:cNvPr id="25604" name="3 - Θέση αριθμού διαφάνειας"/>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3F0626A-099E-489E-BE34-BCFC5DBBB18D}" type="slidenum">
              <a:rPr lang="el-GR" altLang="el-GR">
                <a:latin typeface="Arial" pitchFamily="34" charset="0"/>
              </a:rPr>
              <a:pPr/>
              <a:t>13</a:t>
            </a:fld>
            <a:endParaRPr lang="el-GR" altLang="el-GR">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Διαφάνεια τίτλου">
    <p:bg>
      <p:bgPr>
        <a:gradFill rotWithShape="0">
          <a:gsLst>
            <a:gs pos="0">
              <a:schemeClr val="bg1"/>
            </a:gs>
            <a:gs pos="100000">
              <a:srgbClr val="32324A"/>
            </a:gs>
          </a:gsLst>
          <a:lin ang="2700000" scaled="1"/>
        </a:gra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498475" y="1311275"/>
            <a:ext cx="10429875" cy="5908675"/>
            <a:chOff x="-313" y="824"/>
            <a:chExt cx="6570" cy="3722"/>
          </a:xfrm>
        </p:grpSpPr>
        <p:sp>
          <p:nvSpPr>
            <p:cNvPr id="5" name="Rectangle 3"/>
            <p:cNvSpPr>
              <a:spLocks noChangeArrowheads="1"/>
            </p:cNvSpPr>
            <p:nvPr userDrawn="1"/>
          </p:nvSpPr>
          <p:spPr bwMode="hidden">
            <a:xfrm rot="20798144" flipV="1">
              <a:off x="-14" y="1033"/>
              <a:ext cx="1744"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6" name="Rectangle 4"/>
            <p:cNvSpPr>
              <a:spLocks noChangeArrowheads="1"/>
            </p:cNvSpPr>
            <p:nvPr userDrawn="1"/>
          </p:nvSpPr>
          <p:spPr bwMode="hidden">
            <a:xfrm rot="20774366" flipV="1">
              <a:off x="-24" y="1127"/>
              <a:ext cx="2033"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7" name="Rectangle 5"/>
            <p:cNvSpPr>
              <a:spLocks noChangeArrowheads="1"/>
            </p:cNvSpPr>
            <p:nvPr userDrawn="1"/>
          </p:nvSpPr>
          <p:spPr bwMode="hidden">
            <a:xfrm rot="20757421" flipV="1">
              <a:off x="-27" y="1198"/>
              <a:ext cx="2246"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8" name="Rectangle 6"/>
            <p:cNvSpPr>
              <a:spLocks noChangeArrowheads="1"/>
            </p:cNvSpPr>
            <p:nvPr userDrawn="1"/>
          </p:nvSpPr>
          <p:spPr bwMode="hidden">
            <a:xfrm rot="20684206" flipV="1">
              <a:off x="-43" y="1283"/>
              <a:ext cx="2476"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9" name="Rectangle 7"/>
            <p:cNvSpPr>
              <a:spLocks noChangeArrowheads="1"/>
            </p:cNvSpPr>
            <p:nvPr userDrawn="1"/>
          </p:nvSpPr>
          <p:spPr bwMode="hidden">
            <a:xfrm rot="20631226" flipV="1">
              <a:off x="-51" y="1397"/>
              <a:ext cx="2770"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10" name="Rectangle 8"/>
            <p:cNvSpPr>
              <a:spLocks noChangeArrowheads="1"/>
            </p:cNvSpPr>
            <p:nvPr userDrawn="1"/>
          </p:nvSpPr>
          <p:spPr bwMode="hidden">
            <a:xfrm rot="20554235" flipV="1">
              <a:off x="-65" y="1523"/>
              <a:ext cx="3058"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11" name="Rectangle 9"/>
            <p:cNvSpPr>
              <a:spLocks noChangeArrowheads="1"/>
            </p:cNvSpPr>
            <p:nvPr userDrawn="1"/>
          </p:nvSpPr>
          <p:spPr bwMode="hidden">
            <a:xfrm rot="20466593" flipV="1">
              <a:off x="-93" y="1694"/>
              <a:ext cx="3403"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12" name="Rectangle 10"/>
            <p:cNvSpPr>
              <a:spLocks noChangeArrowheads="1"/>
            </p:cNvSpPr>
            <p:nvPr userDrawn="1"/>
          </p:nvSpPr>
          <p:spPr bwMode="hidden">
            <a:xfrm rot="20343219" flipV="1">
              <a:off x="-99" y="1863"/>
              <a:ext cx="3749" cy="6"/>
            </a:xfrm>
            <a:prstGeom prst="rect">
              <a:avLst/>
            </a:prstGeom>
            <a:gradFill rotWithShape="0">
              <a:gsLst>
                <a:gs pos="0">
                  <a:schemeClr val="bg1"/>
                </a:gs>
                <a:gs pos="100000">
                  <a:schemeClr val="bg1">
                    <a:gamma/>
                    <a:shade val="84706"/>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13" name="Rectangle 11"/>
            <p:cNvSpPr>
              <a:spLocks noChangeArrowheads="1"/>
            </p:cNvSpPr>
            <p:nvPr userDrawn="1"/>
          </p:nvSpPr>
          <p:spPr bwMode="hidden">
            <a:xfrm rot="20211065" flipV="1">
              <a:off x="-165" y="2053"/>
              <a:ext cx="4209" cy="6"/>
            </a:xfrm>
            <a:prstGeom prst="rect">
              <a:avLst/>
            </a:prstGeom>
            <a:gradFill rotWithShape="0">
              <a:gsLst>
                <a:gs pos="0">
                  <a:schemeClr val="bg1"/>
                </a:gs>
                <a:gs pos="100000">
                  <a:schemeClr val="bg1">
                    <a:gamma/>
                    <a:shade val="75686"/>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14" name="Rectangle 12"/>
            <p:cNvSpPr>
              <a:spLocks noChangeArrowheads="1"/>
            </p:cNvSpPr>
            <p:nvPr userDrawn="1"/>
          </p:nvSpPr>
          <p:spPr bwMode="hidden">
            <a:xfrm rot="20102912" flipV="1">
              <a:off x="-214" y="2289"/>
              <a:ext cx="4612" cy="6"/>
            </a:xfrm>
            <a:prstGeom prst="rect">
              <a:avLst/>
            </a:prstGeom>
            <a:gradFill rotWithShape="0">
              <a:gsLst>
                <a:gs pos="0">
                  <a:schemeClr val="bg1"/>
                </a:gs>
                <a:gs pos="100000">
                  <a:schemeClr val="bg1">
                    <a:gamma/>
                    <a:shade val="69804"/>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15" name="Rectangle 13"/>
            <p:cNvSpPr>
              <a:spLocks noChangeArrowheads="1"/>
            </p:cNvSpPr>
            <p:nvPr userDrawn="1"/>
          </p:nvSpPr>
          <p:spPr bwMode="hidden">
            <a:xfrm rot="19923405" flipV="1">
              <a:off x="-313" y="2617"/>
              <a:ext cx="5200"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16" name="Rectangle 14"/>
            <p:cNvSpPr>
              <a:spLocks noChangeArrowheads="1"/>
            </p:cNvSpPr>
            <p:nvPr userDrawn="1"/>
          </p:nvSpPr>
          <p:spPr bwMode="hidden">
            <a:xfrm rot="19686284" flipV="1">
              <a:off x="9" y="2881"/>
              <a:ext cx="5401" cy="6"/>
            </a:xfrm>
            <a:prstGeom prst="rect">
              <a:avLst/>
            </a:prstGeom>
            <a:gradFill rotWithShape="0">
              <a:gsLst>
                <a:gs pos="0">
                  <a:schemeClr val="bg1"/>
                </a:gs>
                <a:gs pos="100000">
                  <a:schemeClr val="bg1">
                    <a:gamma/>
                    <a:shade val="46275"/>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17" name="Rectangle 15"/>
            <p:cNvSpPr>
              <a:spLocks noChangeArrowheads="1"/>
            </p:cNvSpPr>
            <p:nvPr userDrawn="1"/>
          </p:nvSpPr>
          <p:spPr bwMode="hidden">
            <a:xfrm rot="19383534" flipV="1">
              <a:off x="1319" y="2928"/>
              <a:ext cx="4612" cy="6"/>
            </a:xfrm>
            <a:prstGeom prst="rect">
              <a:avLst/>
            </a:prstGeom>
            <a:gradFill rotWithShape="0">
              <a:gsLst>
                <a:gs pos="0">
                  <a:schemeClr val="bg1"/>
                </a:gs>
                <a:gs pos="100000">
                  <a:schemeClr val="bg1">
                    <a:gamma/>
                    <a:shade val="30196"/>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18" name="Rectangle 16"/>
            <p:cNvSpPr>
              <a:spLocks noChangeArrowheads="1"/>
            </p:cNvSpPr>
            <p:nvPr userDrawn="1"/>
          </p:nvSpPr>
          <p:spPr bwMode="hidden">
            <a:xfrm rot="18994182" flipV="1">
              <a:off x="2681" y="3071"/>
              <a:ext cx="3576" cy="6"/>
            </a:xfrm>
            <a:prstGeom prst="rect">
              <a:avLst/>
            </a:prstGeom>
            <a:gradFill rotWithShape="0">
              <a:gsLst>
                <a:gs pos="0">
                  <a:schemeClr val="bg1"/>
                </a:gs>
                <a:gs pos="100000">
                  <a:schemeClr val="bg1">
                    <a:gamma/>
                    <a:shade val="3137"/>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19" name="Rectangle 17"/>
            <p:cNvSpPr>
              <a:spLocks noChangeArrowheads="1"/>
            </p:cNvSpPr>
            <p:nvPr userDrawn="1"/>
          </p:nvSpPr>
          <p:spPr bwMode="hidden">
            <a:xfrm rot="18603245" flipV="1">
              <a:off x="4054" y="3503"/>
              <a:ext cx="2079" cy="6"/>
            </a:xfrm>
            <a:prstGeom prst="rect">
              <a:avLst/>
            </a:prstGeom>
            <a:gradFill rotWithShape="0">
              <a:gsLst>
                <a:gs pos="0">
                  <a:schemeClr val="bg1"/>
                </a:gs>
                <a:gs pos="100000">
                  <a:schemeClr val="bg1">
                    <a:gamma/>
                    <a:shade val="0"/>
                    <a:invGamma/>
                  </a:schemeClr>
                </a:gs>
              </a:gsLst>
              <a:lin ang="2700000" scaled="1"/>
            </a:gradFill>
            <a:ln w="9525">
              <a:noFill/>
              <a:miter lim="800000"/>
              <a:headEnd/>
              <a:tailEnd/>
            </a:ln>
            <a:effectLst/>
          </p:spPr>
          <p:txBody>
            <a:bodyPr rot="10800000" vert="eaVert"/>
            <a:lstStyle/>
            <a:p>
              <a:pPr algn="ctr">
                <a:defRPr/>
              </a:pPr>
              <a:endParaRPr lang="el-GR">
                <a:latin typeface="Arial" charset="0"/>
              </a:endParaRPr>
            </a:p>
          </p:txBody>
        </p:sp>
        <p:sp>
          <p:nvSpPr>
            <p:cNvPr id="20" name="Rectangle 18"/>
            <p:cNvSpPr>
              <a:spLocks noChangeArrowheads="1"/>
            </p:cNvSpPr>
            <p:nvPr userDrawn="1"/>
          </p:nvSpPr>
          <p:spPr bwMode="hidden">
            <a:xfrm rot="39991575" flipH="1" flipV="1">
              <a:off x="5379" y="4167"/>
              <a:ext cx="501" cy="6"/>
            </a:xfrm>
            <a:prstGeom prst="rect">
              <a:avLst/>
            </a:prstGeom>
            <a:gradFill rotWithShape="0">
              <a:gsLst>
                <a:gs pos="0">
                  <a:schemeClr val="bg1"/>
                </a:gs>
                <a:gs pos="100000">
                  <a:schemeClr val="bg1">
                    <a:gamma/>
                    <a:shade val="0"/>
                    <a:invGamma/>
                  </a:schemeClr>
                </a:gs>
              </a:gsLst>
              <a:lin ang="2700000" scaled="1"/>
            </a:gradFill>
            <a:ln w="9525">
              <a:noFill/>
              <a:miter lim="800000"/>
              <a:headEnd/>
              <a:tailEnd/>
            </a:ln>
            <a:effectLst/>
          </p:spPr>
          <p:txBody>
            <a:bodyPr rot="10800000" vert="eaVert"/>
            <a:lstStyle/>
            <a:p>
              <a:pPr algn="ctr">
                <a:defRPr/>
              </a:pPr>
              <a:endParaRPr lang="el-GR">
                <a:latin typeface="Arial" charset="0"/>
              </a:endParaRPr>
            </a:p>
          </p:txBody>
        </p:sp>
        <p:sp>
          <p:nvSpPr>
            <p:cNvPr id="21" name="Rectangle 19"/>
            <p:cNvSpPr>
              <a:spLocks noChangeArrowheads="1"/>
            </p:cNvSpPr>
            <p:nvPr userDrawn="1"/>
          </p:nvSpPr>
          <p:spPr bwMode="hidden">
            <a:xfrm rot="-20541361">
              <a:off x="-146" y="2360"/>
              <a:ext cx="6046" cy="6"/>
            </a:xfrm>
            <a:prstGeom prst="rect">
              <a:avLst/>
            </a:prstGeom>
            <a:gradFill rotWithShape="0">
              <a:gsLst>
                <a:gs pos="0">
                  <a:schemeClr val="bg1"/>
                </a:gs>
                <a:gs pos="100000">
                  <a:schemeClr val="bg1">
                    <a:gamma/>
                    <a:shade val="54510"/>
                    <a:invGamma/>
                  </a:schemeClr>
                </a:gs>
              </a:gsLst>
              <a:lin ang="2700000" scaled="1"/>
            </a:gradFill>
            <a:ln w="9525">
              <a:noFill/>
              <a:miter lim="800000"/>
              <a:headEnd/>
              <a:tailEnd/>
            </a:ln>
            <a:effectLst/>
          </p:spPr>
          <p:txBody>
            <a:bodyPr/>
            <a:lstStyle/>
            <a:p>
              <a:pPr algn="ctr">
                <a:defRPr/>
              </a:pPr>
              <a:endParaRPr lang="el-GR">
                <a:latin typeface="Arial" charset="0"/>
              </a:endParaRPr>
            </a:p>
          </p:txBody>
        </p:sp>
        <p:sp>
          <p:nvSpPr>
            <p:cNvPr id="22" name="Rectangle 20"/>
            <p:cNvSpPr>
              <a:spLocks noChangeArrowheads="1"/>
            </p:cNvSpPr>
            <p:nvPr userDrawn="1"/>
          </p:nvSpPr>
          <p:spPr bwMode="hidden">
            <a:xfrm rot="-20036206">
              <a:off x="-198" y="3396"/>
              <a:ext cx="4142" cy="6"/>
            </a:xfrm>
            <a:prstGeom prst="rect">
              <a:avLst/>
            </a:prstGeom>
            <a:gradFill rotWithShape="0">
              <a:gsLst>
                <a:gs pos="0">
                  <a:schemeClr val="bg1"/>
                </a:gs>
                <a:gs pos="100000">
                  <a:schemeClr val="bg1">
                    <a:gamma/>
                    <a:shade val="63529"/>
                    <a:invGamma/>
                  </a:schemeClr>
                </a:gs>
              </a:gsLst>
              <a:lin ang="2700000" scaled="1"/>
            </a:gradFill>
            <a:ln w="9525">
              <a:noFill/>
              <a:miter lim="800000"/>
              <a:headEnd/>
              <a:tailEnd/>
            </a:ln>
            <a:effectLst/>
          </p:spPr>
          <p:txBody>
            <a:bodyPr/>
            <a:lstStyle/>
            <a:p>
              <a:pPr algn="ctr">
                <a:defRPr/>
              </a:pPr>
              <a:endParaRPr lang="el-GR">
                <a:latin typeface="Arial" charset="0"/>
              </a:endParaRPr>
            </a:p>
          </p:txBody>
        </p:sp>
        <p:sp>
          <p:nvSpPr>
            <p:cNvPr id="23" name="Rectangle 21"/>
            <p:cNvSpPr>
              <a:spLocks noChangeArrowheads="1"/>
            </p:cNvSpPr>
            <p:nvPr userDrawn="1"/>
          </p:nvSpPr>
          <p:spPr bwMode="hidden">
            <a:xfrm rot="1732981">
              <a:off x="-165" y="3624"/>
              <a:ext cx="2804" cy="6"/>
            </a:xfrm>
            <a:prstGeom prst="rect">
              <a:avLst/>
            </a:prstGeom>
            <a:gradFill rotWithShape="0">
              <a:gsLst>
                <a:gs pos="0">
                  <a:schemeClr val="bg1"/>
                </a:gs>
                <a:gs pos="100000">
                  <a:schemeClr val="bg1">
                    <a:gamma/>
                    <a:shade val="63529"/>
                    <a:invGamma/>
                  </a:schemeClr>
                </a:gs>
              </a:gsLst>
              <a:lin ang="2700000" scaled="1"/>
            </a:gradFill>
            <a:ln w="9525">
              <a:noFill/>
              <a:miter lim="800000"/>
              <a:headEnd/>
              <a:tailEnd/>
            </a:ln>
            <a:effectLst/>
          </p:spPr>
          <p:txBody>
            <a:bodyPr/>
            <a:lstStyle/>
            <a:p>
              <a:pPr algn="ctr">
                <a:defRPr/>
              </a:pPr>
              <a:endParaRPr lang="el-GR">
                <a:latin typeface="Arial" charset="0"/>
              </a:endParaRPr>
            </a:p>
          </p:txBody>
        </p:sp>
        <p:sp>
          <p:nvSpPr>
            <p:cNvPr id="24" name="Rectangle 22"/>
            <p:cNvSpPr>
              <a:spLocks noChangeArrowheads="1"/>
            </p:cNvSpPr>
            <p:nvPr userDrawn="1"/>
          </p:nvSpPr>
          <p:spPr bwMode="hidden">
            <a:xfrm rot="1969083">
              <a:off x="-110" y="3922"/>
              <a:ext cx="1400" cy="6"/>
            </a:xfrm>
            <a:prstGeom prst="rect">
              <a:avLst/>
            </a:prstGeom>
            <a:gradFill rotWithShape="0">
              <a:gsLst>
                <a:gs pos="0">
                  <a:schemeClr val="bg1"/>
                </a:gs>
                <a:gs pos="100000">
                  <a:schemeClr val="bg1">
                    <a:gamma/>
                    <a:shade val="69804"/>
                    <a:invGamma/>
                  </a:schemeClr>
                </a:gs>
              </a:gsLst>
              <a:lin ang="2700000" scaled="1"/>
            </a:gradFill>
            <a:ln w="9525">
              <a:noFill/>
              <a:miter lim="800000"/>
              <a:headEnd/>
              <a:tailEnd/>
            </a:ln>
            <a:effectLst/>
          </p:spPr>
          <p:txBody>
            <a:bodyPr/>
            <a:lstStyle/>
            <a:p>
              <a:pPr algn="ctr">
                <a:defRPr/>
              </a:pPr>
              <a:endParaRPr lang="el-GR">
                <a:latin typeface="Arial" charset="0"/>
              </a:endParaRPr>
            </a:p>
          </p:txBody>
        </p:sp>
        <p:sp>
          <p:nvSpPr>
            <p:cNvPr id="25" name="Rectangle 23"/>
            <p:cNvSpPr>
              <a:spLocks noChangeArrowheads="1"/>
            </p:cNvSpPr>
            <p:nvPr userDrawn="1"/>
          </p:nvSpPr>
          <p:spPr bwMode="hidden">
            <a:xfrm rot="-20213826">
              <a:off x="-216" y="3221"/>
              <a:ext cx="5477" cy="6"/>
            </a:xfrm>
            <a:prstGeom prst="rect">
              <a:avLst/>
            </a:prstGeom>
            <a:gradFill rotWithShape="0">
              <a:gsLst>
                <a:gs pos="0">
                  <a:schemeClr val="bg1"/>
                </a:gs>
                <a:gs pos="100000">
                  <a:schemeClr val="bg1">
                    <a:gamma/>
                    <a:shade val="48627"/>
                    <a:invGamma/>
                  </a:schemeClr>
                </a:gs>
              </a:gsLst>
              <a:lin ang="2700000" scaled="1"/>
            </a:gradFill>
            <a:ln w="9525">
              <a:noFill/>
              <a:miter lim="800000"/>
              <a:headEnd/>
              <a:tailEnd/>
            </a:ln>
            <a:effectLst/>
          </p:spPr>
          <p:txBody>
            <a:bodyPr/>
            <a:lstStyle/>
            <a:p>
              <a:pPr algn="ctr">
                <a:defRPr/>
              </a:pPr>
              <a:endParaRPr lang="el-GR">
                <a:latin typeface="Arial" charset="0"/>
              </a:endParaRPr>
            </a:p>
          </p:txBody>
        </p:sp>
        <p:sp>
          <p:nvSpPr>
            <p:cNvPr id="26" name="Rectangle 24"/>
            <p:cNvSpPr>
              <a:spLocks noChangeArrowheads="1"/>
            </p:cNvSpPr>
            <p:nvPr userDrawn="1"/>
          </p:nvSpPr>
          <p:spPr bwMode="hidden">
            <a:xfrm rot="22583969">
              <a:off x="-115" y="2129"/>
              <a:ext cx="6016" cy="6"/>
            </a:xfrm>
            <a:prstGeom prst="rect">
              <a:avLst/>
            </a:prstGeom>
            <a:gradFill rotWithShape="0">
              <a:gsLst>
                <a:gs pos="0">
                  <a:schemeClr val="bg1"/>
                </a:gs>
                <a:gs pos="100000">
                  <a:schemeClr val="bg1">
                    <a:gamma/>
                    <a:shade val="57647"/>
                    <a:invGamma/>
                  </a:schemeClr>
                </a:gs>
              </a:gsLst>
              <a:lin ang="0" scaled="1"/>
            </a:gradFill>
            <a:ln w="9525">
              <a:noFill/>
              <a:miter lim="800000"/>
              <a:headEnd/>
              <a:tailEnd/>
            </a:ln>
            <a:effectLst/>
          </p:spPr>
          <p:txBody>
            <a:bodyPr/>
            <a:lstStyle/>
            <a:p>
              <a:pPr algn="ctr">
                <a:defRPr/>
              </a:pPr>
              <a:endParaRPr lang="el-GR">
                <a:latin typeface="Arial" charset="0"/>
              </a:endParaRPr>
            </a:p>
          </p:txBody>
        </p:sp>
        <p:sp>
          <p:nvSpPr>
            <p:cNvPr id="27" name="Rectangle 25"/>
            <p:cNvSpPr>
              <a:spLocks noChangeArrowheads="1"/>
            </p:cNvSpPr>
            <p:nvPr userDrawn="1"/>
          </p:nvSpPr>
          <p:spPr bwMode="hidden">
            <a:xfrm rot="930109" flipV="1">
              <a:off x="80" y="1946"/>
              <a:ext cx="5756"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28" name="Rectangle 26"/>
            <p:cNvSpPr>
              <a:spLocks noChangeArrowheads="1"/>
            </p:cNvSpPr>
            <p:nvPr userDrawn="1"/>
          </p:nvSpPr>
          <p:spPr bwMode="hidden">
            <a:xfrm rot="-20731987">
              <a:off x="374" y="1802"/>
              <a:ext cx="5475"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defRPr/>
              </a:pPr>
              <a:endParaRPr lang="el-GR">
                <a:latin typeface="Arial" charset="0"/>
              </a:endParaRPr>
            </a:p>
          </p:txBody>
        </p:sp>
        <p:sp>
          <p:nvSpPr>
            <p:cNvPr id="29" name="Rectangle 27"/>
            <p:cNvSpPr>
              <a:spLocks noChangeArrowheads="1"/>
            </p:cNvSpPr>
            <p:nvPr userDrawn="1"/>
          </p:nvSpPr>
          <p:spPr bwMode="hidden">
            <a:xfrm rot="-64024402">
              <a:off x="848" y="1582"/>
              <a:ext cx="4976"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defRPr/>
              </a:pPr>
              <a:endParaRPr lang="el-GR">
                <a:latin typeface="Arial" charset="0"/>
              </a:endParaRPr>
            </a:p>
          </p:txBody>
        </p:sp>
        <p:sp>
          <p:nvSpPr>
            <p:cNvPr id="30" name="Rectangle 28"/>
            <p:cNvSpPr>
              <a:spLocks noChangeArrowheads="1"/>
            </p:cNvSpPr>
            <p:nvPr userDrawn="1"/>
          </p:nvSpPr>
          <p:spPr bwMode="hidden">
            <a:xfrm rot="-42464612">
              <a:off x="1053" y="1476"/>
              <a:ext cx="4759"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defRPr/>
              </a:pPr>
              <a:endParaRPr lang="el-GR">
                <a:latin typeface="Arial" charset="0"/>
              </a:endParaRPr>
            </a:p>
          </p:txBody>
        </p:sp>
        <p:sp>
          <p:nvSpPr>
            <p:cNvPr id="31" name="Rectangle 29"/>
            <p:cNvSpPr>
              <a:spLocks noChangeArrowheads="1"/>
            </p:cNvSpPr>
            <p:nvPr userDrawn="1"/>
          </p:nvSpPr>
          <p:spPr bwMode="hidden">
            <a:xfrm rot="-20907336">
              <a:off x="1244" y="1377"/>
              <a:ext cx="4557"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a:lstStyle/>
            <a:p>
              <a:pPr algn="ctr">
                <a:defRPr/>
              </a:pPr>
              <a:endParaRPr lang="el-GR">
                <a:latin typeface="Arial" charset="0"/>
              </a:endParaRPr>
            </a:p>
          </p:txBody>
        </p:sp>
        <p:sp>
          <p:nvSpPr>
            <p:cNvPr id="32" name="Rectangle 30"/>
            <p:cNvSpPr>
              <a:spLocks noChangeArrowheads="1"/>
            </p:cNvSpPr>
            <p:nvPr userDrawn="1"/>
          </p:nvSpPr>
          <p:spPr bwMode="hidden">
            <a:xfrm rot="655690" flipV="1">
              <a:off x="1487" y="1305"/>
              <a:ext cx="4314"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33" name="Rectangle 31"/>
            <p:cNvSpPr>
              <a:spLocks noChangeArrowheads="1"/>
            </p:cNvSpPr>
            <p:nvPr userDrawn="1"/>
          </p:nvSpPr>
          <p:spPr bwMode="hidden">
            <a:xfrm rot="636921" flipV="1">
              <a:off x="1650" y="1218"/>
              <a:ext cx="4154"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34" name="Rectangle 32"/>
            <p:cNvSpPr>
              <a:spLocks noChangeArrowheads="1"/>
            </p:cNvSpPr>
            <p:nvPr userDrawn="1"/>
          </p:nvSpPr>
          <p:spPr bwMode="hidden">
            <a:xfrm rot="803987" flipV="1">
              <a:off x="611" y="1684"/>
              <a:ext cx="5204"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35" name="Rectangle 33"/>
            <p:cNvSpPr>
              <a:spLocks noChangeArrowheads="1"/>
            </p:cNvSpPr>
            <p:nvPr userDrawn="1"/>
          </p:nvSpPr>
          <p:spPr bwMode="hidden">
            <a:xfrm rot="1273217" flipV="1">
              <a:off x="-204" y="2976"/>
              <a:ext cx="6150" cy="6"/>
            </a:xfrm>
            <a:prstGeom prst="rect">
              <a:avLst/>
            </a:prstGeom>
            <a:gradFill rotWithShape="0">
              <a:gsLst>
                <a:gs pos="0">
                  <a:schemeClr val="bg1"/>
                </a:gs>
                <a:gs pos="100000">
                  <a:schemeClr val="bg1">
                    <a:gamma/>
                    <a:shade val="54510"/>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36" name="Rectangle 34"/>
            <p:cNvSpPr>
              <a:spLocks noChangeArrowheads="1"/>
            </p:cNvSpPr>
            <p:nvPr userDrawn="1"/>
          </p:nvSpPr>
          <p:spPr bwMode="hidden">
            <a:xfrm rot="1169729" flipV="1">
              <a:off x="-174" y="2663"/>
              <a:ext cx="6104" cy="6"/>
            </a:xfrm>
            <a:prstGeom prst="rect">
              <a:avLst/>
            </a:prstGeom>
            <a:gradFill rotWithShape="0">
              <a:gsLst>
                <a:gs pos="0">
                  <a:schemeClr val="bg1"/>
                </a:gs>
                <a:gs pos="100000">
                  <a:schemeClr val="bg1">
                    <a:gamma/>
                    <a:shade val="51373"/>
                    <a:invGamma/>
                  </a:schemeClr>
                </a:gs>
              </a:gsLst>
              <a:lin ang="2700000" scaled="1"/>
            </a:gradFill>
            <a:ln w="9525">
              <a:noFill/>
              <a:miter lim="800000"/>
              <a:headEnd/>
              <a:tailEnd/>
            </a:ln>
            <a:effectLst/>
          </p:spPr>
          <p:txBody>
            <a:bodyPr rot="10800000"/>
            <a:lstStyle/>
            <a:p>
              <a:pPr algn="ctr">
                <a:defRPr/>
              </a:pPr>
              <a:endParaRPr lang="el-GR">
                <a:latin typeface="Arial" charset="0"/>
              </a:endParaRPr>
            </a:p>
          </p:txBody>
        </p:sp>
        <p:sp>
          <p:nvSpPr>
            <p:cNvPr id="37" name="Oval 35"/>
            <p:cNvSpPr>
              <a:spLocks noChangeArrowheads="1"/>
            </p:cNvSpPr>
            <p:nvPr/>
          </p:nvSpPr>
          <p:spPr bwMode="hidden">
            <a:xfrm>
              <a:off x="740" y="3359"/>
              <a:ext cx="168" cy="96"/>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38" name="Oval 36"/>
            <p:cNvSpPr>
              <a:spLocks noChangeArrowheads="1"/>
            </p:cNvSpPr>
            <p:nvPr/>
          </p:nvSpPr>
          <p:spPr bwMode="hidden">
            <a:xfrm>
              <a:off x="236" y="3074"/>
              <a:ext cx="168" cy="95"/>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39" name="Oval 37"/>
            <p:cNvSpPr>
              <a:spLocks noChangeArrowheads="1"/>
            </p:cNvSpPr>
            <p:nvPr/>
          </p:nvSpPr>
          <p:spPr bwMode="hidden">
            <a:xfrm>
              <a:off x="159" y="3652"/>
              <a:ext cx="196" cy="106"/>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40" name="Oval 38"/>
            <p:cNvSpPr>
              <a:spLocks noChangeArrowheads="1"/>
            </p:cNvSpPr>
            <p:nvPr/>
          </p:nvSpPr>
          <p:spPr bwMode="hidden">
            <a:xfrm>
              <a:off x="2077" y="2661"/>
              <a:ext cx="156" cy="84"/>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41" name="Oval 39"/>
            <p:cNvSpPr>
              <a:spLocks noChangeArrowheads="1"/>
            </p:cNvSpPr>
            <p:nvPr/>
          </p:nvSpPr>
          <p:spPr bwMode="hidden">
            <a:xfrm>
              <a:off x="1223" y="3076"/>
              <a:ext cx="168" cy="9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42" name="Oval 40"/>
            <p:cNvSpPr>
              <a:spLocks noChangeArrowheads="1"/>
            </p:cNvSpPr>
            <p:nvPr/>
          </p:nvSpPr>
          <p:spPr bwMode="hidden">
            <a:xfrm>
              <a:off x="1686" y="2857"/>
              <a:ext cx="156" cy="9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43" name="Oval 41"/>
            <p:cNvSpPr>
              <a:spLocks noChangeArrowheads="1"/>
            </p:cNvSpPr>
            <p:nvPr/>
          </p:nvSpPr>
          <p:spPr bwMode="hidden">
            <a:xfrm>
              <a:off x="750" y="2839"/>
              <a:ext cx="151" cy="89"/>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44" name="Oval 42"/>
            <p:cNvSpPr>
              <a:spLocks noChangeArrowheads="1"/>
            </p:cNvSpPr>
            <p:nvPr/>
          </p:nvSpPr>
          <p:spPr bwMode="hidden">
            <a:xfrm>
              <a:off x="367" y="2656"/>
              <a:ext cx="150" cy="84"/>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45" name="Oval 43"/>
            <p:cNvSpPr>
              <a:spLocks noChangeArrowheads="1"/>
            </p:cNvSpPr>
            <p:nvPr/>
          </p:nvSpPr>
          <p:spPr bwMode="hidden">
            <a:xfrm>
              <a:off x="1172" y="2642"/>
              <a:ext cx="156" cy="83"/>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46" name="Oval 44"/>
            <p:cNvSpPr>
              <a:spLocks noChangeArrowheads="1"/>
            </p:cNvSpPr>
            <p:nvPr/>
          </p:nvSpPr>
          <p:spPr bwMode="hidden">
            <a:xfrm>
              <a:off x="2401" y="2485"/>
              <a:ext cx="156" cy="83"/>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47" name="Oval 45"/>
            <p:cNvSpPr>
              <a:spLocks noChangeArrowheads="1"/>
            </p:cNvSpPr>
            <p:nvPr/>
          </p:nvSpPr>
          <p:spPr bwMode="hidden">
            <a:xfrm>
              <a:off x="1910" y="2314"/>
              <a:ext cx="134" cy="73"/>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48" name="Oval 46"/>
            <p:cNvSpPr>
              <a:spLocks noChangeArrowheads="1"/>
            </p:cNvSpPr>
            <p:nvPr/>
          </p:nvSpPr>
          <p:spPr bwMode="hidden">
            <a:xfrm>
              <a:off x="2254" y="2154"/>
              <a:ext cx="134"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49" name="Oval 47"/>
            <p:cNvSpPr>
              <a:spLocks noChangeArrowheads="1"/>
            </p:cNvSpPr>
            <p:nvPr/>
          </p:nvSpPr>
          <p:spPr bwMode="hidden">
            <a:xfrm>
              <a:off x="2742" y="2305"/>
              <a:ext cx="140" cy="72"/>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50" name="Oval 48"/>
            <p:cNvSpPr>
              <a:spLocks noChangeArrowheads="1"/>
            </p:cNvSpPr>
            <p:nvPr/>
          </p:nvSpPr>
          <p:spPr bwMode="hidden">
            <a:xfrm>
              <a:off x="2812" y="1898"/>
              <a:ext cx="129"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51" name="Oval 49"/>
            <p:cNvSpPr>
              <a:spLocks noChangeArrowheads="1"/>
            </p:cNvSpPr>
            <p:nvPr/>
          </p:nvSpPr>
          <p:spPr bwMode="hidden">
            <a:xfrm>
              <a:off x="3721" y="1792"/>
              <a:ext cx="128"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52" name="Oval 50"/>
            <p:cNvSpPr>
              <a:spLocks noChangeArrowheads="1"/>
            </p:cNvSpPr>
            <p:nvPr/>
          </p:nvSpPr>
          <p:spPr bwMode="hidden">
            <a:xfrm>
              <a:off x="3528" y="1896"/>
              <a:ext cx="128"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53" name="Oval 51"/>
            <p:cNvSpPr>
              <a:spLocks noChangeArrowheads="1"/>
            </p:cNvSpPr>
            <p:nvPr/>
          </p:nvSpPr>
          <p:spPr bwMode="hidden">
            <a:xfrm>
              <a:off x="3064" y="1778"/>
              <a:ext cx="128" cy="62"/>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54" name="Oval 52"/>
            <p:cNvSpPr>
              <a:spLocks noChangeArrowheads="1"/>
            </p:cNvSpPr>
            <p:nvPr/>
          </p:nvSpPr>
          <p:spPr bwMode="hidden">
            <a:xfrm>
              <a:off x="3277" y="2024"/>
              <a:ext cx="134" cy="73"/>
            </a:xfrm>
            <a:prstGeom prst="ellipse">
              <a:avLst/>
            </a:prstGeom>
            <a:gradFill rotWithShape="0">
              <a:gsLst>
                <a:gs pos="0">
                  <a:schemeClr val="bg1"/>
                </a:gs>
                <a:gs pos="100000">
                  <a:schemeClr val="bg1">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55" name="Oval 53"/>
            <p:cNvSpPr>
              <a:spLocks noChangeArrowheads="1"/>
            </p:cNvSpPr>
            <p:nvPr/>
          </p:nvSpPr>
          <p:spPr bwMode="hidden">
            <a:xfrm>
              <a:off x="3027" y="2160"/>
              <a:ext cx="133" cy="61"/>
            </a:xfrm>
            <a:prstGeom prst="ellipse">
              <a:avLst/>
            </a:prstGeom>
            <a:gradFill rotWithShape="0">
              <a:gsLst>
                <a:gs pos="0">
                  <a:schemeClr val="bg1"/>
                </a:gs>
                <a:gs pos="100000">
                  <a:schemeClr val="bg1">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56" name="Oval 54"/>
            <p:cNvSpPr>
              <a:spLocks noChangeArrowheads="1"/>
            </p:cNvSpPr>
            <p:nvPr/>
          </p:nvSpPr>
          <p:spPr bwMode="hidden">
            <a:xfrm>
              <a:off x="1569" y="2453"/>
              <a:ext cx="150" cy="90"/>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57" name="Oval 55"/>
            <p:cNvSpPr>
              <a:spLocks noChangeArrowheads="1"/>
            </p:cNvSpPr>
            <p:nvPr/>
          </p:nvSpPr>
          <p:spPr bwMode="hidden">
            <a:xfrm>
              <a:off x="1863" y="2028"/>
              <a:ext cx="139" cy="6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58" name="Oval 56"/>
            <p:cNvSpPr>
              <a:spLocks noChangeArrowheads="1"/>
            </p:cNvSpPr>
            <p:nvPr/>
          </p:nvSpPr>
          <p:spPr bwMode="hidden">
            <a:xfrm>
              <a:off x="1513" y="2175"/>
              <a:ext cx="139" cy="6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59" name="Oval 57"/>
            <p:cNvSpPr>
              <a:spLocks noChangeArrowheads="1"/>
            </p:cNvSpPr>
            <p:nvPr/>
          </p:nvSpPr>
          <p:spPr bwMode="hidden">
            <a:xfrm>
              <a:off x="1191" y="2311"/>
              <a:ext cx="134" cy="72"/>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60" name="Oval 58"/>
            <p:cNvSpPr>
              <a:spLocks noChangeArrowheads="1"/>
            </p:cNvSpPr>
            <p:nvPr/>
          </p:nvSpPr>
          <p:spPr bwMode="hidden">
            <a:xfrm>
              <a:off x="1154" y="2047"/>
              <a:ext cx="134"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61" name="Oval 59"/>
            <p:cNvSpPr>
              <a:spLocks noChangeArrowheads="1"/>
            </p:cNvSpPr>
            <p:nvPr/>
          </p:nvSpPr>
          <p:spPr bwMode="hidden">
            <a:xfrm>
              <a:off x="1142" y="1803"/>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62" name="Oval 60"/>
            <p:cNvSpPr>
              <a:spLocks noChangeArrowheads="1"/>
            </p:cNvSpPr>
            <p:nvPr/>
          </p:nvSpPr>
          <p:spPr bwMode="hidden">
            <a:xfrm>
              <a:off x="1500" y="1912"/>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63" name="Oval 61"/>
            <p:cNvSpPr>
              <a:spLocks noChangeArrowheads="1"/>
            </p:cNvSpPr>
            <p:nvPr/>
          </p:nvSpPr>
          <p:spPr bwMode="hidden">
            <a:xfrm>
              <a:off x="1804" y="1801"/>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64" name="Oval 62"/>
            <p:cNvSpPr>
              <a:spLocks noChangeArrowheads="1"/>
            </p:cNvSpPr>
            <p:nvPr/>
          </p:nvSpPr>
          <p:spPr bwMode="hidden">
            <a:xfrm>
              <a:off x="2159" y="1905"/>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65" name="Oval 63"/>
            <p:cNvSpPr>
              <a:spLocks noChangeArrowheads="1"/>
            </p:cNvSpPr>
            <p:nvPr/>
          </p:nvSpPr>
          <p:spPr bwMode="hidden">
            <a:xfrm>
              <a:off x="2432" y="1787"/>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66" name="Oval 64"/>
            <p:cNvSpPr>
              <a:spLocks noChangeArrowheads="1"/>
            </p:cNvSpPr>
            <p:nvPr/>
          </p:nvSpPr>
          <p:spPr bwMode="hidden">
            <a:xfrm>
              <a:off x="470" y="2032"/>
              <a:ext cx="134" cy="73"/>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67" name="Oval 65"/>
            <p:cNvSpPr>
              <a:spLocks noChangeArrowheads="1"/>
            </p:cNvSpPr>
            <p:nvPr/>
          </p:nvSpPr>
          <p:spPr bwMode="hidden">
            <a:xfrm>
              <a:off x="68" y="2166"/>
              <a:ext cx="134" cy="73"/>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68" name="Oval 66"/>
            <p:cNvSpPr>
              <a:spLocks noChangeArrowheads="1"/>
            </p:cNvSpPr>
            <p:nvPr/>
          </p:nvSpPr>
          <p:spPr bwMode="hidden">
            <a:xfrm>
              <a:off x="798" y="1916"/>
              <a:ext cx="128" cy="6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69" name="Oval 67"/>
            <p:cNvSpPr>
              <a:spLocks noChangeArrowheads="1"/>
            </p:cNvSpPr>
            <p:nvPr/>
          </p:nvSpPr>
          <p:spPr bwMode="hidden">
            <a:xfrm>
              <a:off x="455" y="1797"/>
              <a:ext cx="128" cy="6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70" name="Oval 68"/>
            <p:cNvSpPr>
              <a:spLocks noChangeArrowheads="1"/>
            </p:cNvSpPr>
            <p:nvPr/>
          </p:nvSpPr>
          <p:spPr bwMode="hidden">
            <a:xfrm>
              <a:off x="113" y="1901"/>
              <a:ext cx="128" cy="6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71" name="Oval 69"/>
            <p:cNvSpPr>
              <a:spLocks noChangeArrowheads="1"/>
            </p:cNvSpPr>
            <p:nvPr/>
          </p:nvSpPr>
          <p:spPr bwMode="hidden">
            <a:xfrm>
              <a:off x="432" y="2323"/>
              <a:ext cx="139"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72" name="Oval 70"/>
            <p:cNvSpPr>
              <a:spLocks noChangeArrowheads="1"/>
            </p:cNvSpPr>
            <p:nvPr/>
          </p:nvSpPr>
          <p:spPr bwMode="hidden">
            <a:xfrm>
              <a:off x="814" y="2178"/>
              <a:ext cx="134"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73" name="Oval 71"/>
            <p:cNvSpPr>
              <a:spLocks noChangeArrowheads="1"/>
            </p:cNvSpPr>
            <p:nvPr/>
          </p:nvSpPr>
          <p:spPr bwMode="hidden">
            <a:xfrm>
              <a:off x="789" y="2472"/>
              <a:ext cx="156" cy="89"/>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74" name="Oval 72"/>
            <p:cNvSpPr>
              <a:spLocks noChangeArrowheads="1"/>
            </p:cNvSpPr>
            <p:nvPr/>
          </p:nvSpPr>
          <p:spPr bwMode="hidden">
            <a:xfrm>
              <a:off x="2544" y="2015"/>
              <a:ext cx="140" cy="72"/>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75" name="Oval 73"/>
            <p:cNvSpPr>
              <a:spLocks noChangeArrowheads="1"/>
            </p:cNvSpPr>
            <p:nvPr/>
          </p:nvSpPr>
          <p:spPr bwMode="hidden">
            <a:xfrm>
              <a:off x="1457" y="1700"/>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76" name="Oval 74"/>
            <p:cNvSpPr>
              <a:spLocks noChangeArrowheads="1"/>
            </p:cNvSpPr>
            <p:nvPr/>
          </p:nvSpPr>
          <p:spPr bwMode="hidden">
            <a:xfrm>
              <a:off x="1747" y="1599"/>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77" name="Oval 75"/>
            <p:cNvSpPr>
              <a:spLocks noChangeArrowheads="1"/>
            </p:cNvSpPr>
            <p:nvPr/>
          </p:nvSpPr>
          <p:spPr bwMode="hidden">
            <a:xfrm>
              <a:off x="1385" y="150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78" name="Oval 76"/>
            <p:cNvSpPr>
              <a:spLocks noChangeArrowheads="1"/>
            </p:cNvSpPr>
            <p:nvPr/>
          </p:nvSpPr>
          <p:spPr bwMode="hidden">
            <a:xfrm>
              <a:off x="1093" y="1595"/>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79" name="Oval 77"/>
            <p:cNvSpPr>
              <a:spLocks noChangeArrowheads="1"/>
            </p:cNvSpPr>
            <p:nvPr/>
          </p:nvSpPr>
          <p:spPr bwMode="hidden">
            <a:xfrm>
              <a:off x="792" y="1690"/>
              <a:ext cx="124"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80" name="Oval 78"/>
            <p:cNvSpPr>
              <a:spLocks noChangeArrowheads="1"/>
            </p:cNvSpPr>
            <p:nvPr/>
          </p:nvSpPr>
          <p:spPr bwMode="hidden">
            <a:xfrm>
              <a:off x="2011" y="1512"/>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81" name="Oval 79"/>
            <p:cNvSpPr>
              <a:spLocks noChangeArrowheads="1"/>
            </p:cNvSpPr>
            <p:nvPr/>
          </p:nvSpPr>
          <p:spPr bwMode="hidden">
            <a:xfrm>
              <a:off x="2087" y="169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82" name="Oval 80"/>
            <p:cNvSpPr>
              <a:spLocks noChangeArrowheads="1"/>
            </p:cNvSpPr>
            <p:nvPr/>
          </p:nvSpPr>
          <p:spPr bwMode="hidden">
            <a:xfrm>
              <a:off x="2345" y="1601"/>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83" name="Oval 81"/>
            <p:cNvSpPr>
              <a:spLocks noChangeArrowheads="1"/>
            </p:cNvSpPr>
            <p:nvPr/>
          </p:nvSpPr>
          <p:spPr bwMode="hidden">
            <a:xfrm>
              <a:off x="2684" y="1686"/>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84" name="Oval 82"/>
            <p:cNvSpPr>
              <a:spLocks noChangeArrowheads="1"/>
            </p:cNvSpPr>
            <p:nvPr/>
          </p:nvSpPr>
          <p:spPr bwMode="hidden">
            <a:xfrm>
              <a:off x="806" y="1512"/>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85" name="Oval 83"/>
            <p:cNvSpPr>
              <a:spLocks noChangeArrowheads="1"/>
            </p:cNvSpPr>
            <p:nvPr/>
          </p:nvSpPr>
          <p:spPr bwMode="hidden">
            <a:xfrm>
              <a:off x="495" y="1597"/>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86" name="Oval 84"/>
            <p:cNvSpPr>
              <a:spLocks noChangeArrowheads="1"/>
            </p:cNvSpPr>
            <p:nvPr/>
          </p:nvSpPr>
          <p:spPr bwMode="hidden">
            <a:xfrm>
              <a:off x="228" y="1508"/>
              <a:ext cx="123" cy="50"/>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87" name="Oval 85"/>
            <p:cNvSpPr>
              <a:spLocks noChangeArrowheads="1"/>
            </p:cNvSpPr>
            <p:nvPr/>
          </p:nvSpPr>
          <p:spPr bwMode="hidden">
            <a:xfrm>
              <a:off x="157" y="1698"/>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88" name="Oval 86"/>
            <p:cNvSpPr>
              <a:spLocks noChangeArrowheads="1"/>
            </p:cNvSpPr>
            <p:nvPr/>
          </p:nvSpPr>
          <p:spPr bwMode="hidden">
            <a:xfrm>
              <a:off x="2887" y="1595"/>
              <a:ext cx="124" cy="50"/>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89" name="Oval 87"/>
            <p:cNvSpPr>
              <a:spLocks noChangeArrowheads="1"/>
            </p:cNvSpPr>
            <p:nvPr/>
          </p:nvSpPr>
          <p:spPr bwMode="hidden">
            <a:xfrm>
              <a:off x="3079" y="1511"/>
              <a:ext cx="124"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90" name="Oval 88"/>
            <p:cNvSpPr>
              <a:spLocks noChangeArrowheads="1"/>
            </p:cNvSpPr>
            <p:nvPr/>
          </p:nvSpPr>
          <p:spPr bwMode="hidden">
            <a:xfrm>
              <a:off x="3270" y="1688"/>
              <a:ext cx="124"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91" name="Oval 89"/>
            <p:cNvSpPr>
              <a:spLocks noChangeArrowheads="1"/>
            </p:cNvSpPr>
            <p:nvPr/>
          </p:nvSpPr>
          <p:spPr bwMode="hidden">
            <a:xfrm>
              <a:off x="3453" y="1599"/>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92" name="Oval 90"/>
            <p:cNvSpPr>
              <a:spLocks noChangeArrowheads="1"/>
            </p:cNvSpPr>
            <p:nvPr/>
          </p:nvSpPr>
          <p:spPr bwMode="hidden">
            <a:xfrm>
              <a:off x="3651" y="150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93" name="Oval 91"/>
            <p:cNvSpPr>
              <a:spLocks noChangeArrowheads="1"/>
            </p:cNvSpPr>
            <p:nvPr/>
          </p:nvSpPr>
          <p:spPr bwMode="hidden">
            <a:xfrm>
              <a:off x="4251" y="1513"/>
              <a:ext cx="124"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94" name="Oval 92"/>
            <p:cNvSpPr>
              <a:spLocks noChangeArrowheads="1"/>
            </p:cNvSpPr>
            <p:nvPr/>
          </p:nvSpPr>
          <p:spPr bwMode="hidden">
            <a:xfrm>
              <a:off x="3901" y="1701"/>
              <a:ext cx="128" cy="5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95" name="Oval 93"/>
            <p:cNvSpPr>
              <a:spLocks noChangeArrowheads="1"/>
            </p:cNvSpPr>
            <p:nvPr/>
          </p:nvSpPr>
          <p:spPr bwMode="hidden">
            <a:xfrm>
              <a:off x="4086" y="1608"/>
              <a:ext cx="128" cy="5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96" name="Oval 94"/>
            <p:cNvSpPr>
              <a:spLocks noChangeArrowheads="1"/>
            </p:cNvSpPr>
            <p:nvPr/>
          </p:nvSpPr>
          <p:spPr bwMode="hidden">
            <a:xfrm>
              <a:off x="1282" y="3653"/>
              <a:ext cx="196" cy="11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97" name="Oval 95"/>
            <p:cNvSpPr>
              <a:spLocks noChangeArrowheads="1"/>
            </p:cNvSpPr>
            <p:nvPr/>
          </p:nvSpPr>
          <p:spPr bwMode="hidden">
            <a:xfrm>
              <a:off x="707" y="4014"/>
              <a:ext cx="191" cy="112"/>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98" name="Oval 96"/>
            <p:cNvSpPr>
              <a:spLocks noChangeArrowheads="1"/>
            </p:cNvSpPr>
            <p:nvPr/>
          </p:nvSpPr>
          <p:spPr bwMode="hidden">
            <a:xfrm>
              <a:off x="2229" y="3090"/>
              <a:ext cx="168" cy="95"/>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99" name="Oval 97"/>
            <p:cNvSpPr>
              <a:spLocks noChangeArrowheads="1"/>
            </p:cNvSpPr>
            <p:nvPr/>
          </p:nvSpPr>
          <p:spPr bwMode="hidden">
            <a:xfrm>
              <a:off x="2604" y="2867"/>
              <a:ext cx="156" cy="89"/>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0" name="Oval 98"/>
            <p:cNvSpPr>
              <a:spLocks noChangeArrowheads="1"/>
            </p:cNvSpPr>
            <p:nvPr/>
          </p:nvSpPr>
          <p:spPr bwMode="hidden">
            <a:xfrm>
              <a:off x="2907" y="2668"/>
              <a:ext cx="156" cy="84"/>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1" name="Oval 99"/>
            <p:cNvSpPr>
              <a:spLocks noChangeArrowheads="1"/>
            </p:cNvSpPr>
            <p:nvPr/>
          </p:nvSpPr>
          <p:spPr bwMode="hidden">
            <a:xfrm>
              <a:off x="3248" y="2454"/>
              <a:ext cx="150" cy="90"/>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 name="Oval 100"/>
            <p:cNvSpPr>
              <a:spLocks noChangeArrowheads="1"/>
            </p:cNvSpPr>
            <p:nvPr/>
          </p:nvSpPr>
          <p:spPr bwMode="hidden">
            <a:xfrm>
              <a:off x="1801" y="3360"/>
              <a:ext cx="168" cy="95"/>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 name="Oval 101"/>
            <p:cNvSpPr>
              <a:spLocks noChangeArrowheads="1"/>
            </p:cNvSpPr>
            <p:nvPr/>
          </p:nvSpPr>
          <p:spPr bwMode="hidden">
            <a:xfrm>
              <a:off x="3512" y="2302"/>
              <a:ext cx="134" cy="73"/>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 name="Oval 102"/>
            <p:cNvSpPr>
              <a:spLocks noChangeArrowheads="1"/>
            </p:cNvSpPr>
            <p:nvPr/>
          </p:nvSpPr>
          <p:spPr bwMode="hidden">
            <a:xfrm>
              <a:off x="3980" y="2014"/>
              <a:ext cx="134" cy="72"/>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5" name="Oval 103"/>
            <p:cNvSpPr>
              <a:spLocks noChangeArrowheads="1"/>
            </p:cNvSpPr>
            <p:nvPr/>
          </p:nvSpPr>
          <p:spPr bwMode="hidden">
            <a:xfrm>
              <a:off x="3753" y="2158"/>
              <a:ext cx="134" cy="6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6" name="Oval 104"/>
            <p:cNvSpPr>
              <a:spLocks noChangeArrowheads="1"/>
            </p:cNvSpPr>
            <p:nvPr/>
          </p:nvSpPr>
          <p:spPr bwMode="hidden">
            <a:xfrm>
              <a:off x="4176" y="1898"/>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7" name="Oval 105"/>
            <p:cNvSpPr>
              <a:spLocks noChangeArrowheads="1"/>
            </p:cNvSpPr>
            <p:nvPr/>
          </p:nvSpPr>
          <p:spPr bwMode="hidden">
            <a:xfrm>
              <a:off x="4338" y="1797"/>
              <a:ext cx="129"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8" name="Oval 106"/>
            <p:cNvSpPr>
              <a:spLocks noChangeArrowheads="1"/>
            </p:cNvSpPr>
            <p:nvPr/>
          </p:nvSpPr>
          <p:spPr bwMode="hidden">
            <a:xfrm>
              <a:off x="4505" y="1700"/>
              <a:ext cx="124"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9" name="Oval 107"/>
            <p:cNvSpPr>
              <a:spLocks noChangeArrowheads="1"/>
            </p:cNvSpPr>
            <p:nvPr/>
          </p:nvSpPr>
          <p:spPr bwMode="hidden">
            <a:xfrm>
              <a:off x="4661" y="1603"/>
              <a:ext cx="123" cy="50"/>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10" name="Oval 108"/>
            <p:cNvSpPr>
              <a:spLocks noChangeArrowheads="1"/>
            </p:cNvSpPr>
            <p:nvPr/>
          </p:nvSpPr>
          <p:spPr bwMode="hidden">
            <a:xfrm>
              <a:off x="4803" y="1512"/>
              <a:ext cx="128" cy="5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11" name="Oval 109"/>
            <p:cNvSpPr>
              <a:spLocks noChangeArrowheads="1"/>
            </p:cNvSpPr>
            <p:nvPr/>
          </p:nvSpPr>
          <p:spPr bwMode="hidden">
            <a:xfrm>
              <a:off x="4930" y="1431"/>
              <a:ext cx="111" cy="50"/>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12" name="Oval 110"/>
            <p:cNvSpPr>
              <a:spLocks noChangeArrowheads="1"/>
            </p:cNvSpPr>
            <p:nvPr/>
          </p:nvSpPr>
          <p:spPr bwMode="hidden">
            <a:xfrm>
              <a:off x="3835" y="1430"/>
              <a:ext cx="112" cy="50"/>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13" name="Oval 111"/>
            <p:cNvSpPr>
              <a:spLocks noChangeArrowheads="1"/>
            </p:cNvSpPr>
            <p:nvPr/>
          </p:nvSpPr>
          <p:spPr bwMode="hidden">
            <a:xfrm>
              <a:off x="3286" y="1430"/>
              <a:ext cx="112" cy="50"/>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14" name="Oval 112"/>
            <p:cNvSpPr>
              <a:spLocks noChangeArrowheads="1"/>
            </p:cNvSpPr>
            <p:nvPr/>
          </p:nvSpPr>
          <p:spPr bwMode="hidden">
            <a:xfrm>
              <a:off x="2972" y="1366"/>
              <a:ext cx="111" cy="5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15" name="Oval 113"/>
            <p:cNvSpPr>
              <a:spLocks noChangeArrowheads="1"/>
            </p:cNvSpPr>
            <p:nvPr/>
          </p:nvSpPr>
          <p:spPr bwMode="hidden">
            <a:xfrm>
              <a:off x="3152" y="1292"/>
              <a:ext cx="112" cy="50"/>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16" name="Oval 114"/>
            <p:cNvSpPr>
              <a:spLocks noChangeArrowheads="1"/>
            </p:cNvSpPr>
            <p:nvPr/>
          </p:nvSpPr>
          <p:spPr bwMode="hidden">
            <a:xfrm>
              <a:off x="3020" y="1170"/>
              <a:ext cx="112"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17" name="Oval 115"/>
            <p:cNvSpPr>
              <a:spLocks noChangeArrowheads="1"/>
            </p:cNvSpPr>
            <p:nvPr/>
          </p:nvSpPr>
          <p:spPr bwMode="hidden">
            <a:xfrm>
              <a:off x="2443" y="1368"/>
              <a:ext cx="112"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18" name="Oval 116"/>
            <p:cNvSpPr>
              <a:spLocks noChangeArrowheads="1"/>
            </p:cNvSpPr>
            <p:nvPr/>
          </p:nvSpPr>
          <p:spPr bwMode="hidden">
            <a:xfrm>
              <a:off x="2301" y="1220"/>
              <a:ext cx="112"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19" name="Oval 117"/>
            <p:cNvSpPr>
              <a:spLocks noChangeArrowheads="1"/>
            </p:cNvSpPr>
            <p:nvPr/>
          </p:nvSpPr>
          <p:spPr bwMode="hidden">
            <a:xfrm>
              <a:off x="2095" y="1284"/>
              <a:ext cx="112"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20" name="Oval 118"/>
            <p:cNvSpPr>
              <a:spLocks noChangeArrowheads="1"/>
            </p:cNvSpPr>
            <p:nvPr/>
          </p:nvSpPr>
          <p:spPr bwMode="hidden">
            <a:xfrm>
              <a:off x="2228" y="1442"/>
              <a:ext cx="111"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21" name="Oval 119"/>
            <p:cNvSpPr>
              <a:spLocks noChangeArrowheads="1"/>
            </p:cNvSpPr>
            <p:nvPr/>
          </p:nvSpPr>
          <p:spPr bwMode="hidden">
            <a:xfrm>
              <a:off x="1109" y="1424"/>
              <a:ext cx="112"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22" name="Oval 120"/>
            <p:cNvSpPr>
              <a:spLocks noChangeArrowheads="1"/>
            </p:cNvSpPr>
            <p:nvPr/>
          </p:nvSpPr>
          <p:spPr bwMode="hidden">
            <a:xfrm>
              <a:off x="611" y="1284"/>
              <a:ext cx="111" cy="51"/>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23" name="Oval 121"/>
            <p:cNvSpPr>
              <a:spLocks noChangeArrowheads="1"/>
            </p:cNvSpPr>
            <p:nvPr/>
          </p:nvSpPr>
          <p:spPr bwMode="hidden">
            <a:xfrm>
              <a:off x="305" y="1358"/>
              <a:ext cx="111" cy="51"/>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24" name="Oval 122"/>
            <p:cNvSpPr>
              <a:spLocks noChangeArrowheads="1"/>
            </p:cNvSpPr>
            <p:nvPr/>
          </p:nvSpPr>
          <p:spPr bwMode="hidden">
            <a:xfrm>
              <a:off x="156" y="1154"/>
              <a:ext cx="112" cy="50"/>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25" name="Oval 123"/>
            <p:cNvSpPr>
              <a:spLocks noChangeArrowheads="1"/>
            </p:cNvSpPr>
            <p:nvPr/>
          </p:nvSpPr>
          <p:spPr bwMode="hidden">
            <a:xfrm>
              <a:off x="4538" y="1365"/>
              <a:ext cx="106" cy="4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26" name="Oval 124"/>
            <p:cNvSpPr>
              <a:spLocks noChangeArrowheads="1"/>
            </p:cNvSpPr>
            <p:nvPr/>
          </p:nvSpPr>
          <p:spPr bwMode="hidden">
            <a:xfrm>
              <a:off x="4407" y="1440"/>
              <a:ext cx="105" cy="44"/>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27" name="Oval 125"/>
            <p:cNvSpPr>
              <a:spLocks noChangeArrowheads="1"/>
            </p:cNvSpPr>
            <p:nvPr/>
          </p:nvSpPr>
          <p:spPr bwMode="hidden">
            <a:xfrm>
              <a:off x="3992" y="1356"/>
              <a:ext cx="106" cy="4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28" name="Oval 126"/>
            <p:cNvSpPr>
              <a:spLocks noChangeArrowheads="1"/>
            </p:cNvSpPr>
            <p:nvPr/>
          </p:nvSpPr>
          <p:spPr bwMode="hidden">
            <a:xfrm>
              <a:off x="3466" y="1356"/>
              <a:ext cx="106" cy="45"/>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29" name="Oval 127"/>
            <p:cNvSpPr>
              <a:spLocks noChangeArrowheads="1"/>
            </p:cNvSpPr>
            <p:nvPr/>
          </p:nvSpPr>
          <p:spPr bwMode="hidden">
            <a:xfrm>
              <a:off x="2852" y="1228"/>
              <a:ext cx="106" cy="44"/>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30" name="Oval 128"/>
            <p:cNvSpPr>
              <a:spLocks noChangeArrowheads="1"/>
            </p:cNvSpPr>
            <p:nvPr/>
          </p:nvSpPr>
          <p:spPr bwMode="hidden">
            <a:xfrm>
              <a:off x="2678" y="1109"/>
              <a:ext cx="106" cy="44"/>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31" name="Oval 129"/>
            <p:cNvSpPr>
              <a:spLocks noChangeArrowheads="1"/>
            </p:cNvSpPr>
            <p:nvPr/>
          </p:nvSpPr>
          <p:spPr bwMode="hidden">
            <a:xfrm>
              <a:off x="2859" y="1045"/>
              <a:ext cx="106"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32" name="Oval 130"/>
            <p:cNvSpPr>
              <a:spLocks noChangeArrowheads="1"/>
            </p:cNvSpPr>
            <p:nvPr/>
          </p:nvSpPr>
          <p:spPr bwMode="hidden">
            <a:xfrm>
              <a:off x="1942" y="104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33" name="Oval 131"/>
            <p:cNvSpPr>
              <a:spLocks noChangeArrowheads="1"/>
            </p:cNvSpPr>
            <p:nvPr/>
          </p:nvSpPr>
          <p:spPr bwMode="hidden">
            <a:xfrm>
              <a:off x="1088" y="1277"/>
              <a:ext cx="106"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34" name="Oval 132"/>
            <p:cNvSpPr>
              <a:spLocks noChangeArrowheads="1"/>
            </p:cNvSpPr>
            <p:nvPr/>
          </p:nvSpPr>
          <p:spPr bwMode="hidden">
            <a:xfrm>
              <a:off x="827" y="135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35" name="Oval 133"/>
            <p:cNvSpPr>
              <a:spLocks noChangeArrowheads="1"/>
            </p:cNvSpPr>
            <p:nvPr/>
          </p:nvSpPr>
          <p:spPr bwMode="hidden">
            <a:xfrm>
              <a:off x="537" y="1428"/>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36" name="Oval 134"/>
            <p:cNvSpPr>
              <a:spLocks noChangeArrowheads="1"/>
            </p:cNvSpPr>
            <p:nvPr/>
          </p:nvSpPr>
          <p:spPr bwMode="hidden">
            <a:xfrm>
              <a:off x="635" y="106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37" name="Oval 135"/>
            <p:cNvSpPr>
              <a:spLocks noChangeArrowheads="1"/>
            </p:cNvSpPr>
            <p:nvPr/>
          </p:nvSpPr>
          <p:spPr bwMode="hidden">
            <a:xfrm>
              <a:off x="1540" y="105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38" name="Oval 136"/>
            <p:cNvSpPr>
              <a:spLocks noChangeArrowheads="1"/>
            </p:cNvSpPr>
            <p:nvPr/>
          </p:nvSpPr>
          <p:spPr bwMode="hidden">
            <a:xfrm>
              <a:off x="1120" y="1063"/>
              <a:ext cx="105"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39" name="Oval 137"/>
            <p:cNvSpPr>
              <a:spLocks noChangeArrowheads="1"/>
            </p:cNvSpPr>
            <p:nvPr/>
          </p:nvSpPr>
          <p:spPr bwMode="hidden">
            <a:xfrm>
              <a:off x="4131" y="1284"/>
              <a:ext cx="111" cy="45"/>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40" name="Oval 138"/>
            <p:cNvSpPr>
              <a:spLocks noChangeArrowheads="1"/>
            </p:cNvSpPr>
            <p:nvPr/>
          </p:nvSpPr>
          <p:spPr bwMode="hidden">
            <a:xfrm>
              <a:off x="3477" y="1163"/>
              <a:ext cx="112" cy="45"/>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41" name="Oval 139"/>
            <p:cNvSpPr>
              <a:spLocks noChangeArrowheads="1"/>
            </p:cNvSpPr>
            <p:nvPr/>
          </p:nvSpPr>
          <p:spPr bwMode="hidden">
            <a:xfrm>
              <a:off x="3315" y="1229"/>
              <a:ext cx="112" cy="45"/>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42" name="Oval 140"/>
            <p:cNvSpPr>
              <a:spLocks noChangeArrowheads="1"/>
            </p:cNvSpPr>
            <p:nvPr/>
          </p:nvSpPr>
          <p:spPr bwMode="hidden">
            <a:xfrm>
              <a:off x="3174" y="1112"/>
              <a:ext cx="112" cy="44"/>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43" name="Oval 141"/>
            <p:cNvSpPr>
              <a:spLocks noChangeArrowheads="1"/>
            </p:cNvSpPr>
            <p:nvPr/>
          </p:nvSpPr>
          <p:spPr bwMode="hidden">
            <a:xfrm>
              <a:off x="2396" y="1051"/>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44" name="Oval 142"/>
            <p:cNvSpPr>
              <a:spLocks noChangeArrowheads="1"/>
            </p:cNvSpPr>
            <p:nvPr/>
          </p:nvSpPr>
          <p:spPr bwMode="hidden">
            <a:xfrm>
              <a:off x="2769" y="1446"/>
              <a:ext cx="111" cy="44"/>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45" name="Oval 143"/>
            <p:cNvSpPr>
              <a:spLocks noChangeArrowheads="1"/>
            </p:cNvSpPr>
            <p:nvPr/>
          </p:nvSpPr>
          <p:spPr bwMode="hidden">
            <a:xfrm>
              <a:off x="2656" y="1294"/>
              <a:ext cx="112" cy="45"/>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46" name="Oval 144"/>
            <p:cNvSpPr>
              <a:spLocks noChangeArrowheads="1"/>
            </p:cNvSpPr>
            <p:nvPr/>
          </p:nvSpPr>
          <p:spPr bwMode="hidden">
            <a:xfrm>
              <a:off x="2501" y="1159"/>
              <a:ext cx="111"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47" name="Oval 145"/>
            <p:cNvSpPr>
              <a:spLocks noChangeArrowheads="1"/>
            </p:cNvSpPr>
            <p:nvPr/>
          </p:nvSpPr>
          <p:spPr bwMode="hidden">
            <a:xfrm>
              <a:off x="2222" y="1101"/>
              <a:ext cx="112" cy="44"/>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48" name="Oval 146"/>
            <p:cNvSpPr>
              <a:spLocks noChangeArrowheads="1"/>
            </p:cNvSpPr>
            <p:nvPr/>
          </p:nvSpPr>
          <p:spPr bwMode="hidden">
            <a:xfrm>
              <a:off x="2029" y="1162"/>
              <a:ext cx="111"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49" name="Oval 147"/>
            <p:cNvSpPr>
              <a:spLocks noChangeArrowheads="1"/>
            </p:cNvSpPr>
            <p:nvPr/>
          </p:nvSpPr>
          <p:spPr bwMode="hidden">
            <a:xfrm>
              <a:off x="1875" y="1356"/>
              <a:ext cx="112"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50" name="Oval 148"/>
            <p:cNvSpPr>
              <a:spLocks noChangeArrowheads="1"/>
            </p:cNvSpPr>
            <p:nvPr/>
          </p:nvSpPr>
          <p:spPr bwMode="hidden">
            <a:xfrm>
              <a:off x="1809" y="1223"/>
              <a:ext cx="111"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51" name="Oval 149"/>
            <p:cNvSpPr>
              <a:spLocks noChangeArrowheads="1"/>
            </p:cNvSpPr>
            <p:nvPr/>
          </p:nvSpPr>
          <p:spPr bwMode="hidden">
            <a:xfrm>
              <a:off x="1738" y="1098"/>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52" name="Oval 150"/>
            <p:cNvSpPr>
              <a:spLocks noChangeArrowheads="1"/>
            </p:cNvSpPr>
            <p:nvPr/>
          </p:nvSpPr>
          <p:spPr bwMode="hidden">
            <a:xfrm>
              <a:off x="1583" y="1289"/>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53" name="Oval 151"/>
            <p:cNvSpPr>
              <a:spLocks noChangeArrowheads="1"/>
            </p:cNvSpPr>
            <p:nvPr/>
          </p:nvSpPr>
          <p:spPr bwMode="hidden">
            <a:xfrm>
              <a:off x="1379" y="1343"/>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54" name="Oval 152"/>
            <p:cNvSpPr>
              <a:spLocks noChangeArrowheads="1"/>
            </p:cNvSpPr>
            <p:nvPr/>
          </p:nvSpPr>
          <p:spPr bwMode="hidden">
            <a:xfrm>
              <a:off x="1529" y="1156"/>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55" name="Oval 153"/>
            <p:cNvSpPr>
              <a:spLocks noChangeArrowheads="1"/>
            </p:cNvSpPr>
            <p:nvPr/>
          </p:nvSpPr>
          <p:spPr bwMode="hidden">
            <a:xfrm>
              <a:off x="1294" y="1222"/>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56" name="Oval 154"/>
            <p:cNvSpPr>
              <a:spLocks noChangeArrowheads="1"/>
            </p:cNvSpPr>
            <p:nvPr/>
          </p:nvSpPr>
          <p:spPr bwMode="hidden">
            <a:xfrm>
              <a:off x="1314" y="1112"/>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57" name="Oval 155"/>
            <p:cNvSpPr>
              <a:spLocks noChangeArrowheads="1"/>
            </p:cNvSpPr>
            <p:nvPr/>
          </p:nvSpPr>
          <p:spPr bwMode="hidden">
            <a:xfrm>
              <a:off x="1082" y="1166"/>
              <a:ext cx="11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58" name="Oval 156"/>
            <p:cNvSpPr>
              <a:spLocks noChangeArrowheads="1"/>
            </p:cNvSpPr>
            <p:nvPr/>
          </p:nvSpPr>
          <p:spPr bwMode="hidden">
            <a:xfrm>
              <a:off x="877" y="1121"/>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59" name="Oval 157"/>
            <p:cNvSpPr>
              <a:spLocks noChangeArrowheads="1"/>
            </p:cNvSpPr>
            <p:nvPr/>
          </p:nvSpPr>
          <p:spPr bwMode="hidden">
            <a:xfrm>
              <a:off x="875" y="1216"/>
              <a:ext cx="11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60" name="Oval 158"/>
            <p:cNvSpPr>
              <a:spLocks noChangeArrowheads="1"/>
            </p:cNvSpPr>
            <p:nvPr/>
          </p:nvSpPr>
          <p:spPr bwMode="hidden">
            <a:xfrm>
              <a:off x="680" y="1170"/>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61" name="Oval 159"/>
            <p:cNvSpPr>
              <a:spLocks noChangeArrowheads="1"/>
            </p:cNvSpPr>
            <p:nvPr/>
          </p:nvSpPr>
          <p:spPr bwMode="hidden">
            <a:xfrm>
              <a:off x="411" y="1232"/>
              <a:ext cx="111"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62" name="Oval 160"/>
            <p:cNvSpPr>
              <a:spLocks noChangeArrowheads="1"/>
            </p:cNvSpPr>
            <p:nvPr/>
          </p:nvSpPr>
          <p:spPr bwMode="hidden">
            <a:xfrm>
              <a:off x="434" y="1100"/>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63" name="Oval 161"/>
            <p:cNvSpPr>
              <a:spLocks noChangeArrowheads="1"/>
            </p:cNvSpPr>
            <p:nvPr/>
          </p:nvSpPr>
          <p:spPr bwMode="hidden">
            <a:xfrm>
              <a:off x="119" y="1312"/>
              <a:ext cx="111"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64" name="Oval 162"/>
            <p:cNvSpPr>
              <a:spLocks noChangeArrowheads="1"/>
            </p:cNvSpPr>
            <p:nvPr/>
          </p:nvSpPr>
          <p:spPr bwMode="hidden">
            <a:xfrm>
              <a:off x="858" y="1001"/>
              <a:ext cx="101" cy="38"/>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65" name="Oval 163"/>
            <p:cNvSpPr>
              <a:spLocks noChangeArrowheads="1"/>
            </p:cNvSpPr>
            <p:nvPr/>
          </p:nvSpPr>
          <p:spPr bwMode="hidden">
            <a:xfrm>
              <a:off x="1341" y="1013"/>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66" name="Oval 164"/>
            <p:cNvSpPr>
              <a:spLocks noChangeArrowheads="1"/>
            </p:cNvSpPr>
            <p:nvPr/>
          </p:nvSpPr>
          <p:spPr bwMode="hidden">
            <a:xfrm>
              <a:off x="1739" y="1008"/>
              <a:ext cx="101" cy="38"/>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67" name="Oval 165"/>
            <p:cNvSpPr>
              <a:spLocks noChangeArrowheads="1"/>
            </p:cNvSpPr>
            <p:nvPr/>
          </p:nvSpPr>
          <p:spPr bwMode="hidden">
            <a:xfrm>
              <a:off x="2116" y="1001"/>
              <a:ext cx="100"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68" name="Oval 166"/>
            <p:cNvSpPr>
              <a:spLocks noChangeArrowheads="1"/>
            </p:cNvSpPr>
            <p:nvPr/>
          </p:nvSpPr>
          <p:spPr bwMode="hidden">
            <a:xfrm>
              <a:off x="2320" y="941"/>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69" name="Oval 167"/>
            <p:cNvSpPr>
              <a:spLocks noChangeArrowheads="1"/>
            </p:cNvSpPr>
            <p:nvPr/>
          </p:nvSpPr>
          <p:spPr bwMode="hidden">
            <a:xfrm>
              <a:off x="2601" y="995"/>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70" name="Oval 168"/>
            <p:cNvSpPr>
              <a:spLocks noChangeArrowheads="1"/>
            </p:cNvSpPr>
            <p:nvPr/>
          </p:nvSpPr>
          <p:spPr bwMode="hidden">
            <a:xfrm>
              <a:off x="1667" y="1420"/>
              <a:ext cx="106"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71" name="Oval 169"/>
            <p:cNvSpPr>
              <a:spLocks noChangeArrowheads="1"/>
            </p:cNvSpPr>
            <p:nvPr/>
          </p:nvSpPr>
          <p:spPr bwMode="hidden">
            <a:xfrm>
              <a:off x="2557" y="1516"/>
              <a:ext cx="123" cy="5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72" name="Oval 170"/>
            <p:cNvSpPr>
              <a:spLocks noChangeArrowheads="1"/>
            </p:cNvSpPr>
            <p:nvPr/>
          </p:nvSpPr>
          <p:spPr bwMode="hidden">
            <a:xfrm>
              <a:off x="3619" y="1287"/>
              <a:ext cx="112"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73" name="Oval 171"/>
            <p:cNvSpPr>
              <a:spLocks noChangeArrowheads="1"/>
            </p:cNvSpPr>
            <p:nvPr/>
          </p:nvSpPr>
          <p:spPr bwMode="hidden">
            <a:xfrm>
              <a:off x="3791" y="1212"/>
              <a:ext cx="111"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74" name="Oval 172"/>
            <p:cNvSpPr>
              <a:spLocks noChangeArrowheads="1"/>
            </p:cNvSpPr>
            <p:nvPr/>
          </p:nvSpPr>
          <p:spPr bwMode="hidden">
            <a:xfrm>
              <a:off x="2134" y="908"/>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75" name="Oval 173"/>
            <p:cNvSpPr>
              <a:spLocks noChangeArrowheads="1"/>
            </p:cNvSpPr>
            <p:nvPr/>
          </p:nvSpPr>
          <p:spPr bwMode="hidden">
            <a:xfrm>
              <a:off x="1264" y="908"/>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76" name="Oval 174"/>
            <p:cNvSpPr>
              <a:spLocks noChangeArrowheads="1"/>
            </p:cNvSpPr>
            <p:nvPr/>
          </p:nvSpPr>
          <p:spPr bwMode="hidden">
            <a:xfrm>
              <a:off x="1471" y="869"/>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77" name="Oval 175"/>
            <p:cNvSpPr>
              <a:spLocks noChangeArrowheads="1"/>
            </p:cNvSpPr>
            <p:nvPr/>
          </p:nvSpPr>
          <p:spPr bwMode="hidden">
            <a:xfrm>
              <a:off x="1650" y="824"/>
              <a:ext cx="83"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78" name="Oval 176"/>
            <p:cNvSpPr>
              <a:spLocks noChangeArrowheads="1"/>
            </p:cNvSpPr>
            <p:nvPr/>
          </p:nvSpPr>
          <p:spPr bwMode="hidden">
            <a:xfrm>
              <a:off x="1918" y="869"/>
              <a:ext cx="84"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79" name="Oval 177"/>
            <p:cNvSpPr>
              <a:spLocks noChangeArrowheads="1"/>
            </p:cNvSpPr>
            <p:nvPr/>
          </p:nvSpPr>
          <p:spPr bwMode="hidden">
            <a:xfrm>
              <a:off x="1720" y="923"/>
              <a:ext cx="83"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80" name="Oval 178"/>
            <p:cNvSpPr>
              <a:spLocks noChangeArrowheads="1"/>
            </p:cNvSpPr>
            <p:nvPr/>
          </p:nvSpPr>
          <p:spPr bwMode="hidden">
            <a:xfrm>
              <a:off x="1913" y="957"/>
              <a:ext cx="95"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81" name="Oval 179"/>
            <p:cNvSpPr>
              <a:spLocks noChangeArrowheads="1"/>
            </p:cNvSpPr>
            <p:nvPr/>
          </p:nvSpPr>
          <p:spPr bwMode="hidden">
            <a:xfrm>
              <a:off x="1541" y="962"/>
              <a:ext cx="89"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82" name="Oval 180"/>
            <p:cNvSpPr>
              <a:spLocks noChangeArrowheads="1"/>
            </p:cNvSpPr>
            <p:nvPr/>
          </p:nvSpPr>
          <p:spPr bwMode="hidden">
            <a:xfrm>
              <a:off x="1076" y="953"/>
              <a:ext cx="10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83" name="Oval 181"/>
            <p:cNvSpPr>
              <a:spLocks noChangeArrowheads="1"/>
            </p:cNvSpPr>
            <p:nvPr/>
          </p:nvSpPr>
          <p:spPr bwMode="hidden">
            <a:xfrm>
              <a:off x="1983" y="4027"/>
              <a:ext cx="195" cy="10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84" name="Oval 182"/>
            <p:cNvSpPr>
              <a:spLocks noChangeArrowheads="1"/>
            </p:cNvSpPr>
            <p:nvPr/>
          </p:nvSpPr>
          <p:spPr bwMode="hidden">
            <a:xfrm>
              <a:off x="2460" y="3671"/>
              <a:ext cx="196" cy="112"/>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85" name="Oval 183"/>
            <p:cNvSpPr>
              <a:spLocks noChangeArrowheads="1"/>
            </p:cNvSpPr>
            <p:nvPr/>
          </p:nvSpPr>
          <p:spPr bwMode="hidden">
            <a:xfrm>
              <a:off x="3238" y="3121"/>
              <a:ext cx="168" cy="9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86" name="Oval 184"/>
            <p:cNvSpPr>
              <a:spLocks noChangeArrowheads="1"/>
            </p:cNvSpPr>
            <p:nvPr/>
          </p:nvSpPr>
          <p:spPr bwMode="hidden">
            <a:xfrm>
              <a:off x="3550" y="2880"/>
              <a:ext cx="157" cy="89"/>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87" name="Oval 185"/>
            <p:cNvSpPr>
              <a:spLocks noChangeArrowheads="1"/>
            </p:cNvSpPr>
            <p:nvPr/>
          </p:nvSpPr>
          <p:spPr bwMode="hidden">
            <a:xfrm>
              <a:off x="2892" y="3377"/>
              <a:ext cx="168" cy="9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88" name="Oval 186"/>
            <p:cNvSpPr>
              <a:spLocks noChangeArrowheads="1"/>
            </p:cNvSpPr>
            <p:nvPr/>
          </p:nvSpPr>
          <p:spPr bwMode="hidden">
            <a:xfrm>
              <a:off x="3869" y="2657"/>
              <a:ext cx="151" cy="84"/>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89" name="Oval 187"/>
            <p:cNvSpPr>
              <a:spLocks noChangeArrowheads="1"/>
            </p:cNvSpPr>
            <p:nvPr/>
          </p:nvSpPr>
          <p:spPr bwMode="hidden">
            <a:xfrm>
              <a:off x="4090" y="2475"/>
              <a:ext cx="156" cy="89"/>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90" name="Oval 188"/>
            <p:cNvSpPr>
              <a:spLocks noChangeArrowheads="1"/>
            </p:cNvSpPr>
            <p:nvPr/>
          </p:nvSpPr>
          <p:spPr bwMode="hidden">
            <a:xfrm>
              <a:off x="4327" y="2314"/>
              <a:ext cx="134" cy="72"/>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91" name="Oval 189"/>
            <p:cNvSpPr>
              <a:spLocks noChangeArrowheads="1"/>
            </p:cNvSpPr>
            <p:nvPr/>
          </p:nvSpPr>
          <p:spPr bwMode="hidden">
            <a:xfrm>
              <a:off x="4712" y="2022"/>
              <a:ext cx="134" cy="73"/>
            </a:xfrm>
            <a:prstGeom prst="ellipse">
              <a:avLst/>
            </a:prstGeom>
            <a:gradFill rotWithShape="0">
              <a:gsLst>
                <a:gs pos="0">
                  <a:schemeClr val="bg2"/>
                </a:gs>
                <a:gs pos="100000">
                  <a:schemeClr val="bg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92" name="Oval 190"/>
            <p:cNvSpPr>
              <a:spLocks noChangeArrowheads="1"/>
            </p:cNvSpPr>
            <p:nvPr/>
          </p:nvSpPr>
          <p:spPr bwMode="hidden">
            <a:xfrm>
              <a:off x="4533" y="2162"/>
              <a:ext cx="139"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93" name="Oval 191"/>
            <p:cNvSpPr>
              <a:spLocks noChangeArrowheads="1"/>
            </p:cNvSpPr>
            <p:nvPr/>
          </p:nvSpPr>
          <p:spPr bwMode="hidden">
            <a:xfrm>
              <a:off x="4863" y="1920"/>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94" name="Oval 192"/>
            <p:cNvSpPr>
              <a:spLocks noChangeArrowheads="1"/>
            </p:cNvSpPr>
            <p:nvPr/>
          </p:nvSpPr>
          <p:spPr bwMode="hidden">
            <a:xfrm>
              <a:off x="5009" y="1807"/>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95" name="Oval 193"/>
            <p:cNvSpPr>
              <a:spLocks noChangeArrowheads="1"/>
            </p:cNvSpPr>
            <p:nvPr/>
          </p:nvSpPr>
          <p:spPr bwMode="hidden">
            <a:xfrm>
              <a:off x="5161" y="1702"/>
              <a:ext cx="123" cy="50"/>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96" name="Oval 194"/>
            <p:cNvSpPr>
              <a:spLocks noChangeArrowheads="1"/>
            </p:cNvSpPr>
            <p:nvPr/>
          </p:nvSpPr>
          <p:spPr bwMode="hidden">
            <a:xfrm>
              <a:off x="5277" y="1614"/>
              <a:ext cx="124"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97" name="Oval 195"/>
            <p:cNvSpPr>
              <a:spLocks noChangeArrowheads="1"/>
            </p:cNvSpPr>
            <p:nvPr/>
          </p:nvSpPr>
          <p:spPr bwMode="hidden">
            <a:xfrm>
              <a:off x="5398" y="1521"/>
              <a:ext cx="123"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98" name="Oval 196"/>
            <p:cNvSpPr>
              <a:spLocks noChangeArrowheads="1"/>
            </p:cNvSpPr>
            <p:nvPr/>
          </p:nvSpPr>
          <p:spPr bwMode="hidden">
            <a:xfrm>
              <a:off x="3255" y="4071"/>
              <a:ext cx="196" cy="106"/>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99" name="Oval 197"/>
            <p:cNvSpPr>
              <a:spLocks noChangeArrowheads="1"/>
            </p:cNvSpPr>
            <p:nvPr/>
          </p:nvSpPr>
          <p:spPr bwMode="hidden">
            <a:xfrm>
              <a:off x="3651" y="3693"/>
              <a:ext cx="196" cy="111"/>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00" name="Oval 198"/>
            <p:cNvSpPr>
              <a:spLocks noChangeArrowheads="1"/>
            </p:cNvSpPr>
            <p:nvPr/>
          </p:nvSpPr>
          <p:spPr bwMode="hidden">
            <a:xfrm>
              <a:off x="4773" y="3705"/>
              <a:ext cx="201" cy="106"/>
            </a:xfrm>
            <a:prstGeom prst="ellipse">
              <a:avLst/>
            </a:prstGeom>
            <a:gradFill rotWithShape="0">
              <a:gsLst>
                <a:gs pos="0">
                  <a:schemeClr val="bg1"/>
                </a:gs>
                <a:gs pos="100000">
                  <a:schemeClr val="bg1">
                    <a:gamma/>
                    <a:shade val="39216"/>
                    <a:invGamma/>
                  </a:schemeClr>
                </a:gs>
              </a:gsLst>
              <a:lin ang="2700000" scaled="1"/>
            </a:gradFill>
            <a:ln w="9525">
              <a:noFill/>
              <a:round/>
              <a:headEnd/>
              <a:tailEnd/>
            </a:ln>
            <a:effectLst/>
          </p:spPr>
          <p:txBody>
            <a:bodyPr/>
            <a:lstStyle/>
            <a:p>
              <a:pPr>
                <a:defRPr/>
              </a:pPr>
              <a:endParaRPr lang="el-GR">
                <a:latin typeface="Arial" charset="0"/>
              </a:endParaRPr>
            </a:p>
          </p:txBody>
        </p:sp>
        <p:sp>
          <p:nvSpPr>
            <p:cNvPr id="201" name="Oval 199"/>
            <p:cNvSpPr>
              <a:spLocks noChangeArrowheads="1"/>
            </p:cNvSpPr>
            <p:nvPr/>
          </p:nvSpPr>
          <p:spPr bwMode="hidden">
            <a:xfrm>
              <a:off x="4491" y="4049"/>
              <a:ext cx="196" cy="105"/>
            </a:xfrm>
            <a:prstGeom prst="ellipse">
              <a:avLst/>
            </a:prstGeom>
            <a:gradFill rotWithShape="0">
              <a:gsLst>
                <a:gs pos="0">
                  <a:schemeClr val="bg1"/>
                </a:gs>
                <a:gs pos="100000">
                  <a:schemeClr val="bg1">
                    <a:gamma/>
                    <a:shade val="39216"/>
                    <a:invGamma/>
                  </a:schemeClr>
                </a:gs>
              </a:gsLst>
              <a:lin ang="2700000" scaled="1"/>
            </a:gradFill>
            <a:ln w="9525">
              <a:noFill/>
              <a:round/>
              <a:headEnd/>
              <a:tailEnd/>
            </a:ln>
            <a:effectLst/>
          </p:spPr>
          <p:txBody>
            <a:bodyPr/>
            <a:lstStyle/>
            <a:p>
              <a:pPr>
                <a:defRPr/>
              </a:pPr>
              <a:endParaRPr lang="el-GR">
                <a:latin typeface="Arial" charset="0"/>
              </a:endParaRPr>
            </a:p>
          </p:txBody>
        </p:sp>
        <p:sp>
          <p:nvSpPr>
            <p:cNvPr id="202" name="Oval 200"/>
            <p:cNvSpPr>
              <a:spLocks noChangeArrowheads="1"/>
            </p:cNvSpPr>
            <p:nvPr/>
          </p:nvSpPr>
          <p:spPr bwMode="hidden">
            <a:xfrm>
              <a:off x="3989" y="3396"/>
              <a:ext cx="168" cy="96"/>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03" name="Oval 201"/>
            <p:cNvSpPr>
              <a:spLocks noChangeArrowheads="1"/>
            </p:cNvSpPr>
            <p:nvPr/>
          </p:nvSpPr>
          <p:spPr bwMode="hidden">
            <a:xfrm>
              <a:off x="4263" y="3141"/>
              <a:ext cx="167" cy="95"/>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04" name="Oval 202"/>
            <p:cNvSpPr>
              <a:spLocks noChangeArrowheads="1"/>
            </p:cNvSpPr>
            <p:nvPr/>
          </p:nvSpPr>
          <p:spPr bwMode="hidden">
            <a:xfrm>
              <a:off x="5044" y="3418"/>
              <a:ext cx="167" cy="95"/>
            </a:xfrm>
            <a:prstGeom prst="ellipse">
              <a:avLst/>
            </a:prstGeom>
            <a:gradFill rotWithShape="0">
              <a:gsLst>
                <a:gs pos="0">
                  <a:schemeClr val="bg1"/>
                </a:gs>
                <a:gs pos="100000">
                  <a:schemeClr val="bg1">
                    <a:gamma/>
                    <a:shade val="39216"/>
                    <a:invGamma/>
                  </a:schemeClr>
                </a:gs>
              </a:gsLst>
              <a:lin ang="2700000" scaled="1"/>
            </a:gradFill>
            <a:ln w="9525">
              <a:noFill/>
              <a:round/>
              <a:headEnd/>
              <a:tailEnd/>
            </a:ln>
            <a:effectLst/>
          </p:spPr>
          <p:txBody>
            <a:bodyPr/>
            <a:lstStyle/>
            <a:p>
              <a:pPr>
                <a:defRPr/>
              </a:pPr>
              <a:endParaRPr lang="el-GR">
                <a:latin typeface="Arial" charset="0"/>
              </a:endParaRPr>
            </a:p>
          </p:txBody>
        </p:sp>
        <p:sp>
          <p:nvSpPr>
            <p:cNvPr id="205" name="Oval 203"/>
            <p:cNvSpPr>
              <a:spLocks noChangeArrowheads="1"/>
            </p:cNvSpPr>
            <p:nvPr/>
          </p:nvSpPr>
          <p:spPr bwMode="hidden">
            <a:xfrm>
              <a:off x="4553" y="2873"/>
              <a:ext cx="156" cy="83"/>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06" name="Oval 204"/>
            <p:cNvSpPr>
              <a:spLocks noChangeArrowheads="1"/>
            </p:cNvSpPr>
            <p:nvPr/>
          </p:nvSpPr>
          <p:spPr bwMode="hidden">
            <a:xfrm>
              <a:off x="5293" y="3116"/>
              <a:ext cx="168" cy="95"/>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07" name="Oval 205"/>
            <p:cNvSpPr>
              <a:spLocks noChangeArrowheads="1"/>
            </p:cNvSpPr>
            <p:nvPr/>
          </p:nvSpPr>
          <p:spPr bwMode="hidden">
            <a:xfrm>
              <a:off x="5497" y="2879"/>
              <a:ext cx="156" cy="89"/>
            </a:xfrm>
            <a:prstGeom prst="ellipse">
              <a:avLst/>
            </a:prstGeom>
            <a:gradFill rotWithShape="0">
              <a:gsLst>
                <a:gs pos="0">
                  <a:schemeClr val="bg1"/>
                </a:gs>
                <a:gs pos="100000">
                  <a:schemeClr val="bg1">
                    <a:gamma/>
                    <a:shade val="39216"/>
                    <a:invGamma/>
                  </a:schemeClr>
                </a:gs>
              </a:gsLst>
              <a:lin ang="2700000" scaled="1"/>
            </a:gradFill>
            <a:ln w="9525">
              <a:noFill/>
              <a:round/>
              <a:headEnd/>
              <a:tailEnd/>
            </a:ln>
            <a:effectLst/>
          </p:spPr>
          <p:txBody>
            <a:bodyPr/>
            <a:lstStyle/>
            <a:p>
              <a:pPr>
                <a:defRPr/>
              </a:pPr>
              <a:endParaRPr lang="el-GR">
                <a:latin typeface="Arial" charset="0"/>
              </a:endParaRPr>
            </a:p>
          </p:txBody>
        </p:sp>
        <p:sp>
          <p:nvSpPr>
            <p:cNvPr id="208" name="Oval 206"/>
            <p:cNvSpPr>
              <a:spLocks noChangeArrowheads="1"/>
            </p:cNvSpPr>
            <p:nvPr/>
          </p:nvSpPr>
          <p:spPr bwMode="hidden">
            <a:xfrm>
              <a:off x="4772" y="2673"/>
              <a:ext cx="156" cy="83"/>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09" name="Oval 207"/>
            <p:cNvSpPr>
              <a:spLocks noChangeArrowheads="1"/>
            </p:cNvSpPr>
            <p:nvPr/>
          </p:nvSpPr>
          <p:spPr bwMode="hidden">
            <a:xfrm>
              <a:off x="4966" y="2488"/>
              <a:ext cx="156" cy="84"/>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10" name="Oval 208"/>
            <p:cNvSpPr>
              <a:spLocks noChangeArrowheads="1"/>
            </p:cNvSpPr>
            <p:nvPr/>
          </p:nvSpPr>
          <p:spPr bwMode="hidden">
            <a:xfrm>
              <a:off x="5444" y="2052"/>
              <a:ext cx="134" cy="73"/>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11" name="Oval 209"/>
            <p:cNvSpPr>
              <a:spLocks noChangeArrowheads="1"/>
            </p:cNvSpPr>
            <p:nvPr/>
          </p:nvSpPr>
          <p:spPr bwMode="hidden">
            <a:xfrm>
              <a:off x="5161" y="2314"/>
              <a:ext cx="140" cy="73"/>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12" name="Oval 210"/>
            <p:cNvSpPr>
              <a:spLocks noChangeArrowheads="1"/>
            </p:cNvSpPr>
            <p:nvPr/>
          </p:nvSpPr>
          <p:spPr bwMode="hidden">
            <a:xfrm>
              <a:off x="5318" y="2176"/>
              <a:ext cx="134" cy="61"/>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13" name="Oval 211"/>
            <p:cNvSpPr>
              <a:spLocks noChangeArrowheads="1"/>
            </p:cNvSpPr>
            <p:nvPr/>
          </p:nvSpPr>
          <p:spPr bwMode="hidden">
            <a:xfrm>
              <a:off x="5581" y="1933"/>
              <a:ext cx="128" cy="61"/>
            </a:xfrm>
            <a:prstGeom prst="ellipse">
              <a:avLst/>
            </a:prstGeom>
            <a:gradFill rotWithShape="0">
              <a:gsLst>
                <a:gs pos="0">
                  <a:schemeClr val="bg1"/>
                </a:gs>
                <a:gs pos="100000">
                  <a:schemeClr val="bg1">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214" name="Oval 212"/>
            <p:cNvSpPr>
              <a:spLocks noChangeArrowheads="1"/>
            </p:cNvSpPr>
            <p:nvPr/>
          </p:nvSpPr>
          <p:spPr bwMode="hidden">
            <a:xfrm>
              <a:off x="5689" y="1811"/>
              <a:ext cx="128" cy="61"/>
            </a:xfrm>
            <a:prstGeom prst="ellipse">
              <a:avLst/>
            </a:prstGeom>
            <a:gradFill rotWithShape="0">
              <a:gsLst>
                <a:gs pos="0">
                  <a:schemeClr val="bg1"/>
                </a:gs>
                <a:gs pos="100000">
                  <a:schemeClr val="bg1">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215" name="Oval 213"/>
            <p:cNvSpPr>
              <a:spLocks noChangeArrowheads="1"/>
            </p:cNvSpPr>
            <p:nvPr/>
          </p:nvSpPr>
          <p:spPr bwMode="hidden">
            <a:xfrm>
              <a:off x="5663" y="2680"/>
              <a:ext cx="156" cy="83"/>
            </a:xfrm>
            <a:prstGeom prst="ellipse">
              <a:avLst/>
            </a:prstGeom>
            <a:gradFill rotWithShape="0">
              <a:gsLst>
                <a:gs pos="0">
                  <a:schemeClr val="bg1"/>
                </a:gs>
                <a:gs pos="100000">
                  <a:schemeClr val="bg1">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216" name="Oval 214"/>
            <p:cNvSpPr>
              <a:spLocks noChangeArrowheads="1"/>
            </p:cNvSpPr>
            <p:nvPr/>
          </p:nvSpPr>
          <p:spPr bwMode="hidden">
            <a:xfrm>
              <a:off x="-65" y="2865"/>
              <a:ext cx="150" cy="89"/>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217" name="Oval 215"/>
            <p:cNvSpPr>
              <a:spLocks noChangeArrowheads="1"/>
            </p:cNvSpPr>
            <p:nvPr/>
          </p:nvSpPr>
          <p:spPr bwMode="hidden">
            <a:xfrm>
              <a:off x="2" y="2477"/>
              <a:ext cx="156" cy="89"/>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218" name="Oval 216"/>
            <p:cNvSpPr>
              <a:spLocks noChangeArrowheads="1"/>
            </p:cNvSpPr>
            <p:nvPr/>
          </p:nvSpPr>
          <p:spPr bwMode="hidden">
            <a:xfrm>
              <a:off x="-9" y="1436"/>
              <a:ext cx="106"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219" name="Oval 217"/>
            <p:cNvSpPr>
              <a:spLocks noChangeArrowheads="1"/>
            </p:cNvSpPr>
            <p:nvPr/>
          </p:nvSpPr>
          <p:spPr bwMode="hidden">
            <a:xfrm>
              <a:off x="5624" y="4010"/>
              <a:ext cx="201" cy="106"/>
            </a:xfrm>
            <a:prstGeom prst="ellipse">
              <a:avLst/>
            </a:prstGeom>
            <a:gradFill rotWithShape="0">
              <a:gsLst>
                <a:gs pos="0">
                  <a:schemeClr val="bg1"/>
                </a:gs>
                <a:gs pos="100000">
                  <a:schemeClr val="bg1">
                    <a:gamma/>
                    <a:shade val="39216"/>
                    <a:invGamma/>
                  </a:schemeClr>
                </a:gs>
              </a:gsLst>
              <a:lin ang="2700000" scaled="1"/>
            </a:gradFill>
            <a:ln w="9525">
              <a:noFill/>
              <a:round/>
              <a:headEnd/>
              <a:tailEnd/>
            </a:ln>
            <a:effectLst/>
          </p:spPr>
          <p:txBody>
            <a:bodyPr/>
            <a:lstStyle/>
            <a:p>
              <a:pPr>
                <a:defRPr/>
              </a:pPr>
              <a:endParaRPr lang="el-GR">
                <a:latin typeface="Arial" charset="0"/>
              </a:endParaRPr>
            </a:p>
          </p:txBody>
        </p:sp>
      </p:grpSp>
      <p:sp>
        <p:nvSpPr>
          <p:cNvPr id="11482" name="Rectangle 218"/>
          <p:cNvSpPr>
            <a:spLocks noGrp="1" noChangeArrowheads="1"/>
          </p:cNvSpPr>
          <p:nvPr>
            <p:ph type="ctrTitle" sz="quarter"/>
          </p:nvPr>
        </p:nvSpPr>
        <p:spPr>
          <a:xfrm>
            <a:off x="685800" y="1844675"/>
            <a:ext cx="7772400" cy="1736725"/>
          </a:xfrm>
        </p:spPr>
        <p:txBody>
          <a:bodyPr anchor="b" anchorCtr="1"/>
          <a:lstStyle>
            <a:lvl1pPr>
              <a:defRPr sz="5400"/>
            </a:lvl1pPr>
          </a:lstStyle>
          <a:p>
            <a:r>
              <a:rPr lang="el-GR"/>
              <a:t>Click to edit Master title style</a:t>
            </a:r>
          </a:p>
        </p:txBody>
      </p:sp>
      <p:sp>
        <p:nvSpPr>
          <p:cNvPr id="11483" name="Rectangle 219"/>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l-GR"/>
              <a:t>Click to edit Master subtitle style</a:t>
            </a:r>
          </a:p>
        </p:txBody>
      </p:sp>
      <p:sp>
        <p:nvSpPr>
          <p:cNvPr id="220" name="Rectangle 220"/>
          <p:cNvSpPr>
            <a:spLocks noGrp="1" noChangeArrowheads="1"/>
          </p:cNvSpPr>
          <p:nvPr>
            <p:ph type="dt" sz="quarter" idx="10"/>
          </p:nvPr>
        </p:nvSpPr>
        <p:spPr/>
        <p:txBody>
          <a:bodyPr/>
          <a:lstStyle>
            <a:lvl1pPr>
              <a:defRPr/>
            </a:lvl1pPr>
          </a:lstStyle>
          <a:p>
            <a:pPr>
              <a:defRPr/>
            </a:pPr>
            <a:endParaRPr lang="el-GR"/>
          </a:p>
        </p:txBody>
      </p:sp>
      <p:sp>
        <p:nvSpPr>
          <p:cNvPr id="221" name="Rectangle 221"/>
          <p:cNvSpPr>
            <a:spLocks noGrp="1" noChangeArrowheads="1"/>
          </p:cNvSpPr>
          <p:nvPr>
            <p:ph type="ftr" sz="quarter" idx="11"/>
          </p:nvPr>
        </p:nvSpPr>
        <p:spPr>
          <a:xfrm>
            <a:off x="3124200" y="6248400"/>
            <a:ext cx="2895600" cy="457200"/>
          </a:xfrm>
        </p:spPr>
        <p:txBody>
          <a:bodyPr/>
          <a:lstStyle>
            <a:lvl1pPr>
              <a:defRPr/>
            </a:lvl1pPr>
          </a:lstStyle>
          <a:p>
            <a:pPr>
              <a:defRPr/>
            </a:pPr>
            <a:endParaRPr lang="el-GR"/>
          </a:p>
        </p:txBody>
      </p:sp>
      <p:sp>
        <p:nvSpPr>
          <p:cNvPr id="222" name="Rectangle 222"/>
          <p:cNvSpPr>
            <a:spLocks noGrp="1" noChangeArrowheads="1"/>
          </p:cNvSpPr>
          <p:nvPr>
            <p:ph type="sldNum" sz="quarter" idx="12"/>
          </p:nvPr>
        </p:nvSpPr>
        <p:spPr/>
        <p:txBody>
          <a:bodyPr/>
          <a:lstStyle>
            <a:lvl1pPr>
              <a:defRPr/>
            </a:lvl1pPr>
          </a:lstStyle>
          <a:p>
            <a:pPr>
              <a:defRPr/>
            </a:pPr>
            <a:fld id="{4EC4613B-EBC5-40A0-9C49-8800B5A4BDBD}" type="slidenum">
              <a:rPr lang="el-GR"/>
              <a:pPr>
                <a:defRPr/>
              </a:pPr>
              <a:t>‹#›</a:t>
            </a:fld>
            <a:endParaRPr lang="el-G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Αντικείμενο">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περιεχομένου"/>
          <p:cNvSpPr>
            <a:spLocks noGrp="1"/>
          </p:cNvSpPr>
          <p:nvPr>
            <p:ph idx="1"/>
          </p:nvPr>
        </p:nvSpPr>
        <p:spPr/>
        <p:txBody>
          <a:body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Rectangle 218"/>
          <p:cNvSpPr>
            <a:spLocks noGrp="1" noChangeArrowheads="1"/>
          </p:cNvSpPr>
          <p:nvPr>
            <p:ph type="sldNum" sz="quarter" idx="10"/>
          </p:nvPr>
        </p:nvSpPr>
        <p:spPr>
          <a:ln/>
        </p:spPr>
        <p:txBody>
          <a:bodyPr/>
          <a:lstStyle>
            <a:lvl1pPr>
              <a:defRPr/>
            </a:lvl1pPr>
          </a:lstStyle>
          <a:p>
            <a:pPr>
              <a:defRPr/>
            </a:pPr>
            <a:fld id="{AE4A2EC2-7D2B-46B2-B87A-4DACC8553708}" type="slidenum">
              <a:rPr lang="el-GR"/>
              <a:pPr>
                <a:defRPr/>
              </a:pPr>
              <a:t>‹#›</a:t>
            </a:fld>
            <a:endParaRPr lang="el-GR"/>
          </a:p>
        </p:txBody>
      </p:sp>
      <p:sp>
        <p:nvSpPr>
          <p:cNvPr id="5" name="Rectangle 219"/>
          <p:cNvSpPr>
            <a:spLocks noGrp="1" noChangeArrowheads="1"/>
          </p:cNvSpPr>
          <p:nvPr>
            <p:ph type="dt" sz="half" idx="11"/>
          </p:nvPr>
        </p:nvSpPr>
        <p:spPr>
          <a:ln/>
        </p:spPr>
        <p:txBody>
          <a:bodyPr/>
          <a:lstStyle>
            <a:lvl1pPr>
              <a:defRPr/>
            </a:lvl1pPr>
          </a:lstStyle>
          <a:p>
            <a:pPr>
              <a:defRPr/>
            </a:pPr>
            <a:endParaRPr lang="el-GR"/>
          </a:p>
        </p:txBody>
      </p:sp>
      <p:sp>
        <p:nvSpPr>
          <p:cNvPr id="6" name="Rectangle 220"/>
          <p:cNvSpPr>
            <a:spLocks noGrp="1" noChangeArrowheads="1"/>
          </p:cNvSpPr>
          <p:nvPr>
            <p:ph type="ftr" sz="quarter" idx="12"/>
          </p:nvPr>
        </p:nvSpPr>
        <p:spPr>
          <a:ln/>
        </p:spPr>
        <p:txBody>
          <a:bodyPr/>
          <a:lstStyle>
            <a:lvl1pPr>
              <a:defRPr/>
            </a:lvl1pPr>
          </a:lstStyle>
          <a:p>
            <a:pPr>
              <a:defRPr/>
            </a:pPr>
            <a:endParaRPr lang="el-G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1 - Τίτλος"/>
          <p:cNvSpPr>
            <a:spLocks noGrp="1"/>
          </p:cNvSpPr>
          <p:nvPr>
            <p:ph type="title"/>
          </p:nvPr>
        </p:nvSpPr>
        <p:spPr>
          <a:xfrm>
            <a:off x="722313" y="4406900"/>
            <a:ext cx="7772400" cy="1362075"/>
          </a:xfrm>
        </p:spPr>
        <p:txBody>
          <a:bodyPr anchor="t"/>
          <a:lstStyle>
            <a:lvl1pPr algn="l">
              <a:defRPr sz="4000" b="1" cap="all"/>
            </a:lvl1p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l-GR" smtClean="0"/>
              <a:t>Kλικ για επεξεργασία των στυλ του υποδείγματος</a:t>
            </a:r>
          </a:p>
        </p:txBody>
      </p:sp>
      <p:sp>
        <p:nvSpPr>
          <p:cNvPr id="4" name="Rectangle 218"/>
          <p:cNvSpPr>
            <a:spLocks noGrp="1" noChangeArrowheads="1"/>
          </p:cNvSpPr>
          <p:nvPr>
            <p:ph type="sldNum" sz="quarter" idx="10"/>
          </p:nvPr>
        </p:nvSpPr>
        <p:spPr>
          <a:ln/>
        </p:spPr>
        <p:txBody>
          <a:bodyPr/>
          <a:lstStyle>
            <a:lvl1pPr>
              <a:defRPr/>
            </a:lvl1pPr>
          </a:lstStyle>
          <a:p>
            <a:pPr>
              <a:defRPr/>
            </a:pPr>
            <a:fld id="{51A02F25-4C6F-4F40-9B70-AD35A755501D}" type="slidenum">
              <a:rPr lang="el-GR"/>
              <a:pPr>
                <a:defRPr/>
              </a:pPr>
              <a:t>‹#›</a:t>
            </a:fld>
            <a:endParaRPr lang="el-GR"/>
          </a:p>
        </p:txBody>
      </p:sp>
      <p:sp>
        <p:nvSpPr>
          <p:cNvPr id="5" name="Rectangle 219"/>
          <p:cNvSpPr>
            <a:spLocks noGrp="1" noChangeArrowheads="1"/>
          </p:cNvSpPr>
          <p:nvPr>
            <p:ph type="dt" sz="half" idx="11"/>
          </p:nvPr>
        </p:nvSpPr>
        <p:spPr>
          <a:ln/>
        </p:spPr>
        <p:txBody>
          <a:bodyPr/>
          <a:lstStyle>
            <a:lvl1pPr>
              <a:defRPr/>
            </a:lvl1pPr>
          </a:lstStyle>
          <a:p>
            <a:pPr>
              <a:defRPr/>
            </a:pPr>
            <a:endParaRPr lang="el-GR"/>
          </a:p>
        </p:txBody>
      </p:sp>
      <p:sp>
        <p:nvSpPr>
          <p:cNvPr id="6" name="Rectangle 220"/>
          <p:cNvSpPr>
            <a:spLocks noGrp="1" noChangeArrowheads="1"/>
          </p:cNvSpPr>
          <p:nvPr>
            <p:ph type="ftr" sz="quarter" idx="12"/>
          </p:nvPr>
        </p:nvSpPr>
        <p:spPr>
          <a:ln/>
        </p:spPr>
        <p:txBody>
          <a:bodyPr/>
          <a:lstStyle>
            <a:lvl1pPr>
              <a:defRPr/>
            </a:lvl1pPr>
          </a:lstStyle>
          <a:p>
            <a:pPr>
              <a:defRPr/>
            </a:pPr>
            <a:endParaRPr lang="el-G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περιεχομένου"/>
          <p:cNvSpPr>
            <a:spLocks noGrp="1"/>
          </p:cNvSpPr>
          <p:nvPr>
            <p:ph sz="half" idx="1"/>
          </p:nvPr>
        </p:nvSpPr>
        <p:spPr>
          <a:xfrm>
            <a:off x="457200" y="1600200"/>
            <a:ext cx="4038600" cy="4533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περιεχομένου"/>
          <p:cNvSpPr>
            <a:spLocks noGrp="1"/>
          </p:cNvSpPr>
          <p:nvPr>
            <p:ph sz="half" idx="2"/>
          </p:nvPr>
        </p:nvSpPr>
        <p:spPr>
          <a:xfrm>
            <a:off x="4648200" y="1600200"/>
            <a:ext cx="4038600" cy="45339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5" name="Rectangle 218"/>
          <p:cNvSpPr>
            <a:spLocks noGrp="1" noChangeArrowheads="1"/>
          </p:cNvSpPr>
          <p:nvPr>
            <p:ph type="sldNum" sz="quarter" idx="10"/>
          </p:nvPr>
        </p:nvSpPr>
        <p:spPr>
          <a:ln/>
        </p:spPr>
        <p:txBody>
          <a:bodyPr/>
          <a:lstStyle>
            <a:lvl1pPr>
              <a:defRPr/>
            </a:lvl1pPr>
          </a:lstStyle>
          <a:p>
            <a:pPr>
              <a:defRPr/>
            </a:pPr>
            <a:fld id="{F9B83F6D-3FEA-4D20-951A-7EAE42CBECA3}" type="slidenum">
              <a:rPr lang="el-GR"/>
              <a:pPr>
                <a:defRPr/>
              </a:pPr>
              <a:t>‹#›</a:t>
            </a:fld>
            <a:endParaRPr lang="el-GR"/>
          </a:p>
        </p:txBody>
      </p:sp>
      <p:sp>
        <p:nvSpPr>
          <p:cNvPr id="6" name="Rectangle 219"/>
          <p:cNvSpPr>
            <a:spLocks noGrp="1" noChangeArrowheads="1"/>
          </p:cNvSpPr>
          <p:nvPr>
            <p:ph type="dt" sz="half" idx="11"/>
          </p:nvPr>
        </p:nvSpPr>
        <p:spPr>
          <a:ln/>
        </p:spPr>
        <p:txBody>
          <a:bodyPr/>
          <a:lstStyle>
            <a:lvl1pPr>
              <a:defRPr/>
            </a:lvl1pPr>
          </a:lstStyle>
          <a:p>
            <a:pPr>
              <a:defRPr/>
            </a:pPr>
            <a:endParaRPr lang="el-GR"/>
          </a:p>
        </p:txBody>
      </p:sp>
      <p:sp>
        <p:nvSpPr>
          <p:cNvPr id="7" name="Rectangle 220"/>
          <p:cNvSpPr>
            <a:spLocks noGrp="1" noChangeArrowheads="1"/>
          </p:cNvSpPr>
          <p:nvPr>
            <p:ph type="ftr" sz="quarter" idx="12"/>
          </p:nvPr>
        </p:nvSpPr>
        <p:spPr>
          <a:ln/>
        </p:spPr>
        <p:txBody>
          <a:bodyPr/>
          <a:lstStyle>
            <a:lvl1pPr>
              <a:defRPr/>
            </a:lvl1pPr>
          </a:lstStyle>
          <a:p>
            <a:pPr>
              <a:defRPr/>
            </a:pPr>
            <a:endParaRPr lang="el-G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lvl1pPr>
              <a:defRPr/>
            </a:lvl1p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smtClean="0"/>
              <a:t>Kλικ για επεξεργασία των στυλ του υποδείγματος</a:t>
            </a:r>
          </a:p>
        </p:txBody>
      </p:sp>
      <p:sp>
        <p:nvSpPr>
          <p:cNvPr id="4" name="3 - Θέση περιεχομένου"/>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5" name="4 - Θέση κειμένου"/>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smtClean="0"/>
              <a:t>Kλικ για επεξεργασία των στυλ του υποδείγματος</a:t>
            </a:r>
          </a:p>
        </p:txBody>
      </p:sp>
      <p:sp>
        <p:nvSpPr>
          <p:cNvPr id="6" name="5 - Θέση περιεχομένου"/>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7" name="Rectangle 218"/>
          <p:cNvSpPr>
            <a:spLocks noGrp="1" noChangeArrowheads="1"/>
          </p:cNvSpPr>
          <p:nvPr>
            <p:ph type="sldNum" sz="quarter" idx="10"/>
          </p:nvPr>
        </p:nvSpPr>
        <p:spPr>
          <a:ln/>
        </p:spPr>
        <p:txBody>
          <a:bodyPr/>
          <a:lstStyle>
            <a:lvl1pPr>
              <a:defRPr/>
            </a:lvl1pPr>
          </a:lstStyle>
          <a:p>
            <a:pPr>
              <a:defRPr/>
            </a:pPr>
            <a:fld id="{5CCCC862-81BB-4D02-8FB7-8B54BD9FCF1E}" type="slidenum">
              <a:rPr lang="el-GR"/>
              <a:pPr>
                <a:defRPr/>
              </a:pPr>
              <a:t>‹#›</a:t>
            </a:fld>
            <a:endParaRPr lang="el-GR"/>
          </a:p>
        </p:txBody>
      </p:sp>
      <p:sp>
        <p:nvSpPr>
          <p:cNvPr id="8" name="Rectangle 219"/>
          <p:cNvSpPr>
            <a:spLocks noGrp="1" noChangeArrowheads="1"/>
          </p:cNvSpPr>
          <p:nvPr>
            <p:ph type="dt" sz="half" idx="11"/>
          </p:nvPr>
        </p:nvSpPr>
        <p:spPr>
          <a:ln/>
        </p:spPr>
        <p:txBody>
          <a:bodyPr/>
          <a:lstStyle>
            <a:lvl1pPr>
              <a:defRPr/>
            </a:lvl1pPr>
          </a:lstStyle>
          <a:p>
            <a:pPr>
              <a:defRPr/>
            </a:pPr>
            <a:endParaRPr lang="el-GR"/>
          </a:p>
        </p:txBody>
      </p:sp>
      <p:sp>
        <p:nvSpPr>
          <p:cNvPr id="9" name="Rectangle 220"/>
          <p:cNvSpPr>
            <a:spLocks noGrp="1" noChangeArrowheads="1"/>
          </p:cNvSpPr>
          <p:nvPr>
            <p:ph type="ftr" sz="quarter" idx="12"/>
          </p:nvPr>
        </p:nvSpPr>
        <p:spPr>
          <a:ln/>
        </p:spPr>
        <p:txBody>
          <a:bodyPr/>
          <a:lstStyle>
            <a:lvl1pPr>
              <a:defRPr/>
            </a:lvl1pPr>
          </a:lstStyle>
          <a:p>
            <a:pPr>
              <a:defRPr/>
            </a:pPr>
            <a:endParaRPr lang="el-G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Rectangle 218"/>
          <p:cNvSpPr>
            <a:spLocks noGrp="1" noChangeArrowheads="1"/>
          </p:cNvSpPr>
          <p:nvPr>
            <p:ph type="sldNum" sz="quarter" idx="10"/>
          </p:nvPr>
        </p:nvSpPr>
        <p:spPr>
          <a:ln/>
        </p:spPr>
        <p:txBody>
          <a:bodyPr/>
          <a:lstStyle>
            <a:lvl1pPr>
              <a:defRPr/>
            </a:lvl1pPr>
          </a:lstStyle>
          <a:p>
            <a:pPr>
              <a:defRPr/>
            </a:pPr>
            <a:fld id="{3452E93A-5488-43C1-8EC2-6FFEA912750F}" type="slidenum">
              <a:rPr lang="el-GR"/>
              <a:pPr>
                <a:defRPr/>
              </a:pPr>
              <a:t>‹#›</a:t>
            </a:fld>
            <a:endParaRPr lang="el-GR"/>
          </a:p>
        </p:txBody>
      </p:sp>
      <p:sp>
        <p:nvSpPr>
          <p:cNvPr id="4" name="Rectangle 219"/>
          <p:cNvSpPr>
            <a:spLocks noGrp="1" noChangeArrowheads="1"/>
          </p:cNvSpPr>
          <p:nvPr>
            <p:ph type="dt" sz="half" idx="11"/>
          </p:nvPr>
        </p:nvSpPr>
        <p:spPr>
          <a:ln/>
        </p:spPr>
        <p:txBody>
          <a:bodyPr/>
          <a:lstStyle>
            <a:lvl1pPr>
              <a:defRPr/>
            </a:lvl1pPr>
          </a:lstStyle>
          <a:p>
            <a:pPr>
              <a:defRPr/>
            </a:pPr>
            <a:endParaRPr lang="el-GR"/>
          </a:p>
        </p:txBody>
      </p:sp>
      <p:sp>
        <p:nvSpPr>
          <p:cNvPr id="5" name="Rectangle 220"/>
          <p:cNvSpPr>
            <a:spLocks noGrp="1" noChangeArrowheads="1"/>
          </p:cNvSpPr>
          <p:nvPr>
            <p:ph type="ftr" sz="quarter" idx="12"/>
          </p:nvPr>
        </p:nvSpPr>
        <p:spPr>
          <a:ln/>
        </p:spPr>
        <p:txBody>
          <a:bodyPr/>
          <a:lstStyle>
            <a:lvl1pPr>
              <a:defRPr/>
            </a:lvl1pPr>
          </a:lstStyle>
          <a:p>
            <a:pPr>
              <a:defRPr/>
            </a:pPr>
            <a:endParaRPr lang="el-G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Rectangle 218"/>
          <p:cNvSpPr>
            <a:spLocks noGrp="1" noChangeArrowheads="1"/>
          </p:cNvSpPr>
          <p:nvPr>
            <p:ph type="sldNum" sz="quarter" idx="10"/>
          </p:nvPr>
        </p:nvSpPr>
        <p:spPr>
          <a:ln/>
        </p:spPr>
        <p:txBody>
          <a:bodyPr/>
          <a:lstStyle>
            <a:lvl1pPr>
              <a:defRPr/>
            </a:lvl1pPr>
          </a:lstStyle>
          <a:p>
            <a:pPr>
              <a:defRPr/>
            </a:pPr>
            <a:fld id="{5C52EB65-372F-4B92-84CA-ABBC232D16A7}" type="slidenum">
              <a:rPr lang="el-GR"/>
              <a:pPr>
                <a:defRPr/>
              </a:pPr>
              <a:t>‹#›</a:t>
            </a:fld>
            <a:endParaRPr lang="el-GR"/>
          </a:p>
        </p:txBody>
      </p:sp>
      <p:sp>
        <p:nvSpPr>
          <p:cNvPr id="3" name="Rectangle 219"/>
          <p:cNvSpPr>
            <a:spLocks noGrp="1" noChangeArrowheads="1"/>
          </p:cNvSpPr>
          <p:nvPr>
            <p:ph type="dt" sz="half" idx="11"/>
          </p:nvPr>
        </p:nvSpPr>
        <p:spPr>
          <a:ln/>
        </p:spPr>
        <p:txBody>
          <a:bodyPr/>
          <a:lstStyle>
            <a:lvl1pPr>
              <a:defRPr/>
            </a:lvl1pPr>
          </a:lstStyle>
          <a:p>
            <a:pPr>
              <a:defRPr/>
            </a:pPr>
            <a:endParaRPr lang="el-GR"/>
          </a:p>
        </p:txBody>
      </p:sp>
      <p:sp>
        <p:nvSpPr>
          <p:cNvPr id="4" name="Rectangle 220"/>
          <p:cNvSpPr>
            <a:spLocks noGrp="1" noChangeArrowheads="1"/>
          </p:cNvSpPr>
          <p:nvPr>
            <p:ph type="ftr" sz="quarter" idx="12"/>
          </p:nvPr>
        </p:nvSpPr>
        <p:spPr>
          <a:ln/>
        </p:spPr>
        <p:txBody>
          <a:bodyPr/>
          <a:lstStyle>
            <a:lvl1pPr>
              <a:defRPr/>
            </a:lvl1pPr>
          </a:lstStyle>
          <a:p>
            <a:pPr>
              <a:defRPr/>
            </a:pPr>
            <a:endParaRPr lang="el-G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1 - Τίτλος"/>
          <p:cNvSpPr>
            <a:spLocks noGrp="1"/>
          </p:cNvSpPr>
          <p:nvPr>
            <p:ph type="title"/>
          </p:nvPr>
        </p:nvSpPr>
        <p:spPr>
          <a:xfrm>
            <a:off x="457200" y="273050"/>
            <a:ext cx="3008313" cy="1162050"/>
          </a:xfrm>
        </p:spPr>
        <p:txBody>
          <a:bodyPr anchor="b"/>
          <a:lstStyle>
            <a:lvl1pPr algn="l">
              <a:defRPr sz="2000" b="1"/>
            </a:lvl1pPr>
          </a:lstStyle>
          <a:p>
            <a:r>
              <a:rPr lang="el-GR" smtClean="0"/>
              <a:t>Kλικ για επεξεργασία του τίτλου</a:t>
            </a:r>
            <a:endParaRPr lang="el-GR"/>
          </a:p>
        </p:txBody>
      </p:sp>
      <p:sp>
        <p:nvSpPr>
          <p:cNvPr id="3" name="2 - Θέση περιεχομένου"/>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κειμένου"/>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smtClean="0"/>
              <a:t>Kλικ για επεξεργασία των στυλ του υποδείγματος</a:t>
            </a:r>
          </a:p>
        </p:txBody>
      </p:sp>
      <p:sp>
        <p:nvSpPr>
          <p:cNvPr id="5" name="Rectangle 218"/>
          <p:cNvSpPr>
            <a:spLocks noGrp="1" noChangeArrowheads="1"/>
          </p:cNvSpPr>
          <p:nvPr>
            <p:ph type="sldNum" sz="quarter" idx="10"/>
          </p:nvPr>
        </p:nvSpPr>
        <p:spPr>
          <a:ln/>
        </p:spPr>
        <p:txBody>
          <a:bodyPr/>
          <a:lstStyle>
            <a:lvl1pPr>
              <a:defRPr/>
            </a:lvl1pPr>
          </a:lstStyle>
          <a:p>
            <a:pPr>
              <a:defRPr/>
            </a:pPr>
            <a:fld id="{078B9F71-20AE-4365-BD7B-0029F80C451D}" type="slidenum">
              <a:rPr lang="el-GR"/>
              <a:pPr>
                <a:defRPr/>
              </a:pPr>
              <a:t>‹#›</a:t>
            </a:fld>
            <a:endParaRPr lang="el-GR"/>
          </a:p>
        </p:txBody>
      </p:sp>
      <p:sp>
        <p:nvSpPr>
          <p:cNvPr id="6" name="Rectangle 219"/>
          <p:cNvSpPr>
            <a:spLocks noGrp="1" noChangeArrowheads="1"/>
          </p:cNvSpPr>
          <p:nvPr>
            <p:ph type="dt" sz="half" idx="11"/>
          </p:nvPr>
        </p:nvSpPr>
        <p:spPr>
          <a:ln/>
        </p:spPr>
        <p:txBody>
          <a:bodyPr/>
          <a:lstStyle>
            <a:lvl1pPr>
              <a:defRPr/>
            </a:lvl1pPr>
          </a:lstStyle>
          <a:p>
            <a:pPr>
              <a:defRPr/>
            </a:pPr>
            <a:endParaRPr lang="el-GR"/>
          </a:p>
        </p:txBody>
      </p:sp>
      <p:sp>
        <p:nvSpPr>
          <p:cNvPr id="7" name="Rectangle 220"/>
          <p:cNvSpPr>
            <a:spLocks noGrp="1" noChangeArrowheads="1"/>
          </p:cNvSpPr>
          <p:nvPr>
            <p:ph type="ftr" sz="quarter" idx="12"/>
          </p:nvPr>
        </p:nvSpPr>
        <p:spPr>
          <a:ln/>
        </p:spPr>
        <p:txBody>
          <a:bodyPr/>
          <a:lstStyle>
            <a:lvl1pPr>
              <a:defRPr/>
            </a:lvl1pPr>
          </a:lstStyle>
          <a:p>
            <a:pPr>
              <a:defRPr/>
            </a:pPr>
            <a:endParaRPr lang="el-G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1 - Τίτλος"/>
          <p:cNvSpPr>
            <a:spLocks noGrp="1"/>
          </p:cNvSpPr>
          <p:nvPr>
            <p:ph type="title"/>
          </p:nvPr>
        </p:nvSpPr>
        <p:spPr>
          <a:xfrm>
            <a:off x="1792288" y="4800600"/>
            <a:ext cx="5486400" cy="566738"/>
          </a:xfrm>
        </p:spPr>
        <p:txBody>
          <a:bodyPr anchor="b"/>
          <a:lstStyle>
            <a:lvl1pPr algn="l">
              <a:defRPr sz="2000" b="1"/>
            </a:lvl1pPr>
          </a:lstStyle>
          <a:p>
            <a:r>
              <a:rPr lang="el-GR" smtClean="0"/>
              <a:t>Kλικ για επεξεργασία του τίτλου</a:t>
            </a:r>
            <a:endParaRPr lang="el-GR"/>
          </a:p>
        </p:txBody>
      </p:sp>
      <p:sp>
        <p:nvSpPr>
          <p:cNvPr id="3" name="2 - Θέση εικόνας"/>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l-GR" noProof="0" smtClean="0"/>
          </a:p>
        </p:txBody>
      </p:sp>
      <p:sp>
        <p:nvSpPr>
          <p:cNvPr id="4" name="3 - Θέση κειμένου"/>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smtClean="0"/>
              <a:t>Kλικ για επεξεργασία των στυλ του υποδείγματος</a:t>
            </a:r>
          </a:p>
        </p:txBody>
      </p:sp>
      <p:sp>
        <p:nvSpPr>
          <p:cNvPr id="5" name="Rectangle 218"/>
          <p:cNvSpPr>
            <a:spLocks noGrp="1" noChangeArrowheads="1"/>
          </p:cNvSpPr>
          <p:nvPr>
            <p:ph type="sldNum" sz="quarter" idx="10"/>
          </p:nvPr>
        </p:nvSpPr>
        <p:spPr>
          <a:ln/>
        </p:spPr>
        <p:txBody>
          <a:bodyPr/>
          <a:lstStyle>
            <a:lvl1pPr>
              <a:defRPr/>
            </a:lvl1pPr>
          </a:lstStyle>
          <a:p>
            <a:pPr>
              <a:defRPr/>
            </a:pPr>
            <a:fld id="{869F7277-87F7-4318-81E4-BFB23A00CE71}" type="slidenum">
              <a:rPr lang="el-GR"/>
              <a:pPr>
                <a:defRPr/>
              </a:pPr>
              <a:t>‹#›</a:t>
            </a:fld>
            <a:endParaRPr lang="el-GR"/>
          </a:p>
        </p:txBody>
      </p:sp>
      <p:sp>
        <p:nvSpPr>
          <p:cNvPr id="6" name="Rectangle 219"/>
          <p:cNvSpPr>
            <a:spLocks noGrp="1" noChangeArrowheads="1"/>
          </p:cNvSpPr>
          <p:nvPr>
            <p:ph type="dt" sz="half" idx="11"/>
          </p:nvPr>
        </p:nvSpPr>
        <p:spPr>
          <a:ln/>
        </p:spPr>
        <p:txBody>
          <a:bodyPr/>
          <a:lstStyle>
            <a:lvl1pPr>
              <a:defRPr/>
            </a:lvl1pPr>
          </a:lstStyle>
          <a:p>
            <a:pPr>
              <a:defRPr/>
            </a:pPr>
            <a:endParaRPr lang="el-GR"/>
          </a:p>
        </p:txBody>
      </p:sp>
      <p:sp>
        <p:nvSpPr>
          <p:cNvPr id="7" name="Rectangle 220"/>
          <p:cNvSpPr>
            <a:spLocks noGrp="1" noChangeArrowheads="1"/>
          </p:cNvSpPr>
          <p:nvPr>
            <p:ph type="ftr" sz="quarter" idx="12"/>
          </p:nvPr>
        </p:nvSpPr>
        <p:spPr>
          <a:ln/>
        </p:spPr>
        <p:txBody>
          <a:bodyPr/>
          <a:lstStyle>
            <a:lvl1pPr>
              <a:defRPr/>
            </a:lvl1pPr>
          </a:lstStyle>
          <a:p>
            <a:pPr>
              <a:defRPr/>
            </a:pPr>
            <a:endParaRPr lang="el-G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κατακόρυφου κειμένου"/>
          <p:cNvSpPr>
            <a:spLocks noGrp="1"/>
          </p:cNvSpPr>
          <p:nvPr>
            <p:ph type="body" orient="vert" idx="1"/>
          </p:nvPr>
        </p:nvSpPr>
        <p:spPr/>
        <p:txBody>
          <a:bodyPr vert="eaVert"/>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Rectangle 218"/>
          <p:cNvSpPr>
            <a:spLocks noGrp="1" noChangeArrowheads="1"/>
          </p:cNvSpPr>
          <p:nvPr>
            <p:ph type="sldNum" sz="quarter" idx="10"/>
          </p:nvPr>
        </p:nvSpPr>
        <p:spPr>
          <a:ln/>
        </p:spPr>
        <p:txBody>
          <a:bodyPr/>
          <a:lstStyle>
            <a:lvl1pPr>
              <a:defRPr/>
            </a:lvl1pPr>
          </a:lstStyle>
          <a:p>
            <a:pPr>
              <a:defRPr/>
            </a:pPr>
            <a:fld id="{951E2D4C-C2B0-484C-9499-A82F027B8BF8}" type="slidenum">
              <a:rPr lang="el-GR"/>
              <a:pPr>
                <a:defRPr/>
              </a:pPr>
              <a:t>‹#›</a:t>
            </a:fld>
            <a:endParaRPr lang="el-GR"/>
          </a:p>
        </p:txBody>
      </p:sp>
      <p:sp>
        <p:nvSpPr>
          <p:cNvPr id="5" name="Rectangle 219"/>
          <p:cNvSpPr>
            <a:spLocks noGrp="1" noChangeArrowheads="1"/>
          </p:cNvSpPr>
          <p:nvPr>
            <p:ph type="dt" sz="half" idx="11"/>
          </p:nvPr>
        </p:nvSpPr>
        <p:spPr>
          <a:ln/>
        </p:spPr>
        <p:txBody>
          <a:bodyPr/>
          <a:lstStyle>
            <a:lvl1pPr>
              <a:defRPr/>
            </a:lvl1pPr>
          </a:lstStyle>
          <a:p>
            <a:pPr>
              <a:defRPr/>
            </a:pPr>
            <a:endParaRPr lang="el-GR"/>
          </a:p>
        </p:txBody>
      </p:sp>
      <p:sp>
        <p:nvSpPr>
          <p:cNvPr id="6" name="Rectangle 220"/>
          <p:cNvSpPr>
            <a:spLocks noGrp="1" noChangeArrowheads="1"/>
          </p:cNvSpPr>
          <p:nvPr>
            <p:ph type="ftr" sz="quarter" idx="12"/>
          </p:nvPr>
        </p:nvSpPr>
        <p:spPr>
          <a:ln/>
        </p:spPr>
        <p:txBody>
          <a:bodyPr/>
          <a:lstStyle>
            <a:lvl1pPr>
              <a:defRPr/>
            </a:lvl1pPr>
          </a:lstStyle>
          <a:p>
            <a:pPr>
              <a:defRPr/>
            </a:pPr>
            <a:endParaRPr lang="el-G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1 - Κατακόρυφος τίτλος"/>
          <p:cNvSpPr>
            <a:spLocks noGrp="1"/>
          </p:cNvSpPr>
          <p:nvPr>
            <p:ph type="title" orient="vert"/>
          </p:nvPr>
        </p:nvSpPr>
        <p:spPr>
          <a:xfrm>
            <a:off x="6629400" y="274638"/>
            <a:ext cx="2057400" cy="5859462"/>
          </a:xfrm>
        </p:spPr>
        <p:txBody>
          <a:bodyPr vert="eaVert"/>
          <a:lstStyle/>
          <a:p>
            <a:r>
              <a:rPr lang="el-GR" smtClean="0"/>
              <a:t>Kλικ για επεξεργασία του τίτλου</a:t>
            </a:r>
            <a:endParaRPr lang="el-GR"/>
          </a:p>
        </p:txBody>
      </p:sp>
      <p:sp>
        <p:nvSpPr>
          <p:cNvPr id="3" name="2 - Θέση κατακόρυφου κειμένου"/>
          <p:cNvSpPr>
            <a:spLocks noGrp="1"/>
          </p:cNvSpPr>
          <p:nvPr>
            <p:ph type="body" orient="vert" idx="1"/>
          </p:nvPr>
        </p:nvSpPr>
        <p:spPr>
          <a:xfrm>
            <a:off x="457200" y="274638"/>
            <a:ext cx="6019800" cy="5859462"/>
          </a:xfrm>
        </p:spPr>
        <p:txBody>
          <a:bodyPr vert="eaVert"/>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Rectangle 218"/>
          <p:cNvSpPr>
            <a:spLocks noGrp="1" noChangeArrowheads="1"/>
          </p:cNvSpPr>
          <p:nvPr>
            <p:ph type="sldNum" sz="quarter" idx="10"/>
          </p:nvPr>
        </p:nvSpPr>
        <p:spPr>
          <a:ln/>
        </p:spPr>
        <p:txBody>
          <a:bodyPr/>
          <a:lstStyle>
            <a:lvl1pPr>
              <a:defRPr/>
            </a:lvl1pPr>
          </a:lstStyle>
          <a:p>
            <a:pPr>
              <a:defRPr/>
            </a:pPr>
            <a:fld id="{9F598332-A917-4EE3-8995-BF1FE33D417E}" type="slidenum">
              <a:rPr lang="el-GR"/>
              <a:pPr>
                <a:defRPr/>
              </a:pPr>
              <a:t>‹#›</a:t>
            </a:fld>
            <a:endParaRPr lang="el-GR"/>
          </a:p>
        </p:txBody>
      </p:sp>
      <p:sp>
        <p:nvSpPr>
          <p:cNvPr id="5" name="Rectangle 219"/>
          <p:cNvSpPr>
            <a:spLocks noGrp="1" noChangeArrowheads="1"/>
          </p:cNvSpPr>
          <p:nvPr>
            <p:ph type="dt" sz="half" idx="11"/>
          </p:nvPr>
        </p:nvSpPr>
        <p:spPr>
          <a:ln/>
        </p:spPr>
        <p:txBody>
          <a:bodyPr/>
          <a:lstStyle>
            <a:lvl1pPr>
              <a:defRPr/>
            </a:lvl1pPr>
          </a:lstStyle>
          <a:p>
            <a:pPr>
              <a:defRPr/>
            </a:pPr>
            <a:endParaRPr lang="el-GR"/>
          </a:p>
        </p:txBody>
      </p:sp>
      <p:sp>
        <p:nvSpPr>
          <p:cNvPr id="6" name="Rectangle 220"/>
          <p:cNvSpPr>
            <a:spLocks noGrp="1" noChangeArrowheads="1"/>
          </p:cNvSpPr>
          <p:nvPr>
            <p:ph type="ftr" sz="quarter" idx="12"/>
          </p:nvPr>
        </p:nvSpPr>
        <p:spPr>
          <a:ln/>
        </p:spPr>
        <p:txBody>
          <a:bodyPr/>
          <a:lstStyle>
            <a:lvl1pPr>
              <a:defRPr/>
            </a:lvl1pPr>
          </a:lstStyle>
          <a:p>
            <a:pPr>
              <a:defRPr/>
            </a:pPr>
            <a:endParaRPr lang="el-G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2F2F47"/>
            </a:gs>
          </a:gsLst>
          <a:lin ang="2700000" scaled="1"/>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496888" y="1308100"/>
            <a:ext cx="10429876" cy="5908675"/>
            <a:chOff x="-313" y="824"/>
            <a:chExt cx="6570" cy="3722"/>
          </a:xfrm>
        </p:grpSpPr>
        <p:sp>
          <p:nvSpPr>
            <p:cNvPr id="10243" name="Rectangle 3"/>
            <p:cNvSpPr>
              <a:spLocks noChangeArrowheads="1"/>
            </p:cNvSpPr>
            <p:nvPr userDrawn="1"/>
          </p:nvSpPr>
          <p:spPr bwMode="hidden">
            <a:xfrm rot="20798144" flipV="1">
              <a:off x="-14" y="1033"/>
              <a:ext cx="1744"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44" name="Rectangle 4"/>
            <p:cNvSpPr>
              <a:spLocks noChangeArrowheads="1"/>
            </p:cNvSpPr>
            <p:nvPr userDrawn="1"/>
          </p:nvSpPr>
          <p:spPr bwMode="hidden">
            <a:xfrm rot="20774366" flipV="1">
              <a:off x="-24" y="1127"/>
              <a:ext cx="2033"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45" name="Rectangle 5"/>
            <p:cNvSpPr>
              <a:spLocks noChangeArrowheads="1"/>
            </p:cNvSpPr>
            <p:nvPr userDrawn="1"/>
          </p:nvSpPr>
          <p:spPr bwMode="hidden">
            <a:xfrm rot="20757421" flipV="1">
              <a:off x="-27" y="1198"/>
              <a:ext cx="2246"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46" name="Rectangle 6"/>
            <p:cNvSpPr>
              <a:spLocks noChangeArrowheads="1"/>
            </p:cNvSpPr>
            <p:nvPr userDrawn="1"/>
          </p:nvSpPr>
          <p:spPr bwMode="hidden">
            <a:xfrm rot="20684206" flipV="1">
              <a:off x="-43" y="1283"/>
              <a:ext cx="2476"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47" name="Rectangle 7"/>
            <p:cNvSpPr>
              <a:spLocks noChangeArrowheads="1"/>
            </p:cNvSpPr>
            <p:nvPr userDrawn="1"/>
          </p:nvSpPr>
          <p:spPr bwMode="hidden">
            <a:xfrm rot="20631226" flipV="1">
              <a:off x="-51" y="1397"/>
              <a:ext cx="2770"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48" name="Rectangle 8"/>
            <p:cNvSpPr>
              <a:spLocks noChangeArrowheads="1"/>
            </p:cNvSpPr>
            <p:nvPr userDrawn="1"/>
          </p:nvSpPr>
          <p:spPr bwMode="hidden">
            <a:xfrm rot="20554235" flipV="1">
              <a:off x="-65" y="1523"/>
              <a:ext cx="3058"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49" name="Rectangle 9"/>
            <p:cNvSpPr>
              <a:spLocks noChangeArrowheads="1"/>
            </p:cNvSpPr>
            <p:nvPr userDrawn="1"/>
          </p:nvSpPr>
          <p:spPr bwMode="hidden">
            <a:xfrm rot="20466593" flipV="1">
              <a:off x="-93" y="1694"/>
              <a:ext cx="3403" cy="6"/>
            </a:xfrm>
            <a:prstGeom prst="rect">
              <a:avLst/>
            </a:prstGeom>
            <a:gradFill rotWithShape="0">
              <a:gsLst>
                <a:gs pos="0">
                  <a:schemeClr val="bg1">
                    <a:gamma/>
                    <a:shade val="90980"/>
                    <a:invGamma/>
                  </a:schemeClr>
                </a:gs>
                <a:gs pos="100000">
                  <a:schemeClr val="bg1"/>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50" name="Rectangle 10"/>
            <p:cNvSpPr>
              <a:spLocks noChangeArrowheads="1"/>
            </p:cNvSpPr>
            <p:nvPr userDrawn="1"/>
          </p:nvSpPr>
          <p:spPr bwMode="hidden">
            <a:xfrm rot="20343219" flipV="1">
              <a:off x="-99" y="1863"/>
              <a:ext cx="3749" cy="6"/>
            </a:xfrm>
            <a:prstGeom prst="rect">
              <a:avLst/>
            </a:prstGeom>
            <a:gradFill rotWithShape="0">
              <a:gsLst>
                <a:gs pos="0">
                  <a:schemeClr val="bg1"/>
                </a:gs>
                <a:gs pos="100000">
                  <a:schemeClr val="bg1">
                    <a:gamma/>
                    <a:shade val="84706"/>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51" name="Rectangle 11"/>
            <p:cNvSpPr>
              <a:spLocks noChangeArrowheads="1"/>
            </p:cNvSpPr>
            <p:nvPr userDrawn="1"/>
          </p:nvSpPr>
          <p:spPr bwMode="hidden">
            <a:xfrm rot="20211065" flipV="1">
              <a:off x="-165" y="2053"/>
              <a:ext cx="4209" cy="6"/>
            </a:xfrm>
            <a:prstGeom prst="rect">
              <a:avLst/>
            </a:prstGeom>
            <a:gradFill rotWithShape="0">
              <a:gsLst>
                <a:gs pos="0">
                  <a:schemeClr val="bg1"/>
                </a:gs>
                <a:gs pos="100000">
                  <a:schemeClr val="bg1">
                    <a:gamma/>
                    <a:shade val="75686"/>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52" name="Rectangle 12"/>
            <p:cNvSpPr>
              <a:spLocks noChangeArrowheads="1"/>
            </p:cNvSpPr>
            <p:nvPr userDrawn="1"/>
          </p:nvSpPr>
          <p:spPr bwMode="hidden">
            <a:xfrm rot="20102912" flipV="1">
              <a:off x="-214" y="2289"/>
              <a:ext cx="4612" cy="6"/>
            </a:xfrm>
            <a:prstGeom prst="rect">
              <a:avLst/>
            </a:prstGeom>
            <a:gradFill rotWithShape="0">
              <a:gsLst>
                <a:gs pos="0">
                  <a:schemeClr val="bg1"/>
                </a:gs>
                <a:gs pos="100000">
                  <a:schemeClr val="bg1">
                    <a:gamma/>
                    <a:shade val="69804"/>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53" name="Rectangle 13"/>
            <p:cNvSpPr>
              <a:spLocks noChangeArrowheads="1"/>
            </p:cNvSpPr>
            <p:nvPr userDrawn="1"/>
          </p:nvSpPr>
          <p:spPr bwMode="hidden">
            <a:xfrm rot="19923405" flipV="1">
              <a:off x="-313" y="2617"/>
              <a:ext cx="5200"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54" name="Rectangle 14"/>
            <p:cNvSpPr>
              <a:spLocks noChangeArrowheads="1"/>
            </p:cNvSpPr>
            <p:nvPr userDrawn="1"/>
          </p:nvSpPr>
          <p:spPr bwMode="hidden">
            <a:xfrm rot="19686284" flipV="1">
              <a:off x="9" y="2881"/>
              <a:ext cx="5401" cy="6"/>
            </a:xfrm>
            <a:prstGeom prst="rect">
              <a:avLst/>
            </a:prstGeom>
            <a:gradFill rotWithShape="0">
              <a:gsLst>
                <a:gs pos="0">
                  <a:schemeClr val="bg1"/>
                </a:gs>
                <a:gs pos="100000">
                  <a:schemeClr val="bg1">
                    <a:gamma/>
                    <a:shade val="46275"/>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55" name="Rectangle 15"/>
            <p:cNvSpPr>
              <a:spLocks noChangeArrowheads="1"/>
            </p:cNvSpPr>
            <p:nvPr userDrawn="1"/>
          </p:nvSpPr>
          <p:spPr bwMode="hidden">
            <a:xfrm rot="19383534" flipV="1">
              <a:off x="1319" y="2928"/>
              <a:ext cx="4612" cy="6"/>
            </a:xfrm>
            <a:prstGeom prst="rect">
              <a:avLst/>
            </a:prstGeom>
            <a:gradFill rotWithShape="0">
              <a:gsLst>
                <a:gs pos="0">
                  <a:schemeClr val="bg1"/>
                </a:gs>
                <a:gs pos="100000">
                  <a:schemeClr val="bg1">
                    <a:gamma/>
                    <a:shade val="30196"/>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56" name="Rectangle 16"/>
            <p:cNvSpPr>
              <a:spLocks noChangeArrowheads="1"/>
            </p:cNvSpPr>
            <p:nvPr userDrawn="1"/>
          </p:nvSpPr>
          <p:spPr bwMode="hidden">
            <a:xfrm rot="18994182" flipV="1">
              <a:off x="2681" y="3071"/>
              <a:ext cx="3576" cy="6"/>
            </a:xfrm>
            <a:prstGeom prst="rect">
              <a:avLst/>
            </a:prstGeom>
            <a:gradFill rotWithShape="0">
              <a:gsLst>
                <a:gs pos="0">
                  <a:schemeClr val="bg1"/>
                </a:gs>
                <a:gs pos="100000">
                  <a:schemeClr val="bg1">
                    <a:gamma/>
                    <a:shade val="3137"/>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57" name="Rectangle 17"/>
            <p:cNvSpPr>
              <a:spLocks noChangeArrowheads="1"/>
            </p:cNvSpPr>
            <p:nvPr userDrawn="1"/>
          </p:nvSpPr>
          <p:spPr bwMode="hidden">
            <a:xfrm rot="18603245" flipV="1">
              <a:off x="4053" y="3503"/>
              <a:ext cx="2079" cy="6"/>
            </a:xfrm>
            <a:prstGeom prst="rect">
              <a:avLst/>
            </a:prstGeom>
            <a:gradFill rotWithShape="0">
              <a:gsLst>
                <a:gs pos="0">
                  <a:schemeClr val="bg1"/>
                </a:gs>
                <a:gs pos="100000">
                  <a:schemeClr val="bg1">
                    <a:gamma/>
                    <a:shade val="0"/>
                    <a:invGamma/>
                  </a:schemeClr>
                </a:gs>
              </a:gsLst>
              <a:lin ang="2700000" scaled="1"/>
            </a:gradFill>
            <a:ln w="9525">
              <a:noFill/>
              <a:miter lim="800000"/>
              <a:headEnd/>
              <a:tailEnd/>
            </a:ln>
            <a:effectLst/>
          </p:spPr>
          <p:txBody>
            <a:bodyPr rot="10800000" vert="eaVert"/>
            <a:lstStyle/>
            <a:p>
              <a:pPr algn="ctr">
                <a:defRPr/>
              </a:pPr>
              <a:endParaRPr lang="el-GR">
                <a:effectLst>
                  <a:outerShdw blurRad="38100" dist="38100" dir="2700000" algn="tl">
                    <a:srgbClr val="000000"/>
                  </a:outerShdw>
                </a:effectLst>
                <a:latin typeface="Arial" charset="0"/>
              </a:endParaRPr>
            </a:p>
          </p:txBody>
        </p:sp>
        <p:sp>
          <p:nvSpPr>
            <p:cNvPr id="10258" name="Rectangle 18"/>
            <p:cNvSpPr>
              <a:spLocks noChangeArrowheads="1"/>
            </p:cNvSpPr>
            <p:nvPr userDrawn="1"/>
          </p:nvSpPr>
          <p:spPr bwMode="hidden">
            <a:xfrm rot="39991575" flipH="1" flipV="1">
              <a:off x="5368" y="4167"/>
              <a:ext cx="501" cy="6"/>
            </a:xfrm>
            <a:prstGeom prst="rect">
              <a:avLst/>
            </a:prstGeom>
            <a:gradFill rotWithShape="0">
              <a:gsLst>
                <a:gs pos="0">
                  <a:schemeClr val="bg1"/>
                </a:gs>
                <a:gs pos="100000">
                  <a:schemeClr val="bg1">
                    <a:gamma/>
                    <a:shade val="0"/>
                    <a:invGamma/>
                  </a:schemeClr>
                </a:gs>
              </a:gsLst>
              <a:lin ang="2700000" scaled="1"/>
            </a:gradFill>
            <a:ln w="9525">
              <a:noFill/>
              <a:miter lim="800000"/>
              <a:headEnd/>
              <a:tailEnd/>
            </a:ln>
            <a:effectLst/>
          </p:spPr>
          <p:txBody>
            <a:bodyPr rot="10800000" vert="eaVert"/>
            <a:lstStyle/>
            <a:p>
              <a:pPr algn="ctr">
                <a:defRPr/>
              </a:pPr>
              <a:endParaRPr lang="el-GR">
                <a:effectLst>
                  <a:outerShdw blurRad="38100" dist="38100" dir="2700000" algn="tl">
                    <a:srgbClr val="000000"/>
                  </a:outerShdw>
                </a:effectLst>
                <a:latin typeface="Arial" charset="0"/>
              </a:endParaRPr>
            </a:p>
          </p:txBody>
        </p:sp>
        <p:sp>
          <p:nvSpPr>
            <p:cNvPr id="10259" name="Rectangle 19"/>
            <p:cNvSpPr>
              <a:spLocks noChangeArrowheads="1"/>
            </p:cNvSpPr>
            <p:nvPr userDrawn="1"/>
          </p:nvSpPr>
          <p:spPr bwMode="hidden">
            <a:xfrm rot="-20541361">
              <a:off x="-146" y="2360"/>
              <a:ext cx="6046" cy="6"/>
            </a:xfrm>
            <a:prstGeom prst="rect">
              <a:avLst/>
            </a:prstGeom>
            <a:gradFill rotWithShape="0">
              <a:gsLst>
                <a:gs pos="0">
                  <a:schemeClr val="bg1"/>
                </a:gs>
                <a:gs pos="100000">
                  <a:schemeClr val="bg1">
                    <a:gamma/>
                    <a:shade val="54510"/>
                    <a:invGamma/>
                  </a:schemeClr>
                </a:gs>
              </a:gsLst>
              <a:lin ang="2700000" scaled="1"/>
            </a:gradFill>
            <a:ln w="9525">
              <a:noFill/>
              <a:miter lim="800000"/>
              <a:headEnd/>
              <a:tailEnd/>
            </a:ln>
            <a:effectLst/>
          </p:spPr>
          <p:txBody>
            <a:bodyPr/>
            <a:lstStyle/>
            <a:p>
              <a:pPr algn="ctr">
                <a:defRPr/>
              </a:pPr>
              <a:endParaRPr lang="el-GR">
                <a:effectLst>
                  <a:outerShdw blurRad="38100" dist="38100" dir="2700000" algn="tl">
                    <a:srgbClr val="000000"/>
                  </a:outerShdw>
                </a:effectLst>
                <a:latin typeface="Arial" charset="0"/>
              </a:endParaRPr>
            </a:p>
          </p:txBody>
        </p:sp>
        <p:sp>
          <p:nvSpPr>
            <p:cNvPr id="10260" name="Rectangle 20"/>
            <p:cNvSpPr>
              <a:spLocks noChangeArrowheads="1"/>
            </p:cNvSpPr>
            <p:nvPr userDrawn="1"/>
          </p:nvSpPr>
          <p:spPr bwMode="hidden">
            <a:xfrm rot="-20036206">
              <a:off x="-198" y="3396"/>
              <a:ext cx="4142" cy="6"/>
            </a:xfrm>
            <a:prstGeom prst="rect">
              <a:avLst/>
            </a:prstGeom>
            <a:gradFill rotWithShape="0">
              <a:gsLst>
                <a:gs pos="0">
                  <a:schemeClr val="bg1"/>
                </a:gs>
                <a:gs pos="100000">
                  <a:schemeClr val="bg1">
                    <a:gamma/>
                    <a:shade val="63529"/>
                    <a:invGamma/>
                  </a:schemeClr>
                </a:gs>
              </a:gsLst>
              <a:lin ang="2700000" scaled="1"/>
            </a:gradFill>
            <a:ln w="9525">
              <a:noFill/>
              <a:miter lim="800000"/>
              <a:headEnd/>
              <a:tailEnd/>
            </a:ln>
            <a:effectLst/>
          </p:spPr>
          <p:txBody>
            <a:bodyPr/>
            <a:lstStyle/>
            <a:p>
              <a:pPr algn="ctr">
                <a:defRPr/>
              </a:pPr>
              <a:endParaRPr lang="el-GR">
                <a:effectLst>
                  <a:outerShdw blurRad="38100" dist="38100" dir="2700000" algn="tl">
                    <a:srgbClr val="000000"/>
                  </a:outerShdw>
                </a:effectLst>
                <a:latin typeface="Arial" charset="0"/>
              </a:endParaRPr>
            </a:p>
          </p:txBody>
        </p:sp>
        <p:sp>
          <p:nvSpPr>
            <p:cNvPr id="10261" name="Rectangle 21"/>
            <p:cNvSpPr>
              <a:spLocks noChangeArrowheads="1"/>
            </p:cNvSpPr>
            <p:nvPr userDrawn="1"/>
          </p:nvSpPr>
          <p:spPr bwMode="hidden">
            <a:xfrm rot="1732981">
              <a:off x="-165" y="3624"/>
              <a:ext cx="2804" cy="6"/>
            </a:xfrm>
            <a:prstGeom prst="rect">
              <a:avLst/>
            </a:prstGeom>
            <a:gradFill rotWithShape="0">
              <a:gsLst>
                <a:gs pos="0">
                  <a:schemeClr val="bg1"/>
                </a:gs>
                <a:gs pos="100000">
                  <a:schemeClr val="bg1">
                    <a:gamma/>
                    <a:shade val="63529"/>
                    <a:invGamma/>
                  </a:schemeClr>
                </a:gs>
              </a:gsLst>
              <a:lin ang="2700000" scaled="1"/>
            </a:gradFill>
            <a:ln w="9525">
              <a:noFill/>
              <a:miter lim="800000"/>
              <a:headEnd/>
              <a:tailEnd/>
            </a:ln>
            <a:effectLst/>
          </p:spPr>
          <p:txBody>
            <a:bodyPr/>
            <a:lstStyle/>
            <a:p>
              <a:pPr algn="ctr">
                <a:defRPr/>
              </a:pPr>
              <a:endParaRPr lang="el-GR">
                <a:effectLst>
                  <a:outerShdw blurRad="38100" dist="38100" dir="2700000" algn="tl">
                    <a:srgbClr val="000000"/>
                  </a:outerShdw>
                </a:effectLst>
                <a:latin typeface="Arial" charset="0"/>
              </a:endParaRPr>
            </a:p>
          </p:txBody>
        </p:sp>
        <p:sp>
          <p:nvSpPr>
            <p:cNvPr id="10262" name="Rectangle 22"/>
            <p:cNvSpPr>
              <a:spLocks noChangeArrowheads="1"/>
            </p:cNvSpPr>
            <p:nvPr userDrawn="1"/>
          </p:nvSpPr>
          <p:spPr bwMode="hidden">
            <a:xfrm rot="1969083">
              <a:off x="-110" y="3922"/>
              <a:ext cx="1400" cy="6"/>
            </a:xfrm>
            <a:prstGeom prst="rect">
              <a:avLst/>
            </a:prstGeom>
            <a:gradFill rotWithShape="0">
              <a:gsLst>
                <a:gs pos="0">
                  <a:schemeClr val="bg1"/>
                </a:gs>
                <a:gs pos="100000">
                  <a:schemeClr val="bg1">
                    <a:gamma/>
                    <a:shade val="69804"/>
                    <a:invGamma/>
                  </a:schemeClr>
                </a:gs>
              </a:gsLst>
              <a:lin ang="2700000" scaled="1"/>
            </a:gradFill>
            <a:ln w="9525">
              <a:noFill/>
              <a:miter lim="800000"/>
              <a:headEnd/>
              <a:tailEnd/>
            </a:ln>
            <a:effectLst/>
          </p:spPr>
          <p:txBody>
            <a:bodyPr/>
            <a:lstStyle/>
            <a:p>
              <a:pPr algn="ctr">
                <a:defRPr/>
              </a:pPr>
              <a:endParaRPr lang="el-GR">
                <a:effectLst>
                  <a:outerShdw blurRad="38100" dist="38100" dir="2700000" algn="tl">
                    <a:srgbClr val="000000"/>
                  </a:outerShdw>
                </a:effectLst>
                <a:latin typeface="Arial" charset="0"/>
              </a:endParaRPr>
            </a:p>
          </p:txBody>
        </p:sp>
        <p:sp>
          <p:nvSpPr>
            <p:cNvPr id="10263" name="Rectangle 23"/>
            <p:cNvSpPr>
              <a:spLocks noChangeArrowheads="1"/>
            </p:cNvSpPr>
            <p:nvPr userDrawn="1"/>
          </p:nvSpPr>
          <p:spPr bwMode="hidden">
            <a:xfrm rot="-20213826">
              <a:off x="-216" y="3221"/>
              <a:ext cx="5477" cy="6"/>
            </a:xfrm>
            <a:prstGeom prst="rect">
              <a:avLst/>
            </a:prstGeom>
            <a:gradFill rotWithShape="0">
              <a:gsLst>
                <a:gs pos="0">
                  <a:schemeClr val="bg1"/>
                </a:gs>
                <a:gs pos="100000">
                  <a:schemeClr val="bg1">
                    <a:gamma/>
                    <a:shade val="48627"/>
                    <a:invGamma/>
                  </a:schemeClr>
                </a:gs>
              </a:gsLst>
              <a:lin ang="2700000" scaled="1"/>
            </a:gradFill>
            <a:ln w="9525">
              <a:noFill/>
              <a:miter lim="800000"/>
              <a:headEnd/>
              <a:tailEnd/>
            </a:ln>
            <a:effectLst/>
          </p:spPr>
          <p:txBody>
            <a:bodyPr/>
            <a:lstStyle/>
            <a:p>
              <a:pPr algn="ctr">
                <a:defRPr/>
              </a:pPr>
              <a:endParaRPr lang="el-GR">
                <a:effectLst>
                  <a:outerShdw blurRad="38100" dist="38100" dir="2700000" algn="tl">
                    <a:srgbClr val="000000"/>
                  </a:outerShdw>
                </a:effectLst>
                <a:latin typeface="Arial" charset="0"/>
              </a:endParaRPr>
            </a:p>
          </p:txBody>
        </p:sp>
        <p:sp>
          <p:nvSpPr>
            <p:cNvPr id="10264" name="Rectangle 24"/>
            <p:cNvSpPr>
              <a:spLocks noChangeArrowheads="1"/>
            </p:cNvSpPr>
            <p:nvPr userDrawn="1"/>
          </p:nvSpPr>
          <p:spPr bwMode="hidden">
            <a:xfrm rot="22583969">
              <a:off x="-115" y="2129"/>
              <a:ext cx="6016" cy="6"/>
            </a:xfrm>
            <a:prstGeom prst="rect">
              <a:avLst/>
            </a:prstGeom>
            <a:gradFill rotWithShape="0">
              <a:gsLst>
                <a:gs pos="0">
                  <a:schemeClr val="bg1"/>
                </a:gs>
                <a:gs pos="100000">
                  <a:schemeClr val="bg1">
                    <a:gamma/>
                    <a:shade val="57647"/>
                    <a:invGamma/>
                  </a:schemeClr>
                </a:gs>
              </a:gsLst>
              <a:lin ang="0" scaled="1"/>
            </a:gradFill>
            <a:ln w="9525">
              <a:noFill/>
              <a:miter lim="800000"/>
              <a:headEnd/>
              <a:tailEnd/>
            </a:ln>
            <a:effectLst/>
          </p:spPr>
          <p:txBody>
            <a:bodyPr/>
            <a:lstStyle/>
            <a:p>
              <a:pPr algn="ctr">
                <a:defRPr/>
              </a:pPr>
              <a:endParaRPr lang="el-GR">
                <a:effectLst>
                  <a:outerShdw blurRad="38100" dist="38100" dir="2700000" algn="tl">
                    <a:srgbClr val="000000"/>
                  </a:outerShdw>
                </a:effectLst>
                <a:latin typeface="Arial" charset="0"/>
              </a:endParaRPr>
            </a:p>
          </p:txBody>
        </p:sp>
        <p:sp>
          <p:nvSpPr>
            <p:cNvPr id="10265" name="Rectangle 25"/>
            <p:cNvSpPr>
              <a:spLocks noChangeArrowheads="1"/>
            </p:cNvSpPr>
            <p:nvPr userDrawn="1"/>
          </p:nvSpPr>
          <p:spPr bwMode="hidden">
            <a:xfrm rot="930109" flipV="1">
              <a:off x="80" y="1946"/>
              <a:ext cx="5756"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66" name="Rectangle 26"/>
            <p:cNvSpPr>
              <a:spLocks noChangeArrowheads="1"/>
            </p:cNvSpPr>
            <p:nvPr userDrawn="1"/>
          </p:nvSpPr>
          <p:spPr bwMode="hidden">
            <a:xfrm rot="-20731987">
              <a:off x="374" y="1802"/>
              <a:ext cx="5475"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defRPr/>
              </a:pPr>
              <a:endParaRPr lang="el-GR">
                <a:effectLst>
                  <a:outerShdw blurRad="38100" dist="38100" dir="2700000" algn="tl">
                    <a:srgbClr val="000000"/>
                  </a:outerShdw>
                </a:effectLst>
                <a:latin typeface="Arial" charset="0"/>
              </a:endParaRPr>
            </a:p>
          </p:txBody>
        </p:sp>
        <p:sp>
          <p:nvSpPr>
            <p:cNvPr id="10267" name="Rectangle 27"/>
            <p:cNvSpPr>
              <a:spLocks noChangeArrowheads="1"/>
            </p:cNvSpPr>
            <p:nvPr userDrawn="1"/>
          </p:nvSpPr>
          <p:spPr bwMode="hidden">
            <a:xfrm rot="-64024402">
              <a:off x="848" y="1582"/>
              <a:ext cx="4976"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defRPr/>
              </a:pPr>
              <a:endParaRPr lang="el-GR">
                <a:effectLst>
                  <a:outerShdw blurRad="38100" dist="38100" dir="2700000" algn="tl">
                    <a:srgbClr val="000000"/>
                  </a:outerShdw>
                </a:effectLst>
                <a:latin typeface="Arial" charset="0"/>
              </a:endParaRPr>
            </a:p>
          </p:txBody>
        </p:sp>
        <p:sp>
          <p:nvSpPr>
            <p:cNvPr id="10268" name="Rectangle 28"/>
            <p:cNvSpPr>
              <a:spLocks noChangeArrowheads="1"/>
            </p:cNvSpPr>
            <p:nvPr userDrawn="1"/>
          </p:nvSpPr>
          <p:spPr bwMode="hidden">
            <a:xfrm rot="-42464612">
              <a:off x="1053" y="1476"/>
              <a:ext cx="4759"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a:lstStyle/>
            <a:p>
              <a:pPr algn="ctr">
                <a:defRPr/>
              </a:pPr>
              <a:endParaRPr lang="el-GR">
                <a:effectLst>
                  <a:outerShdw blurRad="38100" dist="38100" dir="2700000" algn="tl">
                    <a:srgbClr val="000000"/>
                  </a:outerShdw>
                </a:effectLst>
                <a:latin typeface="Arial" charset="0"/>
              </a:endParaRPr>
            </a:p>
          </p:txBody>
        </p:sp>
        <p:sp>
          <p:nvSpPr>
            <p:cNvPr id="10269" name="Rectangle 29"/>
            <p:cNvSpPr>
              <a:spLocks noChangeArrowheads="1"/>
            </p:cNvSpPr>
            <p:nvPr userDrawn="1"/>
          </p:nvSpPr>
          <p:spPr bwMode="hidden">
            <a:xfrm rot="-20907336">
              <a:off x="1244" y="1377"/>
              <a:ext cx="4557"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a:lstStyle/>
            <a:p>
              <a:pPr algn="ctr">
                <a:defRPr/>
              </a:pPr>
              <a:endParaRPr lang="el-GR">
                <a:effectLst>
                  <a:outerShdw blurRad="38100" dist="38100" dir="2700000" algn="tl">
                    <a:srgbClr val="000000"/>
                  </a:outerShdw>
                </a:effectLst>
                <a:latin typeface="Arial" charset="0"/>
              </a:endParaRPr>
            </a:p>
          </p:txBody>
        </p:sp>
        <p:sp>
          <p:nvSpPr>
            <p:cNvPr id="10270" name="Rectangle 30"/>
            <p:cNvSpPr>
              <a:spLocks noChangeArrowheads="1"/>
            </p:cNvSpPr>
            <p:nvPr userDrawn="1"/>
          </p:nvSpPr>
          <p:spPr bwMode="hidden">
            <a:xfrm rot="655690" flipV="1">
              <a:off x="1487" y="1305"/>
              <a:ext cx="4314"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71" name="Rectangle 31"/>
            <p:cNvSpPr>
              <a:spLocks noChangeArrowheads="1"/>
            </p:cNvSpPr>
            <p:nvPr userDrawn="1"/>
          </p:nvSpPr>
          <p:spPr bwMode="hidden">
            <a:xfrm rot="636921" flipV="1">
              <a:off x="1650" y="1218"/>
              <a:ext cx="4154" cy="6"/>
            </a:xfrm>
            <a:prstGeom prst="rect">
              <a:avLst/>
            </a:prstGeom>
            <a:gradFill rotWithShape="0">
              <a:gsLst>
                <a:gs pos="0">
                  <a:schemeClr val="bg1"/>
                </a:gs>
                <a:gs pos="100000">
                  <a:schemeClr val="bg1">
                    <a:gamma/>
                    <a:shade val="66667"/>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72" name="Rectangle 32"/>
            <p:cNvSpPr>
              <a:spLocks noChangeArrowheads="1"/>
            </p:cNvSpPr>
            <p:nvPr userDrawn="1"/>
          </p:nvSpPr>
          <p:spPr bwMode="hidden">
            <a:xfrm rot="803987" flipV="1">
              <a:off x="611" y="1684"/>
              <a:ext cx="5204" cy="6"/>
            </a:xfrm>
            <a:prstGeom prst="rect">
              <a:avLst/>
            </a:prstGeom>
            <a:gradFill rotWithShape="0">
              <a:gsLst>
                <a:gs pos="0">
                  <a:schemeClr val="bg1"/>
                </a:gs>
                <a:gs pos="100000">
                  <a:schemeClr val="bg1">
                    <a:gamma/>
                    <a:shade val="60784"/>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73" name="Rectangle 33"/>
            <p:cNvSpPr>
              <a:spLocks noChangeArrowheads="1"/>
            </p:cNvSpPr>
            <p:nvPr userDrawn="1"/>
          </p:nvSpPr>
          <p:spPr bwMode="hidden">
            <a:xfrm rot="1273217" flipV="1">
              <a:off x="-204" y="2976"/>
              <a:ext cx="6150" cy="6"/>
            </a:xfrm>
            <a:prstGeom prst="rect">
              <a:avLst/>
            </a:prstGeom>
            <a:gradFill rotWithShape="0">
              <a:gsLst>
                <a:gs pos="0">
                  <a:schemeClr val="bg1"/>
                </a:gs>
                <a:gs pos="100000">
                  <a:schemeClr val="bg1">
                    <a:gamma/>
                    <a:shade val="54510"/>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74" name="Rectangle 34"/>
            <p:cNvSpPr>
              <a:spLocks noChangeArrowheads="1"/>
            </p:cNvSpPr>
            <p:nvPr userDrawn="1"/>
          </p:nvSpPr>
          <p:spPr bwMode="hidden">
            <a:xfrm rot="1169729" flipV="1">
              <a:off x="-174" y="2663"/>
              <a:ext cx="6104" cy="6"/>
            </a:xfrm>
            <a:prstGeom prst="rect">
              <a:avLst/>
            </a:prstGeom>
            <a:gradFill rotWithShape="0">
              <a:gsLst>
                <a:gs pos="0">
                  <a:schemeClr val="bg1"/>
                </a:gs>
                <a:gs pos="100000">
                  <a:schemeClr val="bg1">
                    <a:gamma/>
                    <a:shade val="51373"/>
                    <a:invGamma/>
                  </a:schemeClr>
                </a:gs>
              </a:gsLst>
              <a:lin ang="2700000" scaled="1"/>
            </a:gradFill>
            <a:ln w="9525">
              <a:noFill/>
              <a:miter lim="800000"/>
              <a:headEnd/>
              <a:tailEnd/>
            </a:ln>
            <a:effectLst/>
          </p:spPr>
          <p:txBody>
            <a:bodyPr rot="10800000"/>
            <a:lstStyle/>
            <a:p>
              <a:pPr algn="ctr">
                <a:defRPr/>
              </a:pPr>
              <a:endParaRPr lang="el-GR">
                <a:effectLst>
                  <a:outerShdw blurRad="38100" dist="38100" dir="2700000" algn="tl">
                    <a:srgbClr val="000000"/>
                  </a:outerShdw>
                </a:effectLst>
                <a:latin typeface="Arial" charset="0"/>
              </a:endParaRPr>
            </a:p>
          </p:txBody>
        </p:sp>
        <p:sp>
          <p:nvSpPr>
            <p:cNvPr id="10275" name="Oval 35"/>
            <p:cNvSpPr>
              <a:spLocks noChangeArrowheads="1"/>
            </p:cNvSpPr>
            <p:nvPr/>
          </p:nvSpPr>
          <p:spPr bwMode="hidden">
            <a:xfrm>
              <a:off x="740" y="3359"/>
              <a:ext cx="168" cy="96"/>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76" name="Oval 36"/>
            <p:cNvSpPr>
              <a:spLocks noChangeArrowheads="1"/>
            </p:cNvSpPr>
            <p:nvPr/>
          </p:nvSpPr>
          <p:spPr bwMode="hidden">
            <a:xfrm>
              <a:off x="236" y="3074"/>
              <a:ext cx="168" cy="95"/>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77" name="Oval 37"/>
            <p:cNvSpPr>
              <a:spLocks noChangeArrowheads="1"/>
            </p:cNvSpPr>
            <p:nvPr/>
          </p:nvSpPr>
          <p:spPr bwMode="hidden">
            <a:xfrm>
              <a:off x="159" y="3652"/>
              <a:ext cx="196" cy="106"/>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78" name="Oval 38"/>
            <p:cNvSpPr>
              <a:spLocks noChangeArrowheads="1"/>
            </p:cNvSpPr>
            <p:nvPr/>
          </p:nvSpPr>
          <p:spPr bwMode="hidden">
            <a:xfrm>
              <a:off x="2077" y="2661"/>
              <a:ext cx="156" cy="84"/>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79" name="Oval 39"/>
            <p:cNvSpPr>
              <a:spLocks noChangeArrowheads="1"/>
            </p:cNvSpPr>
            <p:nvPr/>
          </p:nvSpPr>
          <p:spPr bwMode="hidden">
            <a:xfrm>
              <a:off x="1223" y="3076"/>
              <a:ext cx="168" cy="9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80" name="Oval 40"/>
            <p:cNvSpPr>
              <a:spLocks noChangeArrowheads="1"/>
            </p:cNvSpPr>
            <p:nvPr/>
          </p:nvSpPr>
          <p:spPr bwMode="hidden">
            <a:xfrm>
              <a:off x="1686" y="2857"/>
              <a:ext cx="156" cy="9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81" name="Oval 41"/>
            <p:cNvSpPr>
              <a:spLocks noChangeArrowheads="1"/>
            </p:cNvSpPr>
            <p:nvPr/>
          </p:nvSpPr>
          <p:spPr bwMode="hidden">
            <a:xfrm>
              <a:off x="750" y="2839"/>
              <a:ext cx="151" cy="89"/>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82" name="Oval 42"/>
            <p:cNvSpPr>
              <a:spLocks noChangeArrowheads="1"/>
            </p:cNvSpPr>
            <p:nvPr/>
          </p:nvSpPr>
          <p:spPr bwMode="hidden">
            <a:xfrm>
              <a:off x="367" y="2656"/>
              <a:ext cx="150" cy="84"/>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83" name="Oval 43"/>
            <p:cNvSpPr>
              <a:spLocks noChangeArrowheads="1"/>
            </p:cNvSpPr>
            <p:nvPr/>
          </p:nvSpPr>
          <p:spPr bwMode="hidden">
            <a:xfrm>
              <a:off x="1172" y="2642"/>
              <a:ext cx="156" cy="83"/>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84" name="Oval 44"/>
            <p:cNvSpPr>
              <a:spLocks noChangeArrowheads="1"/>
            </p:cNvSpPr>
            <p:nvPr/>
          </p:nvSpPr>
          <p:spPr bwMode="hidden">
            <a:xfrm>
              <a:off x="2401" y="2485"/>
              <a:ext cx="156" cy="83"/>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85" name="Oval 45"/>
            <p:cNvSpPr>
              <a:spLocks noChangeArrowheads="1"/>
            </p:cNvSpPr>
            <p:nvPr/>
          </p:nvSpPr>
          <p:spPr bwMode="hidden">
            <a:xfrm>
              <a:off x="1910" y="2314"/>
              <a:ext cx="134" cy="73"/>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86" name="Oval 46"/>
            <p:cNvSpPr>
              <a:spLocks noChangeArrowheads="1"/>
            </p:cNvSpPr>
            <p:nvPr/>
          </p:nvSpPr>
          <p:spPr bwMode="hidden">
            <a:xfrm>
              <a:off x="2254" y="2154"/>
              <a:ext cx="134"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87" name="Oval 47"/>
            <p:cNvSpPr>
              <a:spLocks noChangeArrowheads="1"/>
            </p:cNvSpPr>
            <p:nvPr/>
          </p:nvSpPr>
          <p:spPr bwMode="hidden">
            <a:xfrm>
              <a:off x="2742" y="2305"/>
              <a:ext cx="140" cy="72"/>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88" name="Oval 48"/>
            <p:cNvSpPr>
              <a:spLocks noChangeArrowheads="1"/>
            </p:cNvSpPr>
            <p:nvPr/>
          </p:nvSpPr>
          <p:spPr bwMode="hidden">
            <a:xfrm>
              <a:off x="2812" y="1898"/>
              <a:ext cx="129"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89" name="Oval 49"/>
            <p:cNvSpPr>
              <a:spLocks noChangeArrowheads="1"/>
            </p:cNvSpPr>
            <p:nvPr/>
          </p:nvSpPr>
          <p:spPr bwMode="hidden">
            <a:xfrm>
              <a:off x="3721" y="1792"/>
              <a:ext cx="128"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90" name="Oval 50"/>
            <p:cNvSpPr>
              <a:spLocks noChangeArrowheads="1"/>
            </p:cNvSpPr>
            <p:nvPr/>
          </p:nvSpPr>
          <p:spPr bwMode="hidden">
            <a:xfrm>
              <a:off x="3528" y="1896"/>
              <a:ext cx="128" cy="61"/>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91" name="Oval 51"/>
            <p:cNvSpPr>
              <a:spLocks noChangeArrowheads="1"/>
            </p:cNvSpPr>
            <p:nvPr/>
          </p:nvSpPr>
          <p:spPr bwMode="hidden">
            <a:xfrm>
              <a:off x="3064" y="1778"/>
              <a:ext cx="128" cy="62"/>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92" name="Oval 52"/>
            <p:cNvSpPr>
              <a:spLocks noChangeArrowheads="1"/>
            </p:cNvSpPr>
            <p:nvPr/>
          </p:nvSpPr>
          <p:spPr bwMode="hidden">
            <a:xfrm>
              <a:off x="3277" y="2024"/>
              <a:ext cx="134" cy="73"/>
            </a:xfrm>
            <a:prstGeom prst="ellipse">
              <a:avLst/>
            </a:prstGeom>
            <a:gradFill rotWithShape="0">
              <a:gsLst>
                <a:gs pos="0">
                  <a:schemeClr val="bg1"/>
                </a:gs>
                <a:gs pos="100000">
                  <a:schemeClr val="bg1">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93" name="Oval 53"/>
            <p:cNvSpPr>
              <a:spLocks noChangeArrowheads="1"/>
            </p:cNvSpPr>
            <p:nvPr/>
          </p:nvSpPr>
          <p:spPr bwMode="hidden">
            <a:xfrm>
              <a:off x="3027" y="2160"/>
              <a:ext cx="133" cy="61"/>
            </a:xfrm>
            <a:prstGeom prst="ellipse">
              <a:avLst/>
            </a:prstGeom>
            <a:gradFill rotWithShape="0">
              <a:gsLst>
                <a:gs pos="0">
                  <a:schemeClr val="bg1"/>
                </a:gs>
                <a:gs pos="100000">
                  <a:schemeClr val="bg1">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94" name="Oval 54"/>
            <p:cNvSpPr>
              <a:spLocks noChangeArrowheads="1"/>
            </p:cNvSpPr>
            <p:nvPr/>
          </p:nvSpPr>
          <p:spPr bwMode="hidden">
            <a:xfrm>
              <a:off x="1569" y="2453"/>
              <a:ext cx="150" cy="90"/>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95" name="Oval 55"/>
            <p:cNvSpPr>
              <a:spLocks noChangeArrowheads="1"/>
            </p:cNvSpPr>
            <p:nvPr/>
          </p:nvSpPr>
          <p:spPr bwMode="hidden">
            <a:xfrm>
              <a:off x="1863" y="2028"/>
              <a:ext cx="139" cy="6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96" name="Oval 56"/>
            <p:cNvSpPr>
              <a:spLocks noChangeArrowheads="1"/>
            </p:cNvSpPr>
            <p:nvPr/>
          </p:nvSpPr>
          <p:spPr bwMode="hidden">
            <a:xfrm>
              <a:off x="1513" y="2175"/>
              <a:ext cx="139" cy="6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97" name="Oval 57"/>
            <p:cNvSpPr>
              <a:spLocks noChangeArrowheads="1"/>
            </p:cNvSpPr>
            <p:nvPr/>
          </p:nvSpPr>
          <p:spPr bwMode="hidden">
            <a:xfrm>
              <a:off x="1191" y="2311"/>
              <a:ext cx="134" cy="72"/>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98" name="Oval 58"/>
            <p:cNvSpPr>
              <a:spLocks noChangeArrowheads="1"/>
            </p:cNvSpPr>
            <p:nvPr/>
          </p:nvSpPr>
          <p:spPr bwMode="hidden">
            <a:xfrm>
              <a:off x="1154" y="2047"/>
              <a:ext cx="134"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299" name="Oval 59"/>
            <p:cNvSpPr>
              <a:spLocks noChangeArrowheads="1"/>
            </p:cNvSpPr>
            <p:nvPr/>
          </p:nvSpPr>
          <p:spPr bwMode="hidden">
            <a:xfrm>
              <a:off x="1142" y="1803"/>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00" name="Oval 60"/>
            <p:cNvSpPr>
              <a:spLocks noChangeArrowheads="1"/>
            </p:cNvSpPr>
            <p:nvPr/>
          </p:nvSpPr>
          <p:spPr bwMode="hidden">
            <a:xfrm>
              <a:off x="1500" y="1912"/>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01" name="Oval 61"/>
            <p:cNvSpPr>
              <a:spLocks noChangeArrowheads="1"/>
            </p:cNvSpPr>
            <p:nvPr/>
          </p:nvSpPr>
          <p:spPr bwMode="hidden">
            <a:xfrm>
              <a:off x="1804" y="1801"/>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02" name="Oval 62"/>
            <p:cNvSpPr>
              <a:spLocks noChangeArrowheads="1"/>
            </p:cNvSpPr>
            <p:nvPr/>
          </p:nvSpPr>
          <p:spPr bwMode="hidden">
            <a:xfrm>
              <a:off x="2159" y="1905"/>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03" name="Oval 63"/>
            <p:cNvSpPr>
              <a:spLocks noChangeArrowheads="1"/>
            </p:cNvSpPr>
            <p:nvPr/>
          </p:nvSpPr>
          <p:spPr bwMode="hidden">
            <a:xfrm>
              <a:off x="2432" y="1787"/>
              <a:ext cx="128"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04" name="Oval 64"/>
            <p:cNvSpPr>
              <a:spLocks noChangeArrowheads="1"/>
            </p:cNvSpPr>
            <p:nvPr/>
          </p:nvSpPr>
          <p:spPr bwMode="hidden">
            <a:xfrm>
              <a:off x="470" y="2032"/>
              <a:ext cx="134" cy="73"/>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05" name="Oval 65"/>
            <p:cNvSpPr>
              <a:spLocks noChangeArrowheads="1"/>
            </p:cNvSpPr>
            <p:nvPr/>
          </p:nvSpPr>
          <p:spPr bwMode="hidden">
            <a:xfrm>
              <a:off x="68" y="2166"/>
              <a:ext cx="134" cy="73"/>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06" name="Oval 66"/>
            <p:cNvSpPr>
              <a:spLocks noChangeArrowheads="1"/>
            </p:cNvSpPr>
            <p:nvPr/>
          </p:nvSpPr>
          <p:spPr bwMode="hidden">
            <a:xfrm>
              <a:off x="798" y="1916"/>
              <a:ext cx="128" cy="6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07" name="Oval 67"/>
            <p:cNvSpPr>
              <a:spLocks noChangeArrowheads="1"/>
            </p:cNvSpPr>
            <p:nvPr/>
          </p:nvSpPr>
          <p:spPr bwMode="hidden">
            <a:xfrm>
              <a:off x="455" y="1797"/>
              <a:ext cx="128" cy="6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08" name="Oval 68"/>
            <p:cNvSpPr>
              <a:spLocks noChangeArrowheads="1"/>
            </p:cNvSpPr>
            <p:nvPr/>
          </p:nvSpPr>
          <p:spPr bwMode="hidden">
            <a:xfrm>
              <a:off x="113" y="1901"/>
              <a:ext cx="128" cy="6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09" name="Oval 69"/>
            <p:cNvSpPr>
              <a:spLocks noChangeArrowheads="1"/>
            </p:cNvSpPr>
            <p:nvPr/>
          </p:nvSpPr>
          <p:spPr bwMode="hidden">
            <a:xfrm>
              <a:off x="432" y="2323"/>
              <a:ext cx="139"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10" name="Oval 70"/>
            <p:cNvSpPr>
              <a:spLocks noChangeArrowheads="1"/>
            </p:cNvSpPr>
            <p:nvPr/>
          </p:nvSpPr>
          <p:spPr bwMode="hidden">
            <a:xfrm>
              <a:off x="814" y="2178"/>
              <a:ext cx="134" cy="6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11" name="Oval 71"/>
            <p:cNvSpPr>
              <a:spLocks noChangeArrowheads="1"/>
            </p:cNvSpPr>
            <p:nvPr/>
          </p:nvSpPr>
          <p:spPr bwMode="hidden">
            <a:xfrm>
              <a:off x="789" y="2472"/>
              <a:ext cx="156" cy="89"/>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12" name="Oval 72"/>
            <p:cNvSpPr>
              <a:spLocks noChangeArrowheads="1"/>
            </p:cNvSpPr>
            <p:nvPr/>
          </p:nvSpPr>
          <p:spPr bwMode="hidden">
            <a:xfrm>
              <a:off x="2544" y="2015"/>
              <a:ext cx="140" cy="72"/>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13" name="Oval 73"/>
            <p:cNvSpPr>
              <a:spLocks noChangeArrowheads="1"/>
            </p:cNvSpPr>
            <p:nvPr/>
          </p:nvSpPr>
          <p:spPr bwMode="hidden">
            <a:xfrm>
              <a:off x="1457" y="1700"/>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14" name="Oval 74"/>
            <p:cNvSpPr>
              <a:spLocks noChangeArrowheads="1"/>
            </p:cNvSpPr>
            <p:nvPr/>
          </p:nvSpPr>
          <p:spPr bwMode="hidden">
            <a:xfrm>
              <a:off x="1747" y="1599"/>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15" name="Oval 75"/>
            <p:cNvSpPr>
              <a:spLocks noChangeArrowheads="1"/>
            </p:cNvSpPr>
            <p:nvPr/>
          </p:nvSpPr>
          <p:spPr bwMode="hidden">
            <a:xfrm>
              <a:off x="1385" y="150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16" name="Oval 76"/>
            <p:cNvSpPr>
              <a:spLocks noChangeArrowheads="1"/>
            </p:cNvSpPr>
            <p:nvPr/>
          </p:nvSpPr>
          <p:spPr bwMode="hidden">
            <a:xfrm>
              <a:off x="1093" y="1595"/>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17" name="Oval 77"/>
            <p:cNvSpPr>
              <a:spLocks noChangeArrowheads="1"/>
            </p:cNvSpPr>
            <p:nvPr/>
          </p:nvSpPr>
          <p:spPr bwMode="hidden">
            <a:xfrm>
              <a:off x="792" y="1690"/>
              <a:ext cx="124"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18" name="Oval 78"/>
            <p:cNvSpPr>
              <a:spLocks noChangeArrowheads="1"/>
            </p:cNvSpPr>
            <p:nvPr/>
          </p:nvSpPr>
          <p:spPr bwMode="hidden">
            <a:xfrm>
              <a:off x="2011" y="1512"/>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19" name="Oval 79"/>
            <p:cNvSpPr>
              <a:spLocks noChangeArrowheads="1"/>
            </p:cNvSpPr>
            <p:nvPr/>
          </p:nvSpPr>
          <p:spPr bwMode="hidden">
            <a:xfrm>
              <a:off x="2087" y="169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20" name="Oval 80"/>
            <p:cNvSpPr>
              <a:spLocks noChangeArrowheads="1"/>
            </p:cNvSpPr>
            <p:nvPr/>
          </p:nvSpPr>
          <p:spPr bwMode="hidden">
            <a:xfrm>
              <a:off x="2345" y="1601"/>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21" name="Oval 81"/>
            <p:cNvSpPr>
              <a:spLocks noChangeArrowheads="1"/>
            </p:cNvSpPr>
            <p:nvPr/>
          </p:nvSpPr>
          <p:spPr bwMode="hidden">
            <a:xfrm>
              <a:off x="2684" y="1686"/>
              <a:ext cx="123"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22" name="Oval 82"/>
            <p:cNvSpPr>
              <a:spLocks noChangeArrowheads="1"/>
            </p:cNvSpPr>
            <p:nvPr/>
          </p:nvSpPr>
          <p:spPr bwMode="hidden">
            <a:xfrm>
              <a:off x="806" y="1512"/>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23" name="Oval 83"/>
            <p:cNvSpPr>
              <a:spLocks noChangeArrowheads="1"/>
            </p:cNvSpPr>
            <p:nvPr/>
          </p:nvSpPr>
          <p:spPr bwMode="hidden">
            <a:xfrm>
              <a:off x="495" y="1597"/>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24" name="Oval 84"/>
            <p:cNvSpPr>
              <a:spLocks noChangeArrowheads="1"/>
            </p:cNvSpPr>
            <p:nvPr/>
          </p:nvSpPr>
          <p:spPr bwMode="hidden">
            <a:xfrm>
              <a:off x="228" y="1508"/>
              <a:ext cx="123" cy="50"/>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25" name="Oval 85"/>
            <p:cNvSpPr>
              <a:spLocks noChangeArrowheads="1"/>
            </p:cNvSpPr>
            <p:nvPr/>
          </p:nvSpPr>
          <p:spPr bwMode="hidden">
            <a:xfrm>
              <a:off x="157" y="1698"/>
              <a:ext cx="123"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26" name="Oval 86"/>
            <p:cNvSpPr>
              <a:spLocks noChangeArrowheads="1"/>
            </p:cNvSpPr>
            <p:nvPr/>
          </p:nvSpPr>
          <p:spPr bwMode="hidden">
            <a:xfrm>
              <a:off x="2887" y="1595"/>
              <a:ext cx="124" cy="50"/>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27" name="Oval 87"/>
            <p:cNvSpPr>
              <a:spLocks noChangeArrowheads="1"/>
            </p:cNvSpPr>
            <p:nvPr/>
          </p:nvSpPr>
          <p:spPr bwMode="hidden">
            <a:xfrm>
              <a:off x="3079" y="1511"/>
              <a:ext cx="124"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28" name="Oval 88"/>
            <p:cNvSpPr>
              <a:spLocks noChangeArrowheads="1"/>
            </p:cNvSpPr>
            <p:nvPr/>
          </p:nvSpPr>
          <p:spPr bwMode="hidden">
            <a:xfrm>
              <a:off x="3270" y="1688"/>
              <a:ext cx="124"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29" name="Oval 89"/>
            <p:cNvSpPr>
              <a:spLocks noChangeArrowheads="1"/>
            </p:cNvSpPr>
            <p:nvPr/>
          </p:nvSpPr>
          <p:spPr bwMode="hidden">
            <a:xfrm>
              <a:off x="3453" y="1599"/>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30" name="Oval 90"/>
            <p:cNvSpPr>
              <a:spLocks noChangeArrowheads="1"/>
            </p:cNvSpPr>
            <p:nvPr/>
          </p:nvSpPr>
          <p:spPr bwMode="hidden">
            <a:xfrm>
              <a:off x="3651" y="1506"/>
              <a:ext cx="123"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31" name="Oval 91"/>
            <p:cNvSpPr>
              <a:spLocks noChangeArrowheads="1"/>
            </p:cNvSpPr>
            <p:nvPr/>
          </p:nvSpPr>
          <p:spPr bwMode="hidden">
            <a:xfrm>
              <a:off x="4251" y="1513"/>
              <a:ext cx="124"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32" name="Oval 92"/>
            <p:cNvSpPr>
              <a:spLocks noChangeArrowheads="1"/>
            </p:cNvSpPr>
            <p:nvPr/>
          </p:nvSpPr>
          <p:spPr bwMode="hidden">
            <a:xfrm>
              <a:off x="3901" y="1701"/>
              <a:ext cx="128" cy="5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33" name="Oval 93"/>
            <p:cNvSpPr>
              <a:spLocks noChangeArrowheads="1"/>
            </p:cNvSpPr>
            <p:nvPr/>
          </p:nvSpPr>
          <p:spPr bwMode="hidden">
            <a:xfrm>
              <a:off x="4086" y="1608"/>
              <a:ext cx="128" cy="50"/>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34" name="Oval 94"/>
            <p:cNvSpPr>
              <a:spLocks noChangeArrowheads="1"/>
            </p:cNvSpPr>
            <p:nvPr/>
          </p:nvSpPr>
          <p:spPr bwMode="hidden">
            <a:xfrm>
              <a:off x="1282" y="3653"/>
              <a:ext cx="196" cy="11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35" name="Oval 95"/>
            <p:cNvSpPr>
              <a:spLocks noChangeArrowheads="1"/>
            </p:cNvSpPr>
            <p:nvPr/>
          </p:nvSpPr>
          <p:spPr bwMode="hidden">
            <a:xfrm>
              <a:off x="707" y="4014"/>
              <a:ext cx="191" cy="112"/>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36" name="Oval 96"/>
            <p:cNvSpPr>
              <a:spLocks noChangeArrowheads="1"/>
            </p:cNvSpPr>
            <p:nvPr/>
          </p:nvSpPr>
          <p:spPr bwMode="hidden">
            <a:xfrm>
              <a:off x="2229" y="3090"/>
              <a:ext cx="168" cy="95"/>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37" name="Oval 97"/>
            <p:cNvSpPr>
              <a:spLocks noChangeArrowheads="1"/>
            </p:cNvSpPr>
            <p:nvPr/>
          </p:nvSpPr>
          <p:spPr bwMode="hidden">
            <a:xfrm>
              <a:off x="2604" y="2867"/>
              <a:ext cx="156" cy="89"/>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38" name="Oval 98"/>
            <p:cNvSpPr>
              <a:spLocks noChangeArrowheads="1"/>
            </p:cNvSpPr>
            <p:nvPr/>
          </p:nvSpPr>
          <p:spPr bwMode="hidden">
            <a:xfrm>
              <a:off x="2907" y="2668"/>
              <a:ext cx="156" cy="84"/>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39" name="Oval 99"/>
            <p:cNvSpPr>
              <a:spLocks noChangeArrowheads="1"/>
            </p:cNvSpPr>
            <p:nvPr/>
          </p:nvSpPr>
          <p:spPr bwMode="hidden">
            <a:xfrm>
              <a:off x="3248" y="2454"/>
              <a:ext cx="150" cy="90"/>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40" name="Oval 100"/>
            <p:cNvSpPr>
              <a:spLocks noChangeArrowheads="1"/>
            </p:cNvSpPr>
            <p:nvPr/>
          </p:nvSpPr>
          <p:spPr bwMode="hidden">
            <a:xfrm>
              <a:off x="1801" y="3360"/>
              <a:ext cx="168" cy="95"/>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41" name="Oval 101"/>
            <p:cNvSpPr>
              <a:spLocks noChangeArrowheads="1"/>
            </p:cNvSpPr>
            <p:nvPr/>
          </p:nvSpPr>
          <p:spPr bwMode="hidden">
            <a:xfrm>
              <a:off x="3512" y="2302"/>
              <a:ext cx="134" cy="73"/>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42" name="Oval 102"/>
            <p:cNvSpPr>
              <a:spLocks noChangeArrowheads="1"/>
            </p:cNvSpPr>
            <p:nvPr/>
          </p:nvSpPr>
          <p:spPr bwMode="hidden">
            <a:xfrm>
              <a:off x="3980" y="2014"/>
              <a:ext cx="134" cy="72"/>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43" name="Oval 103"/>
            <p:cNvSpPr>
              <a:spLocks noChangeArrowheads="1"/>
            </p:cNvSpPr>
            <p:nvPr/>
          </p:nvSpPr>
          <p:spPr bwMode="hidden">
            <a:xfrm>
              <a:off x="3753" y="2158"/>
              <a:ext cx="134" cy="6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44" name="Oval 104"/>
            <p:cNvSpPr>
              <a:spLocks noChangeArrowheads="1"/>
            </p:cNvSpPr>
            <p:nvPr/>
          </p:nvSpPr>
          <p:spPr bwMode="hidden">
            <a:xfrm>
              <a:off x="4176" y="1898"/>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45" name="Oval 105"/>
            <p:cNvSpPr>
              <a:spLocks noChangeArrowheads="1"/>
            </p:cNvSpPr>
            <p:nvPr/>
          </p:nvSpPr>
          <p:spPr bwMode="hidden">
            <a:xfrm>
              <a:off x="4338" y="1797"/>
              <a:ext cx="129"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46" name="Oval 106"/>
            <p:cNvSpPr>
              <a:spLocks noChangeArrowheads="1"/>
            </p:cNvSpPr>
            <p:nvPr/>
          </p:nvSpPr>
          <p:spPr bwMode="hidden">
            <a:xfrm>
              <a:off x="4505" y="1700"/>
              <a:ext cx="124"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47" name="Oval 107"/>
            <p:cNvSpPr>
              <a:spLocks noChangeArrowheads="1"/>
            </p:cNvSpPr>
            <p:nvPr/>
          </p:nvSpPr>
          <p:spPr bwMode="hidden">
            <a:xfrm>
              <a:off x="4661" y="1603"/>
              <a:ext cx="123" cy="50"/>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48" name="Oval 108"/>
            <p:cNvSpPr>
              <a:spLocks noChangeArrowheads="1"/>
            </p:cNvSpPr>
            <p:nvPr/>
          </p:nvSpPr>
          <p:spPr bwMode="hidden">
            <a:xfrm>
              <a:off x="4803" y="1512"/>
              <a:ext cx="128" cy="51"/>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49" name="Oval 109"/>
            <p:cNvSpPr>
              <a:spLocks noChangeArrowheads="1"/>
            </p:cNvSpPr>
            <p:nvPr/>
          </p:nvSpPr>
          <p:spPr bwMode="hidden">
            <a:xfrm>
              <a:off x="4930" y="1431"/>
              <a:ext cx="111" cy="50"/>
            </a:xfrm>
            <a:prstGeom prst="ellipse">
              <a:avLst/>
            </a:prstGeom>
            <a:gradFill rotWithShape="0">
              <a:gsLst>
                <a:gs pos="0">
                  <a:schemeClr val="bg2"/>
                </a:gs>
                <a:gs pos="100000">
                  <a:schemeClr val="bg2">
                    <a:gamma/>
                    <a:shade val="6078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50" name="Oval 110"/>
            <p:cNvSpPr>
              <a:spLocks noChangeArrowheads="1"/>
            </p:cNvSpPr>
            <p:nvPr/>
          </p:nvSpPr>
          <p:spPr bwMode="hidden">
            <a:xfrm>
              <a:off x="3835" y="1430"/>
              <a:ext cx="112" cy="50"/>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51" name="Oval 111"/>
            <p:cNvSpPr>
              <a:spLocks noChangeArrowheads="1"/>
            </p:cNvSpPr>
            <p:nvPr/>
          </p:nvSpPr>
          <p:spPr bwMode="hidden">
            <a:xfrm>
              <a:off x="3286" y="1430"/>
              <a:ext cx="112" cy="50"/>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52" name="Oval 112"/>
            <p:cNvSpPr>
              <a:spLocks noChangeArrowheads="1"/>
            </p:cNvSpPr>
            <p:nvPr/>
          </p:nvSpPr>
          <p:spPr bwMode="hidden">
            <a:xfrm>
              <a:off x="2972" y="1366"/>
              <a:ext cx="111" cy="5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53" name="Oval 113"/>
            <p:cNvSpPr>
              <a:spLocks noChangeArrowheads="1"/>
            </p:cNvSpPr>
            <p:nvPr/>
          </p:nvSpPr>
          <p:spPr bwMode="hidden">
            <a:xfrm>
              <a:off x="3152" y="1292"/>
              <a:ext cx="112" cy="50"/>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54" name="Oval 114"/>
            <p:cNvSpPr>
              <a:spLocks noChangeArrowheads="1"/>
            </p:cNvSpPr>
            <p:nvPr/>
          </p:nvSpPr>
          <p:spPr bwMode="hidden">
            <a:xfrm>
              <a:off x="3020" y="1170"/>
              <a:ext cx="112"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55" name="Oval 115"/>
            <p:cNvSpPr>
              <a:spLocks noChangeArrowheads="1"/>
            </p:cNvSpPr>
            <p:nvPr/>
          </p:nvSpPr>
          <p:spPr bwMode="hidden">
            <a:xfrm>
              <a:off x="2443" y="1368"/>
              <a:ext cx="112" cy="51"/>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56" name="Oval 116"/>
            <p:cNvSpPr>
              <a:spLocks noChangeArrowheads="1"/>
            </p:cNvSpPr>
            <p:nvPr/>
          </p:nvSpPr>
          <p:spPr bwMode="hidden">
            <a:xfrm>
              <a:off x="2301" y="1220"/>
              <a:ext cx="112"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57" name="Oval 117"/>
            <p:cNvSpPr>
              <a:spLocks noChangeArrowheads="1"/>
            </p:cNvSpPr>
            <p:nvPr/>
          </p:nvSpPr>
          <p:spPr bwMode="hidden">
            <a:xfrm>
              <a:off x="2095" y="1284"/>
              <a:ext cx="112"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58" name="Oval 118"/>
            <p:cNvSpPr>
              <a:spLocks noChangeArrowheads="1"/>
            </p:cNvSpPr>
            <p:nvPr/>
          </p:nvSpPr>
          <p:spPr bwMode="hidden">
            <a:xfrm>
              <a:off x="2228" y="1442"/>
              <a:ext cx="111" cy="50"/>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59" name="Oval 119"/>
            <p:cNvSpPr>
              <a:spLocks noChangeArrowheads="1"/>
            </p:cNvSpPr>
            <p:nvPr/>
          </p:nvSpPr>
          <p:spPr bwMode="hidden">
            <a:xfrm>
              <a:off x="1109" y="1424"/>
              <a:ext cx="112" cy="50"/>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60" name="Oval 120"/>
            <p:cNvSpPr>
              <a:spLocks noChangeArrowheads="1"/>
            </p:cNvSpPr>
            <p:nvPr/>
          </p:nvSpPr>
          <p:spPr bwMode="hidden">
            <a:xfrm>
              <a:off x="611" y="1284"/>
              <a:ext cx="111" cy="51"/>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61" name="Oval 121"/>
            <p:cNvSpPr>
              <a:spLocks noChangeArrowheads="1"/>
            </p:cNvSpPr>
            <p:nvPr/>
          </p:nvSpPr>
          <p:spPr bwMode="hidden">
            <a:xfrm>
              <a:off x="305" y="1358"/>
              <a:ext cx="111" cy="51"/>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62" name="Oval 122"/>
            <p:cNvSpPr>
              <a:spLocks noChangeArrowheads="1"/>
            </p:cNvSpPr>
            <p:nvPr/>
          </p:nvSpPr>
          <p:spPr bwMode="hidden">
            <a:xfrm>
              <a:off x="156" y="1154"/>
              <a:ext cx="112" cy="50"/>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63" name="Oval 123"/>
            <p:cNvSpPr>
              <a:spLocks noChangeArrowheads="1"/>
            </p:cNvSpPr>
            <p:nvPr/>
          </p:nvSpPr>
          <p:spPr bwMode="hidden">
            <a:xfrm>
              <a:off x="4538" y="1365"/>
              <a:ext cx="106" cy="4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64" name="Oval 124"/>
            <p:cNvSpPr>
              <a:spLocks noChangeArrowheads="1"/>
            </p:cNvSpPr>
            <p:nvPr/>
          </p:nvSpPr>
          <p:spPr bwMode="hidden">
            <a:xfrm>
              <a:off x="4407" y="1440"/>
              <a:ext cx="105" cy="44"/>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65" name="Oval 125"/>
            <p:cNvSpPr>
              <a:spLocks noChangeArrowheads="1"/>
            </p:cNvSpPr>
            <p:nvPr/>
          </p:nvSpPr>
          <p:spPr bwMode="hidden">
            <a:xfrm>
              <a:off x="3992" y="1356"/>
              <a:ext cx="106" cy="45"/>
            </a:xfrm>
            <a:prstGeom prst="ellipse">
              <a:avLst/>
            </a:prstGeom>
            <a:gradFill rotWithShape="0">
              <a:gsLst>
                <a:gs pos="0">
                  <a:schemeClr val="bg1"/>
                </a:gs>
                <a:gs pos="100000">
                  <a:schemeClr val="bg1">
                    <a:gamma/>
                    <a:shade val="6666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66" name="Oval 126"/>
            <p:cNvSpPr>
              <a:spLocks noChangeArrowheads="1"/>
            </p:cNvSpPr>
            <p:nvPr/>
          </p:nvSpPr>
          <p:spPr bwMode="hidden">
            <a:xfrm>
              <a:off x="3466" y="1356"/>
              <a:ext cx="106" cy="45"/>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67" name="Oval 127"/>
            <p:cNvSpPr>
              <a:spLocks noChangeArrowheads="1"/>
            </p:cNvSpPr>
            <p:nvPr/>
          </p:nvSpPr>
          <p:spPr bwMode="hidden">
            <a:xfrm>
              <a:off x="2852" y="1228"/>
              <a:ext cx="106" cy="44"/>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68" name="Oval 128"/>
            <p:cNvSpPr>
              <a:spLocks noChangeArrowheads="1"/>
            </p:cNvSpPr>
            <p:nvPr/>
          </p:nvSpPr>
          <p:spPr bwMode="hidden">
            <a:xfrm>
              <a:off x="2678" y="1109"/>
              <a:ext cx="106" cy="44"/>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69" name="Oval 129"/>
            <p:cNvSpPr>
              <a:spLocks noChangeArrowheads="1"/>
            </p:cNvSpPr>
            <p:nvPr/>
          </p:nvSpPr>
          <p:spPr bwMode="hidden">
            <a:xfrm>
              <a:off x="2859" y="1045"/>
              <a:ext cx="106"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70" name="Oval 130"/>
            <p:cNvSpPr>
              <a:spLocks noChangeArrowheads="1"/>
            </p:cNvSpPr>
            <p:nvPr/>
          </p:nvSpPr>
          <p:spPr bwMode="hidden">
            <a:xfrm>
              <a:off x="1942" y="104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71" name="Oval 131"/>
            <p:cNvSpPr>
              <a:spLocks noChangeArrowheads="1"/>
            </p:cNvSpPr>
            <p:nvPr/>
          </p:nvSpPr>
          <p:spPr bwMode="hidden">
            <a:xfrm>
              <a:off x="1088" y="1277"/>
              <a:ext cx="106"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72" name="Oval 132"/>
            <p:cNvSpPr>
              <a:spLocks noChangeArrowheads="1"/>
            </p:cNvSpPr>
            <p:nvPr/>
          </p:nvSpPr>
          <p:spPr bwMode="hidden">
            <a:xfrm>
              <a:off x="827" y="135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73" name="Oval 133"/>
            <p:cNvSpPr>
              <a:spLocks noChangeArrowheads="1"/>
            </p:cNvSpPr>
            <p:nvPr/>
          </p:nvSpPr>
          <p:spPr bwMode="hidden">
            <a:xfrm>
              <a:off x="537" y="1428"/>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74" name="Oval 134"/>
            <p:cNvSpPr>
              <a:spLocks noChangeArrowheads="1"/>
            </p:cNvSpPr>
            <p:nvPr/>
          </p:nvSpPr>
          <p:spPr bwMode="hidden">
            <a:xfrm>
              <a:off x="635" y="106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75" name="Oval 135"/>
            <p:cNvSpPr>
              <a:spLocks noChangeArrowheads="1"/>
            </p:cNvSpPr>
            <p:nvPr/>
          </p:nvSpPr>
          <p:spPr bwMode="hidden">
            <a:xfrm>
              <a:off x="1540" y="1050"/>
              <a:ext cx="106"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76" name="Oval 136"/>
            <p:cNvSpPr>
              <a:spLocks noChangeArrowheads="1"/>
            </p:cNvSpPr>
            <p:nvPr/>
          </p:nvSpPr>
          <p:spPr bwMode="hidden">
            <a:xfrm>
              <a:off x="1120" y="1063"/>
              <a:ext cx="105"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77" name="Oval 137"/>
            <p:cNvSpPr>
              <a:spLocks noChangeArrowheads="1"/>
            </p:cNvSpPr>
            <p:nvPr/>
          </p:nvSpPr>
          <p:spPr bwMode="hidden">
            <a:xfrm>
              <a:off x="4131" y="1284"/>
              <a:ext cx="111" cy="45"/>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78" name="Oval 138"/>
            <p:cNvSpPr>
              <a:spLocks noChangeArrowheads="1"/>
            </p:cNvSpPr>
            <p:nvPr/>
          </p:nvSpPr>
          <p:spPr bwMode="hidden">
            <a:xfrm>
              <a:off x="3477" y="1163"/>
              <a:ext cx="112" cy="45"/>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79" name="Oval 139"/>
            <p:cNvSpPr>
              <a:spLocks noChangeArrowheads="1"/>
            </p:cNvSpPr>
            <p:nvPr/>
          </p:nvSpPr>
          <p:spPr bwMode="hidden">
            <a:xfrm>
              <a:off x="3315" y="1229"/>
              <a:ext cx="112" cy="45"/>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80" name="Oval 140"/>
            <p:cNvSpPr>
              <a:spLocks noChangeArrowheads="1"/>
            </p:cNvSpPr>
            <p:nvPr/>
          </p:nvSpPr>
          <p:spPr bwMode="hidden">
            <a:xfrm>
              <a:off x="3174" y="1112"/>
              <a:ext cx="112" cy="44"/>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81" name="Oval 141"/>
            <p:cNvSpPr>
              <a:spLocks noChangeArrowheads="1"/>
            </p:cNvSpPr>
            <p:nvPr/>
          </p:nvSpPr>
          <p:spPr bwMode="hidden">
            <a:xfrm>
              <a:off x="2396" y="1051"/>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82" name="Oval 142"/>
            <p:cNvSpPr>
              <a:spLocks noChangeArrowheads="1"/>
            </p:cNvSpPr>
            <p:nvPr/>
          </p:nvSpPr>
          <p:spPr bwMode="hidden">
            <a:xfrm>
              <a:off x="2769" y="1446"/>
              <a:ext cx="111" cy="44"/>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83" name="Oval 143"/>
            <p:cNvSpPr>
              <a:spLocks noChangeArrowheads="1"/>
            </p:cNvSpPr>
            <p:nvPr/>
          </p:nvSpPr>
          <p:spPr bwMode="hidden">
            <a:xfrm>
              <a:off x="2656" y="1294"/>
              <a:ext cx="112" cy="45"/>
            </a:xfrm>
            <a:prstGeom prst="ellipse">
              <a:avLst/>
            </a:prstGeom>
            <a:gradFill rotWithShape="0">
              <a:gsLst>
                <a:gs pos="0">
                  <a:schemeClr val="bg1"/>
                </a:gs>
                <a:gs pos="100000">
                  <a:schemeClr val="bg1">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84" name="Oval 144"/>
            <p:cNvSpPr>
              <a:spLocks noChangeArrowheads="1"/>
            </p:cNvSpPr>
            <p:nvPr/>
          </p:nvSpPr>
          <p:spPr bwMode="hidden">
            <a:xfrm>
              <a:off x="2501" y="1159"/>
              <a:ext cx="111"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85" name="Oval 145"/>
            <p:cNvSpPr>
              <a:spLocks noChangeArrowheads="1"/>
            </p:cNvSpPr>
            <p:nvPr/>
          </p:nvSpPr>
          <p:spPr bwMode="hidden">
            <a:xfrm>
              <a:off x="2222" y="1101"/>
              <a:ext cx="112" cy="44"/>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86" name="Oval 146"/>
            <p:cNvSpPr>
              <a:spLocks noChangeArrowheads="1"/>
            </p:cNvSpPr>
            <p:nvPr/>
          </p:nvSpPr>
          <p:spPr bwMode="hidden">
            <a:xfrm>
              <a:off x="2029" y="1162"/>
              <a:ext cx="111"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87" name="Oval 147"/>
            <p:cNvSpPr>
              <a:spLocks noChangeArrowheads="1"/>
            </p:cNvSpPr>
            <p:nvPr/>
          </p:nvSpPr>
          <p:spPr bwMode="hidden">
            <a:xfrm>
              <a:off x="1875" y="1356"/>
              <a:ext cx="112" cy="45"/>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88" name="Oval 148"/>
            <p:cNvSpPr>
              <a:spLocks noChangeArrowheads="1"/>
            </p:cNvSpPr>
            <p:nvPr/>
          </p:nvSpPr>
          <p:spPr bwMode="hidden">
            <a:xfrm>
              <a:off x="1809" y="1223"/>
              <a:ext cx="111"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89" name="Oval 149"/>
            <p:cNvSpPr>
              <a:spLocks noChangeArrowheads="1"/>
            </p:cNvSpPr>
            <p:nvPr/>
          </p:nvSpPr>
          <p:spPr bwMode="hidden">
            <a:xfrm>
              <a:off x="1738" y="1098"/>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90" name="Oval 150"/>
            <p:cNvSpPr>
              <a:spLocks noChangeArrowheads="1"/>
            </p:cNvSpPr>
            <p:nvPr/>
          </p:nvSpPr>
          <p:spPr bwMode="hidden">
            <a:xfrm>
              <a:off x="1583" y="1289"/>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91" name="Oval 151"/>
            <p:cNvSpPr>
              <a:spLocks noChangeArrowheads="1"/>
            </p:cNvSpPr>
            <p:nvPr/>
          </p:nvSpPr>
          <p:spPr bwMode="hidden">
            <a:xfrm>
              <a:off x="1379" y="1343"/>
              <a:ext cx="112" cy="45"/>
            </a:xfrm>
            <a:prstGeom prst="ellipse">
              <a:avLst/>
            </a:prstGeom>
            <a:gradFill rotWithShape="0">
              <a:gsLst>
                <a:gs pos="0">
                  <a:schemeClr val="bg1"/>
                </a:gs>
                <a:gs pos="100000">
                  <a:schemeClr val="bg1">
                    <a:gamma/>
                    <a:shade val="87843"/>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92" name="Oval 152"/>
            <p:cNvSpPr>
              <a:spLocks noChangeArrowheads="1"/>
            </p:cNvSpPr>
            <p:nvPr/>
          </p:nvSpPr>
          <p:spPr bwMode="hidden">
            <a:xfrm>
              <a:off x="1529" y="1156"/>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93" name="Oval 153"/>
            <p:cNvSpPr>
              <a:spLocks noChangeArrowheads="1"/>
            </p:cNvSpPr>
            <p:nvPr/>
          </p:nvSpPr>
          <p:spPr bwMode="hidden">
            <a:xfrm>
              <a:off x="1294" y="1222"/>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94" name="Oval 154"/>
            <p:cNvSpPr>
              <a:spLocks noChangeArrowheads="1"/>
            </p:cNvSpPr>
            <p:nvPr/>
          </p:nvSpPr>
          <p:spPr bwMode="hidden">
            <a:xfrm>
              <a:off x="1314" y="1112"/>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95" name="Oval 155"/>
            <p:cNvSpPr>
              <a:spLocks noChangeArrowheads="1"/>
            </p:cNvSpPr>
            <p:nvPr/>
          </p:nvSpPr>
          <p:spPr bwMode="hidden">
            <a:xfrm>
              <a:off x="1082" y="1166"/>
              <a:ext cx="11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96" name="Oval 156"/>
            <p:cNvSpPr>
              <a:spLocks noChangeArrowheads="1"/>
            </p:cNvSpPr>
            <p:nvPr/>
          </p:nvSpPr>
          <p:spPr bwMode="hidden">
            <a:xfrm>
              <a:off x="877" y="1121"/>
              <a:ext cx="112"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97" name="Oval 157"/>
            <p:cNvSpPr>
              <a:spLocks noChangeArrowheads="1"/>
            </p:cNvSpPr>
            <p:nvPr/>
          </p:nvSpPr>
          <p:spPr bwMode="hidden">
            <a:xfrm>
              <a:off x="875" y="1216"/>
              <a:ext cx="11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98" name="Oval 158"/>
            <p:cNvSpPr>
              <a:spLocks noChangeArrowheads="1"/>
            </p:cNvSpPr>
            <p:nvPr/>
          </p:nvSpPr>
          <p:spPr bwMode="hidden">
            <a:xfrm>
              <a:off x="680" y="1170"/>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399" name="Oval 159"/>
            <p:cNvSpPr>
              <a:spLocks noChangeArrowheads="1"/>
            </p:cNvSpPr>
            <p:nvPr/>
          </p:nvSpPr>
          <p:spPr bwMode="hidden">
            <a:xfrm>
              <a:off x="411" y="1232"/>
              <a:ext cx="111"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00" name="Oval 160"/>
            <p:cNvSpPr>
              <a:spLocks noChangeArrowheads="1"/>
            </p:cNvSpPr>
            <p:nvPr/>
          </p:nvSpPr>
          <p:spPr bwMode="hidden">
            <a:xfrm>
              <a:off x="434" y="1100"/>
              <a:ext cx="112"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01" name="Oval 161"/>
            <p:cNvSpPr>
              <a:spLocks noChangeArrowheads="1"/>
            </p:cNvSpPr>
            <p:nvPr/>
          </p:nvSpPr>
          <p:spPr bwMode="hidden">
            <a:xfrm>
              <a:off x="119" y="1312"/>
              <a:ext cx="111"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02" name="Oval 162"/>
            <p:cNvSpPr>
              <a:spLocks noChangeArrowheads="1"/>
            </p:cNvSpPr>
            <p:nvPr/>
          </p:nvSpPr>
          <p:spPr bwMode="hidden">
            <a:xfrm>
              <a:off x="858" y="1001"/>
              <a:ext cx="101" cy="38"/>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03" name="Oval 163"/>
            <p:cNvSpPr>
              <a:spLocks noChangeArrowheads="1"/>
            </p:cNvSpPr>
            <p:nvPr/>
          </p:nvSpPr>
          <p:spPr bwMode="hidden">
            <a:xfrm>
              <a:off x="1341" y="1013"/>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04" name="Oval 164"/>
            <p:cNvSpPr>
              <a:spLocks noChangeArrowheads="1"/>
            </p:cNvSpPr>
            <p:nvPr/>
          </p:nvSpPr>
          <p:spPr bwMode="hidden">
            <a:xfrm>
              <a:off x="1739" y="1008"/>
              <a:ext cx="101" cy="38"/>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05" name="Oval 165"/>
            <p:cNvSpPr>
              <a:spLocks noChangeArrowheads="1"/>
            </p:cNvSpPr>
            <p:nvPr/>
          </p:nvSpPr>
          <p:spPr bwMode="hidden">
            <a:xfrm>
              <a:off x="2116" y="1001"/>
              <a:ext cx="100"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06" name="Oval 166"/>
            <p:cNvSpPr>
              <a:spLocks noChangeArrowheads="1"/>
            </p:cNvSpPr>
            <p:nvPr/>
          </p:nvSpPr>
          <p:spPr bwMode="hidden">
            <a:xfrm>
              <a:off x="2320" y="941"/>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07" name="Oval 167"/>
            <p:cNvSpPr>
              <a:spLocks noChangeArrowheads="1"/>
            </p:cNvSpPr>
            <p:nvPr/>
          </p:nvSpPr>
          <p:spPr bwMode="hidden">
            <a:xfrm>
              <a:off x="2601" y="995"/>
              <a:ext cx="101" cy="39"/>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08" name="Oval 168"/>
            <p:cNvSpPr>
              <a:spLocks noChangeArrowheads="1"/>
            </p:cNvSpPr>
            <p:nvPr/>
          </p:nvSpPr>
          <p:spPr bwMode="hidden">
            <a:xfrm>
              <a:off x="1667" y="1420"/>
              <a:ext cx="106" cy="51"/>
            </a:xfrm>
            <a:prstGeom prst="ellipse">
              <a:avLst/>
            </a:prstGeom>
            <a:gradFill rotWithShape="0">
              <a:gsLst>
                <a:gs pos="0">
                  <a:schemeClr val="bg1"/>
                </a:gs>
                <a:gs pos="100000">
                  <a:schemeClr val="bg1">
                    <a:gamma/>
                    <a:shade val="8470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09" name="Oval 169"/>
            <p:cNvSpPr>
              <a:spLocks noChangeArrowheads="1"/>
            </p:cNvSpPr>
            <p:nvPr/>
          </p:nvSpPr>
          <p:spPr bwMode="hidden">
            <a:xfrm>
              <a:off x="2557" y="1516"/>
              <a:ext cx="123" cy="51"/>
            </a:xfrm>
            <a:prstGeom prst="ellipse">
              <a:avLst/>
            </a:prstGeom>
            <a:gradFill rotWithShape="0">
              <a:gsLst>
                <a:gs pos="0">
                  <a:schemeClr val="bg1"/>
                </a:gs>
                <a:gs pos="100000">
                  <a:schemeClr val="bg1">
                    <a:gamma/>
                    <a:shade val="7882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10" name="Oval 170"/>
            <p:cNvSpPr>
              <a:spLocks noChangeArrowheads="1"/>
            </p:cNvSpPr>
            <p:nvPr/>
          </p:nvSpPr>
          <p:spPr bwMode="hidden">
            <a:xfrm>
              <a:off x="3619" y="1287"/>
              <a:ext cx="112"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11" name="Oval 171"/>
            <p:cNvSpPr>
              <a:spLocks noChangeArrowheads="1"/>
            </p:cNvSpPr>
            <p:nvPr/>
          </p:nvSpPr>
          <p:spPr bwMode="hidden">
            <a:xfrm>
              <a:off x="3791" y="1212"/>
              <a:ext cx="111" cy="51"/>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12" name="Oval 172"/>
            <p:cNvSpPr>
              <a:spLocks noChangeArrowheads="1"/>
            </p:cNvSpPr>
            <p:nvPr/>
          </p:nvSpPr>
          <p:spPr bwMode="hidden">
            <a:xfrm>
              <a:off x="2134" y="908"/>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13" name="Oval 173"/>
            <p:cNvSpPr>
              <a:spLocks noChangeArrowheads="1"/>
            </p:cNvSpPr>
            <p:nvPr/>
          </p:nvSpPr>
          <p:spPr bwMode="hidden">
            <a:xfrm>
              <a:off x="1264" y="908"/>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14" name="Oval 174"/>
            <p:cNvSpPr>
              <a:spLocks noChangeArrowheads="1"/>
            </p:cNvSpPr>
            <p:nvPr/>
          </p:nvSpPr>
          <p:spPr bwMode="hidden">
            <a:xfrm>
              <a:off x="1471" y="869"/>
              <a:ext cx="79"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15" name="Oval 175"/>
            <p:cNvSpPr>
              <a:spLocks noChangeArrowheads="1"/>
            </p:cNvSpPr>
            <p:nvPr/>
          </p:nvSpPr>
          <p:spPr bwMode="hidden">
            <a:xfrm>
              <a:off x="1650" y="824"/>
              <a:ext cx="83"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16" name="Oval 176"/>
            <p:cNvSpPr>
              <a:spLocks noChangeArrowheads="1"/>
            </p:cNvSpPr>
            <p:nvPr/>
          </p:nvSpPr>
          <p:spPr bwMode="hidden">
            <a:xfrm>
              <a:off x="1918" y="869"/>
              <a:ext cx="84"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17" name="Oval 177"/>
            <p:cNvSpPr>
              <a:spLocks noChangeArrowheads="1"/>
            </p:cNvSpPr>
            <p:nvPr/>
          </p:nvSpPr>
          <p:spPr bwMode="hidden">
            <a:xfrm>
              <a:off x="1720" y="923"/>
              <a:ext cx="83" cy="3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18" name="Oval 178"/>
            <p:cNvSpPr>
              <a:spLocks noChangeArrowheads="1"/>
            </p:cNvSpPr>
            <p:nvPr/>
          </p:nvSpPr>
          <p:spPr bwMode="hidden">
            <a:xfrm>
              <a:off x="1913" y="957"/>
              <a:ext cx="95"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19" name="Oval 179"/>
            <p:cNvSpPr>
              <a:spLocks noChangeArrowheads="1"/>
            </p:cNvSpPr>
            <p:nvPr/>
          </p:nvSpPr>
          <p:spPr bwMode="hidden">
            <a:xfrm>
              <a:off x="1541" y="962"/>
              <a:ext cx="89"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20" name="Oval 180"/>
            <p:cNvSpPr>
              <a:spLocks noChangeArrowheads="1"/>
            </p:cNvSpPr>
            <p:nvPr/>
          </p:nvSpPr>
          <p:spPr bwMode="hidden">
            <a:xfrm>
              <a:off x="1076" y="953"/>
              <a:ext cx="101" cy="45"/>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21" name="Oval 181"/>
            <p:cNvSpPr>
              <a:spLocks noChangeArrowheads="1"/>
            </p:cNvSpPr>
            <p:nvPr/>
          </p:nvSpPr>
          <p:spPr bwMode="hidden">
            <a:xfrm>
              <a:off x="1983" y="4027"/>
              <a:ext cx="195" cy="10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22" name="Oval 182"/>
            <p:cNvSpPr>
              <a:spLocks noChangeArrowheads="1"/>
            </p:cNvSpPr>
            <p:nvPr/>
          </p:nvSpPr>
          <p:spPr bwMode="hidden">
            <a:xfrm>
              <a:off x="2460" y="3671"/>
              <a:ext cx="196" cy="112"/>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23" name="Oval 183"/>
            <p:cNvSpPr>
              <a:spLocks noChangeArrowheads="1"/>
            </p:cNvSpPr>
            <p:nvPr/>
          </p:nvSpPr>
          <p:spPr bwMode="hidden">
            <a:xfrm>
              <a:off x="3238" y="3121"/>
              <a:ext cx="168" cy="9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24" name="Oval 184"/>
            <p:cNvSpPr>
              <a:spLocks noChangeArrowheads="1"/>
            </p:cNvSpPr>
            <p:nvPr/>
          </p:nvSpPr>
          <p:spPr bwMode="hidden">
            <a:xfrm>
              <a:off x="3550" y="2880"/>
              <a:ext cx="157" cy="89"/>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25" name="Oval 185"/>
            <p:cNvSpPr>
              <a:spLocks noChangeArrowheads="1"/>
            </p:cNvSpPr>
            <p:nvPr/>
          </p:nvSpPr>
          <p:spPr bwMode="hidden">
            <a:xfrm>
              <a:off x="2892" y="3377"/>
              <a:ext cx="168" cy="95"/>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26" name="Oval 186"/>
            <p:cNvSpPr>
              <a:spLocks noChangeArrowheads="1"/>
            </p:cNvSpPr>
            <p:nvPr/>
          </p:nvSpPr>
          <p:spPr bwMode="hidden">
            <a:xfrm>
              <a:off x="3869" y="2657"/>
              <a:ext cx="151" cy="84"/>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27" name="Oval 187"/>
            <p:cNvSpPr>
              <a:spLocks noChangeArrowheads="1"/>
            </p:cNvSpPr>
            <p:nvPr/>
          </p:nvSpPr>
          <p:spPr bwMode="hidden">
            <a:xfrm>
              <a:off x="4090" y="2475"/>
              <a:ext cx="156" cy="89"/>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28" name="Oval 188"/>
            <p:cNvSpPr>
              <a:spLocks noChangeArrowheads="1"/>
            </p:cNvSpPr>
            <p:nvPr/>
          </p:nvSpPr>
          <p:spPr bwMode="hidden">
            <a:xfrm>
              <a:off x="4327" y="2314"/>
              <a:ext cx="134" cy="72"/>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29" name="Oval 189"/>
            <p:cNvSpPr>
              <a:spLocks noChangeArrowheads="1"/>
            </p:cNvSpPr>
            <p:nvPr/>
          </p:nvSpPr>
          <p:spPr bwMode="hidden">
            <a:xfrm>
              <a:off x="4712" y="2022"/>
              <a:ext cx="134" cy="73"/>
            </a:xfrm>
            <a:prstGeom prst="ellipse">
              <a:avLst/>
            </a:prstGeom>
            <a:gradFill rotWithShape="0">
              <a:gsLst>
                <a:gs pos="0">
                  <a:schemeClr val="bg2"/>
                </a:gs>
                <a:gs pos="100000">
                  <a:schemeClr val="bg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30" name="Oval 190"/>
            <p:cNvSpPr>
              <a:spLocks noChangeArrowheads="1"/>
            </p:cNvSpPr>
            <p:nvPr/>
          </p:nvSpPr>
          <p:spPr bwMode="hidden">
            <a:xfrm>
              <a:off x="4533" y="2162"/>
              <a:ext cx="139"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31" name="Oval 191"/>
            <p:cNvSpPr>
              <a:spLocks noChangeArrowheads="1"/>
            </p:cNvSpPr>
            <p:nvPr/>
          </p:nvSpPr>
          <p:spPr bwMode="hidden">
            <a:xfrm>
              <a:off x="4863" y="1920"/>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32" name="Oval 192"/>
            <p:cNvSpPr>
              <a:spLocks noChangeArrowheads="1"/>
            </p:cNvSpPr>
            <p:nvPr/>
          </p:nvSpPr>
          <p:spPr bwMode="hidden">
            <a:xfrm>
              <a:off x="5009" y="1807"/>
              <a:ext cx="128" cy="61"/>
            </a:xfrm>
            <a:prstGeom prst="ellipse">
              <a:avLst/>
            </a:prstGeom>
            <a:gradFill rotWithShape="0">
              <a:gsLst>
                <a:gs pos="0">
                  <a:schemeClr val="bg2"/>
                </a:gs>
                <a:gs pos="100000">
                  <a:schemeClr val="bg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33" name="Oval 193"/>
            <p:cNvSpPr>
              <a:spLocks noChangeArrowheads="1"/>
            </p:cNvSpPr>
            <p:nvPr/>
          </p:nvSpPr>
          <p:spPr bwMode="hidden">
            <a:xfrm>
              <a:off x="5161" y="1702"/>
              <a:ext cx="123" cy="50"/>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34" name="Oval 194"/>
            <p:cNvSpPr>
              <a:spLocks noChangeArrowheads="1"/>
            </p:cNvSpPr>
            <p:nvPr/>
          </p:nvSpPr>
          <p:spPr bwMode="hidden">
            <a:xfrm>
              <a:off x="5277" y="1614"/>
              <a:ext cx="124"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35" name="Oval 195"/>
            <p:cNvSpPr>
              <a:spLocks noChangeArrowheads="1"/>
            </p:cNvSpPr>
            <p:nvPr/>
          </p:nvSpPr>
          <p:spPr bwMode="hidden">
            <a:xfrm>
              <a:off x="5398" y="1521"/>
              <a:ext cx="123" cy="51"/>
            </a:xfrm>
            <a:prstGeom prst="ellipse">
              <a:avLst/>
            </a:prstGeom>
            <a:gradFill rotWithShape="0">
              <a:gsLst>
                <a:gs pos="0">
                  <a:schemeClr val="bg2"/>
                </a:gs>
                <a:gs pos="100000">
                  <a:schemeClr val="bg2">
                    <a:gamma/>
                    <a:shade val="81961"/>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36" name="Oval 196"/>
            <p:cNvSpPr>
              <a:spLocks noChangeArrowheads="1"/>
            </p:cNvSpPr>
            <p:nvPr/>
          </p:nvSpPr>
          <p:spPr bwMode="hidden">
            <a:xfrm>
              <a:off x="3255" y="4071"/>
              <a:ext cx="196" cy="106"/>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37" name="Oval 197"/>
            <p:cNvSpPr>
              <a:spLocks noChangeArrowheads="1"/>
            </p:cNvSpPr>
            <p:nvPr/>
          </p:nvSpPr>
          <p:spPr bwMode="hidden">
            <a:xfrm>
              <a:off x="3651" y="3693"/>
              <a:ext cx="196" cy="111"/>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38" name="Oval 198"/>
            <p:cNvSpPr>
              <a:spLocks noChangeArrowheads="1"/>
            </p:cNvSpPr>
            <p:nvPr/>
          </p:nvSpPr>
          <p:spPr bwMode="hidden">
            <a:xfrm>
              <a:off x="4773" y="3705"/>
              <a:ext cx="201" cy="106"/>
            </a:xfrm>
            <a:prstGeom prst="ellipse">
              <a:avLst/>
            </a:prstGeom>
            <a:gradFill rotWithShape="0">
              <a:gsLst>
                <a:gs pos="0">
                  <a:schemeClr val="accent2"/>
                </a:gs>
                <a:gs pos="100000">
                  <a:schemeClr val="accent2">
                    <a:gamma/>
                    <a:shade val="3921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39" name="Oval 199"/>
            <p:cNvSpPr>
              <a:spLocks noChangeArrowheads="1"/>
            </p:cNvSpPr>
            <p:nvPr/>
          </p:nvSpPr>
          <p:spPr bwMode="hidden">
            <a:xfrm>
              <a:off x="4491" y="4049"/>
              <a:ext cx="196" cy="105"/>
            </a:xfrm>
            <a:prstGeom prst="ellipse">
              <a:avLst/>
            </a:prstGeom>
            <a:gradFill rotWithShape="0">
              <a:gsLst>
                <a:gs pos="0">
                  <a:schemeClr val="accent2"/>
                </a:gs>
                <a:gs pos="100000">
                  <a:schemeClr val="accent2">
                    <a:gamma/>
                    <a:shade val="3921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40" name="Oval 200"/>
            <p:cNvSpPr>
              <a:spLocks noChangeArrowheads="1"/>
            </p:cNvSpPr>
            <p:nvPr/>
          </p:nvSpPr>
          <p:spPr bwMode="hidden">
            <a:xfrm>
              <a:off x="3989" y="3396"/>
              <a:ext cx="168" cy="96"/>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41" name="Oval 201"/>
            <p:cNvSpPr>
              <a:spLocks noChangeArrowheads="1"/>
            </p:cNvSpPr>
            <p:nvPr/>
          </p:nvSpPr>
          <p:spPr bwMode="hidden">
            <a:xfrm>
              <a:off x="4263" y="3141"/>
              <a:ext cx="167" cy="95"/>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42" name="Oval 202"/>
            <p:cNvSpPr>
              <a:spLocks noChangeArrowheads="1"/>
            </p:cNvSpPr>
            <p:nvPr/>
          </p:nvSpPr>
          <p:spPr bwMode="hidden">
            <a:xfrm>
              <a:off x="5044" y="3418"/>
              <a:ext cx="167" cy="95"/>
            </a:xfrm>
            <a:prstGeom prst="ellipse">
              <a:avLst/>
            </a:prstGeom>
            <a:gradFill rotWithShape="0">
              <a:gsLst>
                <a:gs pos="0">
                  <a:schemeClr val="accent2"/>
                </a:gs>
                <a:gs pos="100000">
                  <a:schemeClr val="accent2">
                    <a:gamma/>
                    <a:shade val="3921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43" name="Oval 203"/>
            <p:cNvSpPr>
              <a:spLocks noChangeArrowheads="1"/>
            </p:cNvSpPr>
            <p:nvPr/>
          </p:nvSpPr>
          <p:spPr bwMode="hidden">
            <a:xfrm>
              <a:off x="4553" y="2873"/>
              <a:ext cx="156" cy="83"/>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44" name="Oval 204"/>
            <p:cNvSpPr>
              <a:spLocks noChangeArrowheads="1"/>
            </p:cNvSpPr>
            <p:nvPr/>
          </p:nvSpPr>
          <p:spPr bwMode="hidden">
            <a:xfrm>
              <a:off x="5293" y="3116"/>
              <a:ext cx="168" cy="95"/>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45" name="Oval 205"/>
            <p:cNvSpPr>
              <a:spLocks noChangeArrowheads="1"/>
            </p:cNvSpPr>
            <p:nvPr/>
          </p:nvSpPr>
          <p:spPr bwMode="hidden">
            <a:xfrm>
              <a:off x="5497" y="2879"/>
              <a:ext cx="156" cy="89"/>
            </a:xfrm>
            <a:prstGeom prst="ellipse">
              <a:avLst/>
            </a:prstGeom>
            <a:gradFill rotWithShape="0">
              <a:gsLst>
                <a:gs pos="0">
                  <a:schemeClr val="accent2"/>
                </a:gs>
                <a:gs pos="100000">
                  <a:schemeClr val="accent2">
                    <a:gamma/>
                    <a:shade val="3921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46" name="Oval 206"/>
            <p:cNvSpPr>
              <a:spLocks noChangeArrowheads="1"/>
            </p:cNvSpPr>
            <p:nvPr/>
          </p:nvSpPr>
          <p:spPr bwMode="hidden">
            <a:xfrm>
              <a:off x="4772" y="2673"/>
              <a:ext cx="156" cy="83"/>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47" name="Oval 207"/>
            <p:cNvSpPr>
              <a:spLocks noChangeArrowheads="1"/>
            </p:cNvSpPr>
            <p:nvPr/>
          </p:nvSpPr>
          <p:spPr bwMode="hidden">
            <a:xfrm>
              <a:off x="4966" y="2488"/>
              <a:ext cx="156" cy="84"/>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48" name="Oval 208"/>
            <p:cNvSpPr>
              <a:spLocks noChangeArrowheads="1"/>
            </p:cNvSpPr>
            <p:nvPr/>
          </p:nvSpPr>
          <p:spPr bwMode="hidden">
            <a:xfrm>
              <a:off x="5444" y="2052"/>
              <a:ext cx="134" cy="73"/>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49" name="Oval 209"/>
            <p:cNvSpPr>
              <a:spLocks noChangeArrowheads="1"/>
            </p:cNvSpPr>
            <p:nvPr/>
          </p:nvSpPr>
          <p:spPr bwMode="hidden">
            <a:xfrm>
              <a:off x="5161" y="2314"/>
              <a:ext cx="140" cy="73"/>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50" name="Oval 210"/>
            <p:cNvSpPr>
              <a:spLocks noChangeArrowheads="1"/>
            </p:cNvSpPr>
            <p:nvPr/>
          </p:nvSpPr>
          <p:spPr bwMode="hidden">
            <a:xfrm>
              <a:off x="5318" y="2176"/>
              <a:ext cx="134" cy="61"/>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51" name="Oval 211"/>
            <p:cNvSpPr>
              <a:spLocks noChangeArrowheads="1"/>
            </p:cNvSpPr>
            <p:nvPr/>
          </p:nvSpPr>
          <p:spPr bwMode="hidden">
            <a:xfrm>
              <a:off x="5581" y="1933"/>
              <a:ext cx="128" cy="61"/>
            </a:xfrm>
            <a:prstGeom prst="ellipse">
              <a:avLst/>
            </a:prstGeom>
            <a:gradFill rotWithShape="0">
              <a:gsLst>
                <a:gs pos="0">
                  <a:schemeClr val="accent2"/>
                </a:gs>
                <a:gs pos="100000">
                  <a:schemeClr val="accent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52" name="Oval 212"/>
            <p:cNvSpPr>
              <a:spLocks noChangeArrowheads="1"/>
            </p:cNvSpPr>
            <p:nvPr/>
          </p:nvSpPr>
          <p:spPr bwMode="hidden">
            <a:xfrm>
              <a:off x="5689" y="1811"/>
              <a:ext cx="128" cy="61"/>
            </a:xfrm>
            <a:prstGeom prst="ellipse">
              <a:avLst/>
            </a:prstGeom>
            <a:gradFill rotWithShape="0">
              <a:gsLst>
                <a:gs pos="0">
                  <a:schemeClr val="accent2"/>
                </a:gs>
                <a:gs pos="100000">
                  <a:schemeClr val="accent2">
                    <a:gamma/>
                    <a:shade val="57647"/>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53" name="Oval 213"/>
            <p:cNvSpPr>
              <a:spLocks noChangeArrowheads="1"/>
            </p:cNvSpPr>
            <p:nvPr/>
          </p:nvSpPr>
          <p:spPr bwMode="hidden">
            <a:xfrm>
              <a:off x="5663" y="2680"/>
              <a:ext cx="156" cy="83"/>
            </a:xfrm>
            <a:prstGeom prst="ellipse">
              <a:avLst/>
            </a:prstGeom>
            <a:gradFill rotWithShape="0">
              <a:gsLst>
                <a:gs pos="0">
                  <a:schemeClr val="accent2"/>
                </a:gs>
                <a:gs pos="100000">
                  <a:schemeClr val="accent2">
                    <a:gamma/>
                    <a:shade val="5451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54" name="Oval 214"/>
            <p:cNvSpPr>
              <a:spLocks noChangeArrowheads="1"/>
            </p:cNvSpPr>
            <p:nvPr/>
          </p:nvSpPr>
          <p:spPr bwMode="hidden">
            <a:xfrm>
              <a:off x="-65" y="2865"/>
              <a:ext cx="150" cy="89"/>
            </a:xfrm>
            <a:prstGeom prst="ellipse">
              <a:avLst/>
            </a:prstGeom>
            <a:gradFill rotWithShape="0">
              <a:gsLst>
                <a:gs pos="0">
                  <a:schemeClr val="bg1"/>
                </a:gs>
                <a:gs pos="100000">
                  <a:schemeClr val="bg1">
                    <a:gamma/>
                    <a:shade val="69804"/>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55" name="Oval 215"/>
            <p:cNvSpPr>
              <a:spLocks noChangeArrowheads="1"/>
            </p:cNvSpPr>
            <p:nvPr/>
          </p:nvSpPr>
          <p:spPr bwMode="hidden">
            <a:xfrm>
              <a:off x="2" y="2477"/>
              <a:ext cx="156" cy="89"/>
            </a:xfrm>
            <a:prstGeom prst="ellipse">
              <a:avLst/>
            </a:prstGeom>
            <a:gradFill rotWithShape="0">
              <a:gsLst>
                <a:gs pos="0">
                  <a:schemeClr val="bg1"/>
                </a:gs>
                <a:gs pos="100000">
                  <a:schemeClr val="bg1">
                    <a:gamma/>
                    <a:shade val="75686"/>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56" name="Oval 216"/>
            <p:cNvSpPr>
              <a:spLocks noChangeArrowheads="1"/>
            </p:cNvSpPr>
            <p:nvPr/>
          </p:nvSpPr>
          <p:spPr bwMode="hidden">
            <a:xfrm>
              <a:off x="-9" y="1436"/>
              <a:ext cx="106" cy="44"/>
            </a:xfrm>
            <a:prstGeom prst="ellipse">
              <a:avLst/>
            </a:prstGeom>
            <a:gradFill rotWithShape="0">
              <a:gsLst>
                <a:gs pos="0">
                  <a:schemeClr val="bg1"/>
                </a:gs>
                <a:gs pos="100000">
                  <a:schemeClr val="bg1">
                    <a:gamma/>
                    <a:shade val="90980"/>
                    <a:invGamma/>
                  </a:schemeClr>
                </a:gs>
              </a:gsLst>
              <a:lin ang="2700000" scaled="1"/>
            </a:gradFill>
            <a:ln w="9525">
              <a:noFill/>
              <a:round/>
              <a:headEnd/>
              <a:tailEnd/>
            </a:ln>
            <a:effectLst/>
          </p:spPr>
          <p:txBody>
            <a:bodyPr/>
            <a:lstStyle/>
            <a:p>
              <a:pPr>
                <a:defRPr/>
              </a:pPr>
              <a:endParaRPr lang="el-GR">
                <a:latin typeface="Arial" charset="0"/>
              </a:endParaRPr>
            </a:p>
          </p:txBody>
        </p:sp>
        <p:sp>
          <p:nvSpPr>
            <p:cNvPr id="10457" name="Oval 217"/>
            <p:cNvSpPr>
              <a:spLocks noChangeArrowheads="1"/>
            </p:cNvSpPr>
            <p:nvPr/>
          </p:nvSpPr>
          <p:spPr bwMode="hidden">
            <a:xfrm>
              <a:off x="5624" y="4010"/>
              <a:ext cx="201" cy="106"/>
            </a:xfrm>
            <a:prstGeom prst="ellipse">
              <a:avLst/>
            </a:prstGeom>
            <a:gradFill rotWithShape="0">
              <a:gsLst>
                <a:gs pos="0">
                  <a:schemeClr val="accent2"/>
                </a:gs>
                <a:gs pos="100000">
                  <a:schemeClr val="accent2">
                    <a:gamma/>
                    <a:shade val="39216"/>
                    <a:invGamma/>
                  </a:schemeClr>
                </a:gs>
              </a:gsLst>
              <a:lin ang="2700000" scaled="1"/>
            </a:gradFill>
            <a:ln w="9525">
              <a:noFill/>
              <a:round/>
              <a:headEnd/>
              <a:tailEnd/>
            </a:ln>
            <a:effectLst/>
          </p:spPr>
          <p:txBody>
            <a:bodyPr/>
            <a:lstStyle/>
            <a:p>
              <a:pPr>
                <a:defRPr/>
              </a:pPr>
              <a:endParaRPr lang="el-GR">
                <a:latin typeface="Arial" charset="0"/>
              </a:endParaRPr>
            </a:p>
          </p:txBody>
        </p:sp>
      </p:grpSp>
      <p:sp>
        <p:nvSpPr>
          <p:cNvPr id="10458" name="Rectangle 218"/>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ffectLst>
                  <a:outerShdw blurRad="38100" dist="38100" dir="2700000" algn="tl">
                    <a:srgbClr val="000000"/>
                  </a:outerShdw>
                </a:effectLst>
                <a:latin typeface="Arial" charset="0"/>
              </a:defRPr>
            </a:lvl1pPr>
          </a:lstStyle>
          <a:p>
            <a:pPr>
              <a:defRPr/>
            </a:pPr>
            <a:fld id="{04113EA7-9C13-4A7F-8B7A-021CCB5D9CC0}" type="slidenum">
              <a:rPr lang="el-GR"/>
              <a:pPr>
                <a:defRPr/>
              </a:pPr>
              <a:t>‹#›</a:t>
            </a:fld>
            <a:endParaRPr lang="el-GR"/>
          </a:p>
        </p:txBody>
      </p:sp>
      <p:sp>
        <p:nvSpPr>
          <p:cNvPr id="10459" name="Rectangle 219"/>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ffectLst>
                  <a:outerShdw blurRad="38100" dist="38100" dir="2700000" algn="tl">
                    <a:srgbClr val="000000"/>
                  </a:outerShdw>
                </a:effectLst>
                <a:latin typeface="Arial" charset="0"/>
              </a:defRPr>
            </a:lvl1pPr>
          </a:lstStyle>
          <a:p>
            <a:pPr>
              <a:defRPr/>
            </a:pPr>
            <a:endParaRPr lang="el-GR"/>
          </a:p>
        </p:txBody>
      </p:sp>
      <p:sp>
        <p:nvSpPr>
          <p:cNvPr id="10460" name="Rectangle 220"/>
          <p:cNvSpPr>
            <a:spLocks noGrp="1" noChangeArrowheads="1"/>
          </p:cNvSpPr>
          <p:nvPr>
            <p:ph type="ftr" sz="quarter" idx="3"/>
          </p:nvPr>
        </p:nvSpPr>
        <p:spPr bwMode="auto">
          <a:xfrm>
            <a:off x="3124200" y="62436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a:effectLst>
                  <a:outerShdw blurRad="38100" dist="38100" dir="2700000" algn="tl">
                    <a:srgbClr val="000000"/>
                  </a:outerShdw>
                </a:effectLst>
                <a:latin typeface="Arial" charset="0"/>
              </a:defRPr>
            </a:lvl1pPr>
          </a:lstStyle>
          <a:p>
            <a:pPr>
              <a:defRPr/>
            </a:pPr>
            <a:endParaRPr lang="el-GR"/>
          </a:p>
        </p:txBody>
      </p:sp>
      <p:sp>
        <p:nvSpPr>
          <p:cNvPr id="10461" name="Rectangle 221"/>
          <p:cNvSpPr>
            <a:spLocks noGrp="1" noChangeArrowheads="1"/>
          </p:cNvSpPr>
          <p:nvPr>
            <p:ph type="body" idx="1"/>
          </p:nvPr>
        </p:nvSpPr>
        <p:spPr bwMode="auto">
          <a:xfrm>
            <a:off x="457200" y="1600200"/>
            <a:ext cx="8229600" cy="4533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l-GR" smtClean="0"/>
              <a:t>Click to edit Master text styles</a:t>
            </a:r>
          </a:p>
          <a:p>
            <a:pPr lvl="1"/>
            <a:r>
              <a:rPr lang="el-GR" smtClean="0"/>
              <a:t>Second level</a:t>
            </a:r>
          </a:p>
          <a:p>
            <a:pPr lvl="2"/>
            <a:r>
              <a:rPr lang="el-GR" smtClean="0"/>
              <a:t>Third level</a:t>
            </a:r>
          </a:p>
          <a:p>
            <a:pPr lvl="3"/>
            <a:r>
              <a:rPr lang="el-GR" smtClean="0"/>
              <a:t>Fourth level</a:t>
            </a:r>
          </a:p>
          <a:p>
            <a:pPr lvl="4"/>
            <a:r>
              <a:rPr lang="el-GR" smtClean="0"/>
              <a:t>Fifth level</a:t>
            </a:r>
          </a:p>
        </p:txBody>
      </p:sp>
      <p:sp>
        <p:nvSpPr>
          <p:cNvPr id="10462" name="Rectangle 22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l-GR" smtClean="0"/>
              <a:t>Click to edit Master title style</a:t>
            </a:r>
          </a:p>
        </p:txBody>
      </p:sp>
    </p:spTree>
  </p:cSld>
  <p:clrMap bg1="dk2" tx1="lt1" bg2="dk1" tx2="lt2" accent1="accent1" accent2="accent2" accent3="accent3" accent4="accent4" accent5="accent5" accent6="accent6" hlink="hlink" folHlink="folHlink"/>
  <p:sldLayoutIdLst>
    <p:sldLayoutId id="2147483798"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Font typeface="Wingdings" pitchFamily="2" charset="2"/>
        <a:buBlip>
          <a:blip r:embed="rId13"/>
        </a:buBlip>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50000"/>
        <a:buFont typeface="Wingdings"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itchFamily="2" charset="2"/>
        <a:buBlip>
          <a:blip r:embed="rId13"/>
        </a:buBlip>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itchFamily="2" charset="2"/>
        <a:buBlip>
          <a:blip r:embed="rId13"/>
        </a:buBlip>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Blip>
          <a:blip r:embed="rId13"/>
        </a:buBlip>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Blip>
          <a:blip r:embed="rId13"/>
        </a:buBlip>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Blip>
          <a:blip r:embed="rId13"/>
        </a:buBlip>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Blip>
          <a:blip r:embed="rId13"/>
        </a:buBlip>
        <a:defRPr sz="2000">
          <a:solidFill>
            <a:schemeClr val="tx1"/>
          </a:solidFill>
          <a:effectLst>
            <a:outerShdw blurRad="38100" dist="38100" dir="2700000" algn="tl">
              <a:srgbClr val="000000"/>
            </a:outerShdw>
          </a:effectLst>
          <a:latin typeface="+mn-lt"/>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ctrTitle"/>
          </p:nvPr>
        </p:nvSpPr>
        <p:spPr>
          <a:xfrm>
            <a:off x="0" y="1743075"/>
            <a:ext cx="9144000" cy="1709738"/>
          </a:xfrm>
        </p:spPr>
        <p:txBody>
          <a:bodyPr/>
          <a:lstStyle/>
          <a:p>
            <a:pPr eaLnBrk="1" hangingPunct="1">
              <a:defRPr/>
            </a:pPr>
            <a:r>
              <a:rPr lang="en-US" sz="2800" b="1" dirty="0" smtClean="0"/>
              <a:t>HEALTH AND GROWTH:</a:t>
            </a:r>
            <a:br>
              <a:rPr lang="en-US" sz="2800" b="1" dirty="0" smtClean="0"/>
            </a:br>
            <a:r>
              <a:rPr lang="en-US" sz="2800" b="1" dirty="0" smtClean="0"/>
              <a:t>A META-REGRESSION ANALYSIS</a:t>
            </a:r>
            <a:endParaRPr lang="el-GR" sz="2800" b="1" dirty="0" smtClean="0"/>
          </a:p>
        </p:txBody>
      </p:sp>
      <p:sp>
        <p:nvSpPr>
          <p:cNvPr id="3075" name="Rectangle 11"/>
          <p:cNvSpPr>
            <a:spLocks noChangeArrowheads="1"/>
          </p:cNvSpPr>
          <p:nvPr/>
        </p:nvSpPr>
        <p:spPr bwMode="auto">
          <a:xfrm>
            <a:off x="0" y="2809875"/>
            <a:ext cx="9144000" cy="0"/>
          </a:xfrm>
          <a:prstGeom prst="rect">
            <a:avLst/>
          </a:prstGeom>
          <a:noFill/>
          <a:ln w="12700" cap="sq">
            <a:noFill/>
            <a:miter lim="800000"/>
            <a:headEnd type="none" w="sm" len="sm"/>
            <a:tailEnd type="none" w="sm" len="sm"/>
          </a:ln>
        </p:spPr>
        <p:txBody>
          <a:bodyPr wrap="none" anchor="ctr">
            <a:spAutoFit/>
          </a:bodyPr>
          <a:lstStyle/>
          <a:p>
            <a:endParaRPr lang="el-GR"/>
          </a:p>
        </p:txBody>
      </p:sp>
      <p:pic>
        <p:nvPicPr>
          <p:cNvPr id="3076" name="Picture 10" descr="shma oikonomikou"/>
          <p:cNvPicPr>
            <a:picLocks noChangeAspect="1" noChangeArrowheads="1"/>
          </p:cNvPicPr>
          <p:nvPr/>
        </p:nvPicPr>
        <p:blipFill>
          <a:blip r:embed="rId2" cstate="print"/>
          <a:srcRect/>
          <a:stretch>
            <a:fillRect/>
          </a:stretch>
        </p:blipFill>
        <p:spPr bwMode="auto">
          <a:xfrm>
            <a:off x="4211638" y="117475"/>
            <a:ext cx="896937" cy="969963"/>
          </a:xfrm>
          <a:prstGeom prst="rect">
            <a:avLst/>
          </a:prstGeom>
          <a:noFill/>
          <a:ln w="9525">
            <a:noFill/>
            <a:miter lim="800000"/>
            <a:headEnd/>
            <a:tailEnd/>
          </a:ln>
        </p:spPr>
      </p:pic>
      <p:sp>
        <p:nvSpPr>
          <p:cNvPr id="3077" name="Rectangle 12"/>
          <p:cNvSpPr>
            <a:spLocks noChangeArrowheads="1"/>
          </p:cNvSpPr>
          <p:nvPr/>
        </p:nvSpPr>
        <p:spPr bwMode="auto">
          <a:xfrm>
            <a:off x="2546350" y="1087438"/>
            <a:ext cx="4005263" cy="655637"/>
          </a:xfrm>
          <a:prstGeom prst="rect">
            <a:avLst/>
          </a:prstGeom>
          <a:noFill/>
          <a:ln w="12700" cap="sq">
            <a:noFill/>
            <a:miter lim="800000"/>
            <a:headEnd type="none" w="sm" len="sm"/>
            <a:tailEnd type="none" w="sm" len="sm"/>
          </a:ln>
        </p:spPr>
        <p:txBody>
          <a:bodyPr lIns="55545" rIns="55545" bIns="0" anchor="ctr">
            <a:spAutoFit/>
          </a:bodyPr>
          <a:lstStyle/>
          <a:p>
            <a:pPr algn="ctr"/>
            <a:r>
              <a:rPr lang="en-US" sz="2000" b="1">
                <a:latin typeface="Times New Roman" pitchFamily="18" charset="0"/>
                <a:cs typeface="Times New Roman" pitchFamily="18" charset="0"/>
              </a:rPr>
              <a:t>UNIVERSITY OF IOANNINA</a:t>
            </a:r>
            <a:endParaRPr lang="el-GR" sz="2000">
              <a:latin typeface="Times New Roman" pitchFamily="18" charset="0"/>
              <a:cs typeface="Times New Roman" pitchFamily="18" charset="0"/>
            </a:endParaRPr>
          </a:p>
          <a:p>
            <a:pPr algn="ctr" eaLnBrk="0" hangingPunct="0"/>
            <a:r>
              <a:rPr lang="en-US" sz="2000" b="1">
                <a:latin typeface="Times New Roman" pitchFamily="18" charset="0"/>
                <a:cs typeface="Times New Roman" pitchFamily="18" charset="0"/>
              </a:rPr>
              <a:t>DEPARTMENT OF ECONOMICS</a:t>
            </a:r>
            <a:endParaRPr lang="el-GR" sz="2000"/>
          </a:p>
        </p:txBody>
      </p:sp>
      <p:sp>
        <p:nvSpPr>
          <p:cNvPr id="3078" name="Rectangle 15"/>
          <p:cNvSpPr>
            <a:spLocks noChangeArrowheads="1"/>
          </p:cNvSpPr>
          <p:nvPr/>
        </p:nvSpPr>
        <p:spPr bwMode="auto">
          <a:xfrm>
            <a:off x="431800" y="4059238"/>
            <a:ext cx="8278813" cy="1809750"/>
          </a:xfrm>
          <a:prstGeom prst="rect">
            <a:avLst/>
          </a:prstGeom>
          <a:noFill/>
          <a:ln w="9525">
            <a:noFill/>
            <a:miter lim="800000"/>
            <a:headEnd/>
            <a:tailEnd/>
          </a:ln>
        </p:spPr>
        <p:txBody>
          <a:bodyPr anchor="b" anchorCtr="1"/>
          <a:lstStyle/>
          <a:p>
            <a:pPr algn="just"/>
            <a:r>
              <a:rPr lang="en-US" sz="2000"/>
              <a:t>Nikos Benos and Georgios Giotis</a:t>
            </a:r>
          </a:p>
          <a:p>
            <a:r>
              <a:rPr lang="en-US" sz="2000"/>
              <a:t/>
            </a:r>
            <a:br>
              <a:rPr lang="en-US" sz="2000"/>
            </a:br>
            <a:endParaRPr lang="el-GR" sz="2000"/>
          </a:p>
        </p:txBody>
      </p:sp>
      <p:sp>
        <p:nvSpPr>
          <p:cNvPr id="3079" name="Rectangle 18"/>
          <p:cNvSpPr>
            <a:spLocks noChangeArrowheads="1"/>
          </p:cNvSpPr>
          <p:nvPr/>
        </p:nvSpPr>
        <p:spPr bwMode="auto">
          <a:xfrm>
            <a:off x="350838" y="5302250"/>
            <a:ext cx="8539162" cy="1431925"/>
          </a:xfrm>
          <a:prstGeom prst="rect">
            <a:avLst/>
          </a:prstGeom>
          <a:noFill/>
          <a:ln w="9525">
            <a:noFill/>
            <a:miter lim="800000"/>
            <a:headEnd/>
            <a:tailEnd/>
          </a:ln>
        </p:spPr>
        <p:txBody>
          <a:bodyPr anchor="b" anchorCtr="1"/>
          <a:lstStyle/>
          <a:p>
            <a:endParaRPr lang="el-GR" sz="2000"/>
          </a:p>
        </p:txBody>
      </p:sp>
      <p:sp>
        <p:nvSpPr>
          <p:cNvPr id="3080" name="Rectangle 21"/>
          <p:cNvSpPr>
            <a:spLocks noChangeArrowheads="1"/>
          </p:cNvSpPr>
          <p:nvPr/>
        </p:nvSpPr>
        <p:spPr bwMode="auto">
          <a:xfrm>
            <a:off x="1984375" y="5868988"/>
            <a:ext cx="5219700" cy="461962"/>
          </a:xfrm>
          <a:prstGeom prst="rect">
            <a:avLst/>
          </a:prstGeom>
          <a:noFill/>
          <a:ln w="12700" cap="sq">
            <a:noFill/>
            <a:miter lim="800000"/>
            <a:headEnd type="none" w="sm" len="sm"/>
            <a:tailEnd type="none" w="sm" len="sm"/>
          </a:ln>
        </p:spPr>
        <p:txBody>
          <a:bodyPr wrap="none">
            <a:spAutoFit/>
          </a:bodyPr>
          <a:lstStyle/>
          <a:p>
            <a:pPr algn="ctr"/>
            <a:r>
              <a:rPr lang="en-US" sz="2400"/>
              <a:t>MAER-Net Colloquium, Prague 2015</a:t>
            </a:r>
            <a:endParaRPr lang="el-GR" sz="220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29705" name="Rectangle 9"/>
          <p:cNvSpPr>
            <a:spLocks noGrp="1" noChangeArrowheads="1"/>
          </p:cNvSpPr>
          <p:nvPr>
            <p:ph type="body" idx="1"/>
          </p:nvPr>
        </p:nvSpPr>
        <p:spPr>
          <a:xfrm>
            <a:off x="0" y="1827213"/>
            <a:ext cx="9144000" cy="4662487"/>
          </a:xfrm>
        </p:spPr>
        <p:txBody>
          <a:bodyPr/>
          <a:lstStyle/>
          <a:p>
            <a:pPr eaLnBrk="1" hangingPunct="1">
              <a:lnSpc>
                <a:spcPct val="80000"/>
              </a:lnSpc>
              <a:buFont typeface="Wingdings" pitchFamily="2" charset="2"/>
              <a:buNone/>
              <a:defRPr/>
            </a:pPr>
            <a:endParaRPr lang="en-US" sz="500" dirty="0" smtClean="0"/>
          </a:p>
          <a:p>
            <a:pPr marL="548640" indent="-411480" algn="ctr" eaLnBrk="1" fontAlgn="auto" hangingPunct="1">
              <a:spcAft>
                <a:spcPts val="0"/>
              </a:spcAft>
              <a:buClr>
                <a:schemeClr val="tx1">
                  <a:shade val="95000"/>
                </a:schemeClr>
              </a:buClr>
              <a:buFontTx/>
              <a:buChar char="-"/>
              <a:defRPr/>
            </a:pPr>
            <a:r>
              <a:rPr lang="en-GB" sz="2400" b="1" i="1" dirty="0" smtClean="0">
                <a:latin typeface="Lucida Sans (Επικεφαλίδες)"/>
              </a:rPr>
              <a:t>The theoretical literature on human capital and economic growth</a:t>
            </a:r>
            <a:r>
              <a:rPr lang="en-GB" sz="2400" b="1" dirty="0" smtClean="0">
                <a:latin typeface="Lucida Sans (Επικεφαλίδες)"/>
              </a:rPr>
              <a:t>.</a:t>
            </a:r>
          </a:p>
          <a:p>
            <a:pPr marL="548640" indent="-411480" eaLnBrk="1" fontAlgn="auto" hangingPunct="1">
              <a:spcAft>
                <a:spcPts val="0"/>
              </a:spcAft>
              <a:buClr>
                <a:schemeClr val="tx1">
                  <a:shade val="95000"/>
                </a:schemeClr>
              </a:buClr>
              <a:buFont typeface="Wingdings 2"/>
              <a:buChar char=""/>
              <a:defRPr/>
            </a:pPr>
            <a:endParaRPr lang="en-GB" sz="2400" dirty="0" smtClean="0">
              <a:latin typeface="Lucida Sans (Επικεφαλίδες)"/>
            </a:endParaRPr>
          </a:p>
          <a:p>
            <a:pPr marL="548640" indent="-411480" eaLnBrk="1" fontAlgn="auto" hangingPunct="1">
              <a:spcAft>
                <a:spcPts val="0"/>
              </a:spcAft>
              <a:buClr>
                <a:schemeClr val="tx1">
                  <a:shade val="95000"/>
                </a:schemeClr>
              </a:buClr>
              <a:buFont typeface="Wingdings 2"/>
              <a:buChar char=""/>
              <a:defRPr/>
            </a:pPr>
            <a:r>
              <a:rPr lang="en-GB" sz="2400" dirty="0" smtClean="0">
                <a:latin typeface="Lucida Sans (Επικεφαλίδες)"/>
              </a:rPr>
              <a:t>Human capital can be considered as those skills, abilities and knowledge embodied in individuals. </a:t>
            </a:r>
          </a:p>
          <a:p>
            <a:pPr marL="548640" indent="-411480" eaLnBrk="1" fontAlgn="auto" hangingPunct="1">
              <a:spcAft>
                <a:spcPts val="0"/>
              </a:spcAft>
              <a:buClr>
                <a:schemeClr val="tx1">
                  <a:shade val="95000"/>
                </a:schemeClr>
              </a:buClr>
              <a:buFont typeface="Wingdings 2"/>
              <a:buChar char=""/>
              <a:defRPr/>
            </a:pPr>
            <a:endParaRPr lang="en-GB" sz="2400" dirty="0" smtClean="0">
              <a:latin typeface="Lucida Sans (Επικεφαλίδες)"/>
            </a:endParaRPr>
          </a:p>
          <a:p>
            <a:pPr marL="548640" indent="-411480" algn="just" eaLnBrk="1" fontAlgn="auto" hangingPunct="1">
              <a:spcAft>
                <a:spcPts val="0"/>
              </a:spcAft>
              <a:buClr>
                <a:schemeClr val="tx1">
                  <a:shade val="95000"/>
                </a:schemeClr>
              </a:buClr>
              <a:buFont typeface="Wingdings 2"/>
              <a:buChar char=""/>
              <a:defRPr/>
            </a:pPr>
            <a:r>
              <a:rPr lang="en-GB" sz="2400" dirty="0" smtClean="0">
                <a:latin typeface="Lucida Sans (Επικεφαλίδες)"/>
              </a:rPr>
              <a:t>Human capital is acquired through education, health, training, migration and other investments that enhance individual productivity. </a:t>
            </a:r>
          </a:p>
          <a:p>
            <a:pPr marL="548640" indent="-411480" eaLnBrk="1" fontAlgn="auto" hangingPunct="1">
              <a:spcAft>
                <a:spcPts val="0"/>
              </a:spcAft>
              <a:buClr>
                <a:schemeClr val="tx1">
                  <a:shade val="95000"/>
                </a:schemeClr>
              </a:buClr>
              <a:buFont typeface="Wingdings 2"/>
              <a:buChar char=""/>
              <a:defRPr/>
            </a:pPr>
            <a:endParaRPr lang="en-GB" sz="2400" dirty="0" smtClean="0">
              <a:latin typeface="Lucida Sans (Επικεφαλίδες)"/>
            </a:endParaRPr>
          </a:p>
          <a:p>
            <a:pPr marL="548640" indent="-411480" algn="just" eaLnBrk="1" fontAlgn="auto" hangingPunct="1">
              <a:spcAft>
                <a:spcPts val="0"/>
              </a:spcAft>
              <a:buClr>
                <a:schemeClr val="tx1">
                  <a:shade val="95000"/>
                </a:schemeClr>
              </a:buClr>
              <a:buFont typeface="Wingdings 2"/>
              <a:buChar char=""/>
              <a:defRPr/>
            </a:pPr>
            <a:r>
              <a:rPr lang="en-GB" sz="2400" dirty="0" smtClean="0">
                <a:latin typeface="Lucida Sans (Επικεφαλίδες)"/>
              </a:rPr>
              <a:t>Education and health are considered to be the most significant investments in human capital.</a:t>
            </a:r>
            <a:endParaRPr lang="en-GB" sz="2400" dirty="0" smtClean="0"/>
          </a:p>
        </p:txBody>
      </p:sp>
      <p:sp>
        <p:nvSpPr>
          <p:cNvPr id="4100" name="Rectangle 18"/>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
        <p:nvSpPr>
          <p:cNvPr id="9" name="8 - Ορθογώνιο"/>
          <p:cNvSpPr/>
          <p:nvPr/>
        </p:nvSpPr>
        <p:spPr>
          <a:xfrm>
            <a:off x="0" y="836613"/>
            <a:ext cx="9144000" cy="923925"/>
          </a:xfrm>
          <a:prstGeom prst="rect">
            <a:avLst/>
          </a:prstGeom>
        </p:spPr>
        <p:txBody>
          <a:bodyPr>
            <a:spAutoFit/>
          </a:bodyPr>
          <a:lstStyle/>
          <a:p>
            <a:pPr algn="ctr">
              <a:defRPr/>
            </a:pPr>
            <a:endParaRPr lang="en-GB" sz="2600" i="1" dirty="0">
              <a:latin typeface="Arial" charset="0"/>
            </a:endParaRPr>
          </a:p>
          <a:p>
            <a:pPr algn="ctr">
              <a:defRPr/>
            </a:pPr>
            <a:r>
              <a:rPr lang="en-GB" sz="2800" i="1" kern="0" dirty="0">
                <a:solidFill>
                  <a:srgbClr val="FFFFFF"/>
                </a:solidFill>
                <a:effectLst>
                  <a:outerShdw blurRad="38100" dist="38100" dir="2700000" algn="tl">
                    <a:srgbClr val="000000"/>
                  </a:outerShdw>
                </a:effectLst>
                <a:latin typeface="Arial"/>
              </a:rPr>
              <a:t>Introduction</a:t>
            </a:r>
            <a:endParaRPr lang="el-GR" sz="2800" dirty="0">
              <a:latin typeface="Arial" charset="0"/>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56326" name="Rectangle 6"/>
          <p:cNvSpPr>
            <a:spLocks noGrp="1" noChangeArrowheads="1"/>
          </p:cNvSpPr>
          <p:nvPr>
            <p:ph type="body" idx="1"/>
          </p:nvPr>
        </p:nvSpPr>
        <p:spPr>
          <a:xfrm>
            <a:off x="0" y="836613"/>
            <a:ext cx="9144000" cy="6021387"/>
          </a:xfrm>
        </p:spPr>
        <p:txBody>
          <a:bodyPr/>
          <a:lstStyle/>
          <a:p>
            <a:pPr marL="0" indent="0" algn="ctr" eaLnBrk="1" fontAlgn="auto" hangingPunct="1">
              <a:lnSpc>
                <a:spcPct val="150000"/>
              </a:lnSpc>
              <a:spcBef>
                <a:spcPct val="0"/>
              </a:spcBef>
              <a:spcAft>
                <a:spcPts val="0"/>
              </a:spcAft>
              <a:buClr>
                <a:schemeClr val="tx1">
                  <a:shade val="95000"/>
                </a:schemeClr>
              </a:buClr>
              <a:buFont typeface="Arial" pitchFamily="34" charset="0"/>
              <a:buNone/>
              <a:defRPr/>
            </a:pPr>
            <a:r>
              <a:rPr lang="en-GB" sz="2600" i="1" dirty="0" smtClean="0"/>
              <a:t>A classification of theoretical works is based on the different roles human capital in the process of economic growth.</a:t>
            </a:r>
          </a:p>
          <a:p>
            <a:pPr marL="0" indent="0" algn="just" eaLnBrk="1" fontAlgn="auto" hangingPunct="1">
              <a:lnSpc>
                <a:spcPct val="150000"/>
              </a:lnSpc>
              <a:spcBef>
                <a:spcPct val="0"/>
              </a:spcBef>
              <a:spcAft>
                <a:spcPts val="0"/>
              </a:spcAft>
              <a:buClr>
                <a:schemeClr val="tx1">
                  <a:shade val="95000"/>
                </a:schemeClr>
              </a:buClr>
              <a:buFont typeface="Arial" pitchFamily="34" charset="0"/>
              <a:buNone/>
              <a:defRPr/>
            </a:pPr>
            <a:endParaRPr lang="en-GB" sz="2400" i="1" dirty="0" smtClean="0"/>
          </a:p>
          <a:p>
            <a:pPr marL="0" indent="0" algn="just" eaLnBrk="1" fontAlgn="auto" hangingPunct="1">
              <a:lnSpc>
                <a:spcPct val="150000"/>
              </a:lnSpc>
              <a:spcBef>
                <a:spcPct val="0"/>
              </a:spcBef>
              <a:spcAft>
                <a:spcPts val="0"/>
              </a:spcAft>
              <a:buClr>
                <a:schemeClr val="tx1">
                  <a:shade val="95000"/>
                </a:schemeClr>
              </a:buClr>
              <a:buFont typeface="Arial" pitchFamily="34" charset="0"/>
              <a:buNone/>
              <a:defRPr/>
            </a:pPr>
            <a:r>
              <a:rPr lang="en-GB" sz="2400" dirty="0" smtClean="0"/>
              <a:t>- Growth models can be divided into two categories: exogenous and endogenous growth models. </a:t>
            </a:r>
          </a:p>
          <a:p>
            <a:pPr marL="548640" indent="-411480" algn="just" eaLnBrk="1" fontAlgn="auto" hangingPunct="1">
              <a:lnSpc>
                <a:spcPct val="150000"/>
              </a:lnSpc>
              <a:spcBef>
                <a:spcPct val="0"/>
              </a:spcBef>
              <a:spcAft>
                <a:spcPts val="0"/>
              </a:spcAft>
              <a:buClr>
                <a:schemeClr val="tx1">
                  <a:shade val="95000"/>
                </a:schemeClr>
              </a:buClr>
              <a:buFont typeface="Arial" pitchFamily="34" charset="0"/>
              <a:buNone/>
              <a:defRPr/>
            </a:pPr>
            <a:endParaRPr lang="en-GB" sz="800" dirty="0" smtClean="0"/>
          </a:p>
          <a:p>
            <a:pPr marL="548640" indent="-411480" algn="just" eaLnBrk="1" fontAlgn="auto" hangingPunct="1">
              <a:lnSpc>
                <a:spcPct val="150000"/>
              </a:lnSpc>
              <a:spcBef>
                <a:spcPct val="0"/>
              </a:spcBef>
              <a:spcAft>
                <a:spcPts val="0"/>
              </a:spcAft>
              <a:buClr>
                <a:schemeClr val="tx1">
                  <a:shade val="95000"/>
                </a:schemeClr>
              </a:buClr>
              <a:buFont typeface="Wingdings 2"/>
              <a:buChar char=""/>
              <a:defRPr/>
            </a:pPr>
            <a:r>
              <a:rPr lang="en-GB" sz="2400" dirty="0" smtClean="0"/>
              <a:t>Exogenous growth models include the Solow-Swan model and its extensions (augmented neoclassical models). </a:t>
            </a:r>
          </a:p>
          <a:p>
            <a:pPr marL="548640" indent="-411480" algn="just" eaLnBrk="1" fontAlgn="auto" hangingPunct="1">
              <a:lnSpc>
                <a:spcPct val="150000"/>
              </a:lnSpc>
              <a:spcBef>
                <a:spcPct val="0"/>
              </a:spcBef>
              <a:spcAft>
                <a:spcPts val="0"/>
              </a:spcAft>
              <a:buClr>
                <a:schemeClr val="tx1">
                  <a:shade val="95000"/>
                </a:schemeClr>
              </a:buClr>
              <a:buFont typeface="Wingdings 2"/>
              <a:buChar char=""/>
              <a:defRPr/>
            </a:pPr>
            <a:endParaRPr lang="en-GB" sz="800" dirty="0" smtClean="0"/>
          </a:p>
          <a:p>
            <a:pPr marL="548640" indent="-411480" algn="just" eaLnBrk="1" fontAlgn="auto" hangingPunct="1">
              <a:lnSpc>
                <a:spcPct val="150000"/>
              </a:lnSpc>
              <a:spcBef>
                <a:spcPct val="0"/>
              </a:spcBef>
              <a:spcAft>
                <a:spcPts val="0"/>
              </a:spcAft>
              <a:buClr>
                <a:schemeClr val="tx1">
                  <a:shade val="95000"/>
                </a:schemeClr>
              </a:buClr>
              <a:buFont typeface="Wingdings 2"/>
              <a:buChar char=""/>
              <a:defRPr/>
            </a:pPr>
            <a:r>
              <a:rPr lang="en-GB" sz="2400" dirty="0" smtClean="0"/>
              <a:t>Endogenous growth models consider human capital accumulation and productive knowledge as driving forces of economic growth.</a:t>
            </a:r>
            <a:endParaRPr lang="el-GR" sz="2400" dirty="0" smtClean="0"/>
          </a:p>
          <a:p>
            <a:pPr algn="ctr" eaLnBrk="1" hangingPunct="1">
              <a:buFont typeface="Wingdings" pitchFamily="2" charset="2"/>
              <a:buNone/>
              <a:defRPr/>
            </a:pPr>
            <a:r>
              <a:rPr lang="en-GB" sz="2400" i="1" dirty="0" smtClean="0"/>
              <a:t>.</a:t>
            </a:r>
            <a:endParaRPr lang="en-US" sz="2400" dirty="0" smtClean="0"/>
          </a:p>
        </p:txBody>
      </p:sp>
      <p:sp>
        <p:nvSpPr>
          <p:cNvPr id="5124"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56326" name="Rectangle 6"/>
          <p:cNvSpPr>
            <a:spLocks noGrp="1" noChangeArrowheads="1"/>
          </p:cNvSpPr>
          <p:nvPr>
            <p:ph type="body" idx="1"/>
          </p:nvPr>
        </p:nvSpPr>
        <p:spPr>
          <a:xfrm>
            <a:off x="0" y="836613"/>
            <a:ext cx="9144000" cy="6021387"/>
          </a:xfrm>
        </p:spPr>
        <p:txBody>
          <a:bodyPr/>
          <a:lstStyle/>
          <a:p>
            <a:pPr marL="0" indent="0" algn="ctr" eaLnBrk="1" fontAlgn="auto" hangingPunct="1">
              <a:spcBef>
                <a:spcPct val="0"/>
              </a:spcBef>
              <a:spcAft>
                <a:spcPts val="0"/>
              </a:spcAft>
              <a:buClr>
                <a:schemeClr val="tx1">
                  <a:shade val="95000"/>
                </a:schemeClr>
              </a:buClr>
              <a:buFont typeface="Wingdings" pitchFamily="2" charset="2"/>
              <a:buNone/>
              <a:defRPr/>
            </a:pPr>
            <a:r>
              <a:rPr lang="en-US" sz="2700" i="1" dirty="0" smtClean="0"/>
              <a:t>The empirical literature on health human capital and economic growth.</a:t>
            </a:r>
          </a:p>
          <a:p>
            <a:pPr marL="0" indent="0" algn="ctr" eaLnBrk="1" fontAlgn="auto" hangingPunct="1">
              <a:spcBef>
                <a:spcPct val="0"/>
              </a:spcBef>
              <a:spcAft>
                <a:spcPts val="0"/>
              </a:spcAft>
              <a:buClr>
                <a:schemeClr val="tx1">
                  <a:shade val="95000"/>
                </a:schemeClr>
              </a:buClr>
              <a:buFont typeface="Wingdings" pitchFamily="2" charset="2"/>
              <a:buNone/>
              <a:defRPr/>
            </a:pPr>
            <a:endParaRPr lang="en-GB" sz="2500" i="1" dirty="0" smtClean="0"/>
          </a:p>
          <a:p>
            <a:pPr marL="0" indent="0" algn="just" eaLnBrk="1" fontAlgn="auto" hangingPunct="1">
              <a:spcAft>
                <a:spcPts val="0"/>
              </a:spcAft>
              <a:buClr>
                <a:schemeClr val="tx1">
                  <a:shade val="95000"/>
                </a:schemeClr>
              </a:buClr>
              <a:buFont typeface="Wingdings 2"/>
              <a:buChar char=""/>
              <a:defRPr/>
            </a:pPr>
            <a:r>
              <a:rPr lang="en-GB" sz="2400" dirty="0" smtClean="0"/>
              <a:t> </a:t>
            </a:r>
            <a:r>
              <a:rPr lang="en-US" sz="2400" dirty="0" smtClean="0"/>
              <a:t>The empirical results </a:t>
            </a:r>
            <a:r>
              <a:rPr lang="en-GB" sz="2400" dirty="0" smtClean="0"/>
              <a:t>remain controversial, since they </a:t>
            </a:r>
            <a:r>
              <a:rPr lang="en-US" sz="2400" dirty="0" smtClean="0"/>
              <a:t>have not always been consistent with those produced by theoretical growth models. </a:t>
            </a:r>
          </a:p>
          <a:p>
            <a:pPr marL="0" indent="0" algn="just" eaLnBrk="1" fontAlgn="auto" hangingPunct="1">
              <a:spcAft>
                <a:spcPts val="0"/>
              </a:spcAft>
              <a:buClr>
                <a:schemeClr val="tx1">
                  <a:shade val="95000"/>
                </a:schemeClr>
              </a:buClr>
              <a:buFont typeface="Wingdings 2"/>
              <a:buChar char=""/>
              <a:defRPr/>
            </a:pPr>
            <a:endParaRPr lang="en-US" sz="800" dirty="0" smtClean="0"/>
          </a:p>
          <a:p>
            <a:pPr marL="0" indent="0" algn="just" eaLnBrk="1" fontAlgn="auto" hangingPunct="1">
              <a:spcAft>
                <a:spcPts val="0"/>
              </a:spcAft>
              <a:buClr>
                <a:schemeClr val="tx1">
                  <a:shade val="95000"/>
                </a:schemeClr>
              </a:buClr>
              <a:buFont typeface="Wingdings 2"/>
              <a:buChar char=""/>
              <a:defRPr/>
            </a:pPr>
            <a:r>
              <a:rPr lang="en-GB" sz="2400" dirty="0" smtClean="0"/>
              <a:t> Health human capital proxies are often not significant or enter with negative sign in growth analysis.</a:t>
            </a:r>
          </a:p>
          <a:p>
            <a:pPr marL="0" indent="0" algn="just" eaLnBrk="1" fontAlgn="auto" hangingPunct="1">
              <a:spcAft>
                <a:spcPts val="0"/>
              </a:spcAft>
              <a:buClr>
                <a:schemeClr val="tx1">
                  <a:shade val="95000"/>
                </a:schemeClr>
              </a:buClr>
              <a:buFont typeface="Wingdings 2"/>
              <a:buChar char=""/>
              <a:defRPr/>
            </a:pPr>
            <a:endParaRPr lang="en-GB" sz="800" dirty="0" smtClean="0"/>
          </a:p>
          <a:p>
            <a:pPr marL="0" indent="0" algn="just" eaLnBrk="1" fontAlgn="auto" hangingPunct="1">
              <a:spcAft>
                <a:spcPts val="0"/>
              </a:spcAft>
              <a:buClr>
                <a:schemeClr val="tx1">
                  <a:shade val="95000"/>
                </a:schemeClr>
              </a:buClr>
              <a:buFont typeface="Wingdings 2"/>
              <a:buChar char=""/>
              <a:defRPr/>
            </a:pPr>
            <a:r>
              <a:rPr lang="en-GB" sz="2400" dirty="0" smtClean="0"/>
              <a:t> Empirical evidence depends on technical problems that have to do with:</a:t>
            </a:r>
          </a:p>
          <a:p>
            <a:pPr marL="514350" indent="-514350" algn="just" eaLnBrk="1" fontAlgn="auto" hangingPunct="1">
              <a:spcAft>
                <a:spcPts val="0"/>
              </a:spcAft>
              <a:buClr>
                <a:schemeClr val="tx1">
                  <a:shade val="95000"/>
                </a:schemeClr>
              </a:buClr>
              <a:buFont typeface="+mj-lt"/>
              <a:buAutoNum type="romanUcPeriod"/>
              <a:defRPr/>
            </a:pPr>
            <a:r>
              <a:rPr lang="en-GB" sz="2400" dirty="0" smtClean="0"/>
              <a:t>the definition of the variables,</a:t>
            </a:r>
          </a:p>
          <a:p>
            <a:pPr marL="514350" indent="-514350" algn="just" eaLnBrk="1" fontAlgn="auto" hangingPunct="1">
              <a:spcAft>
                <a:spcPts val="0"/>
              </a:spcAft>
              <a:buClr>
                <a:schemeClr val="tx1">
                  <a:shade val="95000"/>
                </a:schemeClr>
              </a:buClr>
              <a:buFont typeface="+mj-lt"/>
              <a:buAutoNum type="romanUcPeriod"/>
              <a:defRPr/>
            </a:pPr>
            <a:r>
              <a:rPr lang="en-GB" sz="2400" dirty="0" smtClean="0"/>
              <a:t>the methodology used, and</a:t>
            </a:r>
          </a:p>
          <a:p>
            <a:pPr marL="514350" indent="-514350" algn="just" eaLnBrk="1" fontAlgn="auto" hangingPunct="1">
              <a:spcAft>
                <a:spcPts val="0"/>
              </a:spcAft>
              <a:buClr>
                <a:schemeClr val="tx1">
                  <a:shade val="95000"/>
                </a:schemeClr>
              </a:buClr>
              <a:buFont typeface="+mj-lt"/>
              <a:buAutoNum type="romanUcPeriod"/>
              <a:defRPr/>
            </a:pPr>
            <a:r>
              <a:rPr lang="en-GB" sz="2400" dirty="0" smtClean="0"/>
              <a:t>the time period over which the model is estimated. </a:t>
            </a:r>
            <a:endParaRPr lang="el-GR" sz="2400" dirty="0" smtClean="0"/>
          </a:p>
          <a:p>
            <a:pPr algn="ctr" eaLnBrk="1" hangingPunct="1">
              <a:buFont typeface="Wingdings" pitchFamily="2" charset="2"/>
              <a:buNone/>
              <a:defRPr/>
            </a:pPr>
            <a:r>
              <a:rPr lang="en-GB" sz="2400" i="1" dirty="0" smtClean="0"/>
              <a:t>.</a:t>
            </a:r>
            <a:endParaRPr lang="en-US" sz="2400" dirty="0" smtClean="0"/>
          </a:p>
        </p:txBody>
      </p:sp>
      <p:sp>
        <p:nvSpPr>
          <p:cNvPr id="6148"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56326" name="Rectangle 6"/>
          <p:cNvSpPr>
            <a:spLocks noGrp="1" noChangeArrowheads="1"/>
          </p:cNvSpPr>
          <p:nvPr>
            <p:ph type="body" idx="1"/>
          </p:nvPr>
        </p:nvSpPr>
        <p:spPr>
          <a:xfrm>
            <a:off x="0" y="836613"/>
            <a:ext cx="9144000" cy="6021387"/>
          </a:xfrm>
        </p:spPr>
        <p:txBody>
          <a:bodyPr/>
          <a:lstStyle/>
          <a:p>
            <a:pPr marL="0" indent="0" algn="ctr" eaLnBrk="1" fontAlgn="auto" hangingPunct="1">
              <a:lnSpc>
                <a:spcPct val="150000"/>
              </a:lnSpc>
              <a:spcBef>
                <a:spcPct val="0"/>
              </a:spcBef>
              <a:spcAft>
                <a:spcPts val="0"/>
              </a:spcAft>
              <a:buClr>
                <a:schemeClr val="tx1">
                  <a:shade val="95000"/>
                </a:schemeClr>
              </a:buClr>
              <a:buFont typeface="Arial" pitchFamily="34" charset="0"/>
              <a:buNone/>
              <a:defRPr/>
            </a:pPr>
            <a:r>
              <a:rPr lang="en-GB" sz="2700" i="1" dirty="0" smtClean="0"/>
              <a:t>MRA</a:t>
            </a:r>
          </a:p>
          <a:p>
            <a:pPr marL="0" indent="0" algn="ctr" eaLnBrk="1" fontAlgn="auto" hangingPunct="1">
              <a:lnSpc>
                <a:spcPct val="150000"/>
              </a:lnSpc>
              <a:spcBef>
                <a:spcPct val="0"/>
              </a:spcBef>
              <a:spcAft>
                <a:spcPts val="0"/>
              </a:spcAft>
              <a:buClr>
                <a:schemeClr val="tx1">
                  <a:shade val="95000"/>
                </a:schemeClr>
              </a:buClr>
              <a:buFont typeface="Arial" pitchFamily="34" charset="0"/>
              <a:buNone/>
              <a:defRPr/>
            </a:pPr>
            <a:endParaRPr lang="en-GB" sz="2700" i="1" dirty="0" smtClean="0"/>
          </a:p>
          <a:p>
            <a:pPr marL="0" indent="0" algn="just" eaLnBrk="1" fontAlgn="auto" hangingPunct="1">
              <a:spcBef>
                <a:spcPct val="0"/>
              </a:spcBef>
              <a:spcAft>
                <a:spcPts val="0"/>
              </a:spcAft>
              <a:buClr>
                <a:schemeClr val="tx1">
                  <a:shade val="95000"/>
                </a:schemeClr>
              </a:buClr>
              <a:buFont typeface="Wingdings" pitchFamily="2" charset="2"/>
              <a:buChar char="Ø"/>
              <a:defRPr/>
            </a:pPr>
            <a:r>
              <a:rPr lang="en-US" sz="2400" dirty="0" smtClean="0"/>
              <a:t>Given the diversity of empirical findings on the link between health and growth, we conduct Meta-Regression Analysis (MRA).</a:t>
            </a:r>
          </a:p>
          <a:p>
            <a:pPr marL="0" indent="0" algn="just" eaLnBrk="1" fontAlgn="auto" hangingPunct="1">
              <a:spcBef>
                <a:spcPct val="0"/>
              </a:spcBef>
              <a:spcAft>
                <a:spcPts val="0"/>
              </a:spcAft>
              <a:buClr>
                <a:schemeClr val="tx1">
                  <a:shade val="95000"/>
                </a:schemeClr>
              </a:buClr>
              <a:buFont typeface="Wingdings" pitchFamily="2" charset="2"/>
              <a:buChar char="Ø"/>
              <a:defRPr/>
            </a:pPr>
            <a:endParaRPr lang="en-US" sz="800" dirty="0" smtClean="0"/>
          </a:p>
          <a:p>
            <a:pPr marL="0" indent="0" algn="just" eaLnBrk="1" fontAlgn="auto" hangingPunct="1">
              <a:spcBef>
                <a:spcPct val="0"/>
              </a:spcBef>
              <a:spcAft>
                <a:spcPts val="0"/>
              </a:spcAft>
              <a:buClr>
                <a:schemeClr val="tx1">
                  <a:shade val="95000"/>
                </a:schemeClr>
              </a:buClr>
              <a:buFont typeface="Wingdings" pitchFamily="2" charset="2"/>
              <a:buChar char="Ø"/>
              <a:defRPr/>
            </a:pPr>
            <a:endParaRPr lang="en-US" sz="800" dirty="0" smtClean="0"/>
          </a:p>
          <a:p>
            <a:pPr marL="0" indent="0" algn="just" eaLnBrk="1" fontAlgn="auto" hangingPunct="1">
              <a:spcBef>
                <a:spcPct val="0"/>
              </a:spcBef>
              <a:spcAft>
                <a:spcPts val="0"/>
              </a:spcAft>
              <a:buClr>
                <a:schemeClr val="tx1">
                  <a:shade val="95000"/>
                </a:schemeClr>
              </a:buClr>
              <a:buFont typeface="Wingdings" pitchFamily="2" charset="2"/>
              <a:buChar char="Ø"/>
              <a:defRPr/>
            </a:pPr>
            <a:r>
              <a:rPr lang="en-US" sz="2400" dirty="0" smtClean="0"/>
              <a:t>MRA is quantitative literature review of the estimates obtained from previous regression analyses.</a:t>
            </a:r>
          </a:p>
          <a:p>
            <a:pPr marL="0" indent="0" algn="just" eaLnBrk="1" fontAlgn="auto" hangingPunct="1">
              <a:spcBef>
                <a:spcPct val="0"/>
              </a:spcBef>
              <a:spcAft>
                <a:spcPts val="0"/>
              </a:spcAft>
              <a:buClr>
                <a:schemeClr val="tx1">
                  <a:shade val="95000"/>
                </a:schemeClr>
              </a:buClr>
              <a:buFont typeface="Wingdings" pitchFamily="2" charset="2"/>
              <a:buChar char="Ø"/>
              <a:defRPr/>
            </a:pPr>
            <a:endParaRPr lang="en-US" sz="800" dirty="0" smtClean="0"/>
          </a:p>
          <a:p>
            <a:pPr marL="0" indent="0" algn="just" eaLnBrk="1" fontAlgn="auto" hangingPunct="1">
              <a:spcBef>
                <a:spcPct val="0"/>
              </a:spcBef>
              <a:spcAft>
                <a:spcPts val="0"/>
              </a:spcAft>
              <a:buClr>
                <a:schemeClr val="tx1">
                  <a:shade val="95000"/>
                </a:schemeClr>
              </a:buClr>
              <a:buFont typeface="Wingdings" pitchFamily="2" charset="2"/>
              <a:buChar char="Ø"/>
              <a:defRPr/>
            </a:pPr>
            <a:endParaRPr lang="en-US" sz="800" dirty="0" smtClean="0"/>
          </a:p>
          <a:p>
            <a:pPr marL="0" indent="0" algn="just" eaLnBrk="1" fontAlgn="auto" hangingPunct="1">
              <a:spcBef>
                <a:spcPct val="0"/>
              </a:spcBef>
              <a:spcAft>
                <a:spcPts val="0"/>
              </a:spcAft>
              <a:buClr>
                <a:schemeClr val="tx1">
                  <a:shade val="95000"/>
                </a:schemeClr>
              </a:buClr>
              <a:buFont typeface="Wingdings" pitchFamily="2" charset="2"/>
              <a:buChar char="Ø"/>
              <a:defRPr/>
            </a:pPr>
            <a:r>
              <a:rPr lang="en-US" sz="2400" dirty="0" smtClean="0"/>
              <a:t>Meta-analysis integrates the results of several studies that share a common aspect so as to be combinable in a statistical manner (Harmon </a:t>
            </a:r>
            <a:r>
              <a:rPr lang="en-US" sz="2400" i="1" dirty="0" smtClean="0"/>
              <a:t>et al.</a:t>
            </a:r>
            <a:r>
              <a:rPr lang="en-US" sz="2400" dirty="0" smtClean="0"/>
              <a:t>, 2003).</a:t>
            </a:r>
          </a:p>
          <a:p>
            <a:pPr marL="0" indent="0" algn="just" eaLnBrk="1" fontAlgn="auto" hangingPunct="1">
              <a:spcBef>
                <a:spcPct val="0"/>
              </a:spcBef>
              <a:spcAft>
                <a:spcPts val="0"/>
              </a:spcAft>
              <a:buClr>
                <a:schemeClr val="tx1">
                  <a:shade val="95000"/>
                </a:schemeClr>
              </a:buClr>
              <a:buFont typeface="Wingdings" pitchFamily="2" charset="2"/>
              <a:buChar char="Ø"/>
              <a:defRPr/>
            </a:pPr>
            <a:endParaRPr lang="en-US" sz="1000" dirty="0" smtClean="0"/>
          </a:p>
          <a:p>
            <a:pPr marL="0" indent="0" algn="just" eaLnBrk="1" fontAlgn="auto" hangingPunct="1">
              <a:spcBef>
                <a:spcPct val="0"/>
              </a:spcBef>
              <a:spcAft>
                <a:spcPts val="0"/>
              </a:spcAft>
              <a:buClr>
                <a:schemeClr val="tx1">
                  <a:shade val="95000"/>
                </a:schemeClr>
              </a:buClr>
              <a:buFont typeface="Wingdings" pitchFamily="2" charset="2"/>
              <a:buChar char="Ø"/>
              <a:defRPr/>
            </a:pPr>
            <a:r>
              <a:rPr lang="en-US" sz="2400" dirty="0" smtClean="0"/>
              <a:t>MRA aims at explaining the excess study-to-study variation in empirical results and investigates the presence of publication selection bias (Stanley, 2005).</a:t>
            </a:r>
          </a:p>
        </p:txBody>
      </p:sp>
      <p:sp>
        <p:nvSpPr>
          <p:cNvPr id="7172"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55302" name="Rectangle 6"/>
          <p:cNvSpPr>
            <a:spLocks noGrp="1" noChangeArrowheads="1"/>
          </p:cNvSpPr>
          <p:nvPr>
            <p:ph type="body" idx="1"/>
          </p:nvPr>
        </p:nvSpPr>
        <p:spPr>
          <a:xfrm>
            <a:off x="0" y="836613"/>
            <a:ext cx="9144000" cy="6021387"/>
          </a:xfrm>
        </p:spPr>
        <p:txBody>
          <a:bodyPr/>
          <a:lstStyle/>
          <a:p>
            <a:pPr eaLnBrk="1" hangingPunct="1">
              <a:lnSpc>
                <a:spcPct val="90000"/>
              </a:lnSpc>
              <a:buFont typeface="Wingdings" pitchFamily="2" charset="2"/>
              <a:buNone/>
              <a:defRPr/>
            </a:pPr>
            <a:endParaRPr lang="en-US" sz="2400" dirty="0" smtClean="0"/>
          </a:p>
          <a:p>
            <a:pPr algn="just" eaLnBrk="1" hangingPunct="1">
              <a:lnSpc>
                <a:spcPct val="90000"/>
              </a:lnSpc>
              <a:buFont typeface="Wingdings" pitchFamily="2" charset="2"/>
              <a:buNone/>
              <a:defRPr/>
            </a:pPr>
            <a:r>
              <a:rPr lang="en-US" sz="2400" dirty="0" smtClean="0">
                <a:effectLst>
                  <a:outerShdw blurRad="38100" dist="38100" dir="2700000" algn="tl">
                    <a:srgbClr val="000000">
                      <a:alpha val="43137"/>
                    </a:srgbClr>
                  </a:outerShdw>
                </a:effectLst>
              </a:rPr>
              <a:t>	We proceed in two steps for conducting MRA: </a:t>
            </a:r>
          </a:p>
          <a:p>
            <a:pPr algn="just" eaLnBrk="1" hangingPunct="1">
              <a:lnSpc>
                <a:spcPct val="90000"/>
              </a:lnSpc>
              <a:defRPr/>
            </a:pPr>
            <a:endParaRPr lang="en-US" sz="2400" dirty="0" smtClean="0">
              <a:effectLst>
                <a:outerShdw blurRad="38100" dist="38100" dir="2700000" algn="tl">
                  <a:srgbClr val="000000">
                    <a:alpha val="43137"/>
                  </a:srgbClr>
                </a:outerShdw>
              </a:effectLst>
            </a:endParaRPr>
          </a:p>
          <a:p>
            <a:pPr marL="457200" indent="-457200" algn="just" eaLnBrk="1" hangingPunct="1">
              <a:lnSpc>
                <a:spcPct val="90000"/>
              </a:lnSpc>
              <a:buFont typeface="+mj-lt"/>
              <a:buAutoNum type="arabicPeriod"/>
              <a:defRPr/>
            </a:pPr>
            <a:r>
              <a:rPr lang="en-US" sz="2400" dirty="0" smtClean="0">
                <a:effectLst>
                  <a:outerShdw blurRad="38100" dist="38100" dir="2700000" algn="tl">
                    <a:srgbClr val="000000">
                      <a:alpha val="43137"/>
                    </a:srgbClr>
                  </a:outerShdw>
                </a:effectLst>
              </a:rPr>
              <a:t>Construct meta-data set, collecting empirical studies examining the link between health and growth. </a:t>
            </a:r>
          </a:p>
          <a:p>
            <a:pPr marL="457200" indent="-457200" algn="just" eaLnBrk="1" hangingPunct="1">
              <a:lnSpc>
                <a:spcPct val="90000"/>
              </a:lnSpc>
              <a:buFont typeface="+mj-lt"/>
              <a:buAutoNum type="arabicPeriod"/>
              <a:defRPr/>
            </a:pPr>
            <a:endParaRPr lang="en-US" sz="2400" dirty="0" smtClean="0">
              <a:effectLst>
                <a:outerShdw blurRad="38100" dist="38100" dir="2700000" algn="tl">
                  <a:srgbClr val="000000">
                    <a:alpha val="43137"/>
                  </a:srgbClr>
                </a:outerShdw>
              </a:effectLst>
            </a:endParaRPr>
          </a:p>
          <a:p>
            <a:pPr marL="457200" indent="-457200" algn="just" eaLnBrk="1" hangingPunct="1">
              <a:lnSpc>
                <a:spcPct val="90000"/>
              </a:lnSpc>
              <a:buFont typeface="+mj-lt"/>
              <a:buAutoNum type="arabicPeriod"/>
              <a:defRPr/>
            </a:pPr>
            <a:r>
              <a:rPr lang="en-US" sz="2400" dirty="0" smtClean="0">
                <a:effectLst>
                  <a:outerShdw blurRad="38100" dist="38100" dir="2700000" algn="tl">
                    <a:srgbClr val="000000">
                      <a:alpha val="43137"/>
                    </a:srgbClr>
                  </a:outerShdw>
                </a:effectLst>
              </a:rPr>
              <a:t>Define meta-regression model to distinguish between numerous factors, which influence the estimated health effect on economic growth.</a:t>
            </a:r>
          </a:p>
          <a:p>
            <a:pPr marL="457200" indent="-457200" algn="just" eaLnBrk="1" hangingPunct="1">
              <a:lnSpc>
                <a:spcPct val="90000"/>
              </a:lnSpc>
              <a:buFont typeface="+mj-lt"/>
              <a:buAutoNum type="arabicPeriod"/>
              <a:defRPr/>
            </a:pPr>
            <a:endParaRPr lang="en-US" sz="2400" dirty="0" smtClean="0">
              <a:effectLst>
                <a:outerShdw blurRad="38100" dist="38100" dir="2700000" algn="tl">
                  <a:srgbClr val="000000">
                    <a:alpha val="43137"/>
                  </a:srgbClr>
                </a:outerShdw>
              </a:effectLst>
            </a:endParaRPr>
          </a:p>
          <a:p>
            <a:pPr marL="457200" indent="-457200" algn="just" eaLnBrk="1" hangingPunct="1">
              <a:lnSpc>
                <a:spcPct val="90000"/>
              </a:lnSpc>
              <a:buFont typeface="Wingdings" pitchFamily="2" charset="2"/>
              <a:buNone/>
              <a:defRPr/>
            </a:pPr>
            <a:r>
              <a:rPr lang="en-US" sz="2400" dirty="0" smtClean="0">
                <a:effectLst>
                  <a:outerShdw blurRad="38100" dist="38100" dir="2700000" algn="tl">
                    <a:srgbClr val="000000">
                      <a:alpha val="43137"/>
                    </a:srgbClr>
                  </a:outerShdw>
                </a:effectLst>
              </a:rPr>
              <a:t>	In all steps of our analysis we follow the guidelines and protocols expressed by the Meta-analysis of Economics Research-Network (MAER-Net).</a:t>
            </a:r>
          </a:p>
          <a:p>
            <a:pPr marL="457200" indent="-457200" algn="just" eaLnBrk="1" hangingPunct="1">
              <a:lnSpc>
                <a:spcPct val="90000"/>
              </a:lnSpc>
              <a:buFont typeface="Wingdings" pitchFamily="2" charset="2"/>
              <a:buNone/>
              <a:defRPr/>
            </a:pPr>
            <a:endParaRPr lang="en-US" sz="2400" dirty="0" smtClean="0">
              <a:effectLst>
                <a:outerShdw blurRad="38100" dist="38100" dir="2700000" algn="tl">
                  <a:srgbClr val="000000">
                    <a:alpha val="43137"/>
                  </a:srgbClr>
                </a:outerShdw>
              </a:effectLst>
            </a:endParaRPr>
          </a:p>
          <a:p>
            <a:pPr marL="457200" indent="-457200" algn="just" eaLnBrk="1" hangingPunct="1">
              <a:lnSpc>
                <a:spcPct val="90000"/>
              </a:lnSpc>
              <a:buFont typeface="Wingdings" pitchFamily="2" charset="2"/>
              <a:buNone/>
              <a:defRPr/>
            </a:pPr>
            <a:endParaRPr lang="en-US" sz="2400" dirty="0" smtClean="0">
              <a:effectLst>
                <a:outerShdw blurRad="38100" dist="38100" dir="2700000" algn="tl">
                  <a:srgbClr val="000000">
                    <a:alpha val="43137"/>
                  </a:srgbClr>
                </a:outerShdw>
              </a:effectLst>
            </a:endParaRPr>
          </a:p>
          <a:p>
            <a:pPr algn="just" eaLnBrk="1" hangingPunct="1">
              <a:lnSpc>
                <a:spcPct val="90000"/>
              </a:lnSpc>
              <a:defRPr/>
            </a:pPr>
            <a:endParaRPr lang="en-US" sz="2400" dirty="0" smtClean="0">
              <a:effectLst>
                <a:outerShdw blurRad="38100" dist="38100" dir="2700000" algn="tl">
                  <a:srgbClr val="000000">
                    <a:alpha val="43137"/>
                  </a:srgbClr>
                </a:outerShdw>
              </a:effectLst>
            </a:endParaRPr>
          </a:p>
        </p:txBody>
      </p:sp>
      <p:sp>
        <p:nvSpPr>
          <p:cNvPr id="8196"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55302" name="Rectangle 6"/>
          <p:cNvSpPr>
            <a:spLocks noGrp="1" noChangeArrowheads="1"/>
          </p:cNvSpPr>
          <p:nvPr>
            <p:ph type="body" idx="1"/>
          </p:nvPr>
        </p:nvSpPr>
        <p:spPr>
          <a:xfrm>
            <a:off x="0" y="836613"/>
            <a:ext cx="9144000" cy="6021387"/>
          </a:xfrm>
        </p:spPr>
        <p:txBody>
          <a:bodyPr/>
          <a:lstStyle/>
          <a:p>
            <a:pPr eaLnBrk="1" hangingPunct="1">
              <a:lnSpc>
                <a:spcPct val="90000"/>
              </a:lnSpc>
              <a:buFont typeface="Wingdings" pitchFamily="2" charset="2"/>
              <a:buNone/>
              <a:defRPr/>
            </a:pPr>
            <a:endParaRPr lang="en-US" sz="2400" dirty="0" smtClean="0"/>
          </a:p>
          <a:p>
            <a:pPr algn="just" eaLnBrk="1" hangingPunct="1">
              <a:lnSpc>
                <a:spcPct val="90000"/>
              </a:lnSpc>
              <a:defRPr/>
            </a:pPr>
            <a:r>
              <a:rPr lang="en-US" sz="2400" dirty="0" smtClean="0">
                <a:effectLst>
                  <a:outerShdw blurRad="38100" dist="38100" dir="2700000" algn="tl">
                    <a:srgbClr val="000000">
                      <a:alpha val="43137"/>
                    </a:srgbClr>
                  </a:outerShdw>
                </a:effectLst>
              </a:rPr>
              <a:t>We have searched </a:t>
            </a:r>
            <a:r>
              <a:rPr lang="en-US" sz="2400" dirty="0" err="1" smtClean="0">
                <a:effectLst>
                  <a:outerShdw blurRad="38100" dist="38100" dir="2700000" algn="tl">
                    <a:srgbClr val="000000">
                      <a:alpha val="43137"/>
                    </a:srgbClr>
                  </a:outerShdw>
                </a:effectLst>
              </a:rPr>
              <a:t>EconLit</a:t>
            </a:r>
            <a:r>
              <a:rPr lang="en-US" sz="2400" dirty="0" smtClean="0">
                <a:effectLst>
                  <a:outerShdw blurRad="38100" dist="38100" dir="2700000" algn="tl">
                    <a:srgbClr val="000000">
                      <a:alpha val="43137"/>
                    </a:srgbClr>
                  </a:outerShdw>
                </a:effectLst>
              </a:rPr>
              <a:t>, Google Scholar to find English-written articles in academic journals and working papers, estimating the health-growth nexus.</a:t>
            </a:r>
          </a:p>
          <a:p>
            <a:pPr algn="just" eaLnBrk="1" hangingPunct="1">
              <a:lnSpc>
                <a:spcPct val="90000"/>
              </a:lnSpc>
              <a:buFont typeface="Wingdings" pitchFamily="2" charset="2"/>
              <a:buNone/>
              <a:defRPr/>
            </a:pPr>
            <a:endParaRPr lang="en-US" sz="1600" dirty="0" smtClean="0">
              <a:effectLst>
                <a:outerShdw blurRad="38100" dist="38100" dir="2700000" algn="tl">
                  <a:srgbClr val="000000">
                    <a:alpha val="43137"/>
                  </a:srgbClr>
                </a:outerShdw>
              </a:effectLst>
            </a:endParaRPr>
          </a:p>
          <a:p>
            <a:pPr algn="just" eaLnBrk="1" hangingPunct="1">
              <a:lnSpc>
                <a:spcPct val="90000"/>
              </a:lnSpc>
              <a:defRPr/>
            </a:pPr>
            <a:r>
              <a:rPr lang="en-US" sz="2400" dirty="0" smtClean="0">
                <a:effectLst>
                  <a:outerShdw blurRad="38100" dist="38100" dir="2700000" algn="tl">
                    <a:srgbClr val="000000">
                      <a:alpha val="43137"/>
                    </a:srgbClr>
                  </a:outerShdw>
                </a:effectLst>
              </a:rPr>
              <a:t>The keywords used in the search process were: human capital, health and economic growth. </a:t>
            </a:r>
          </a:p>
          <a:p>
            <a:pPr algn="just" eaLnBrk="1" hangingPunct="1">
              <a:lnSpc>
                <a:spcPct val="90000"/>
              </a:lnSpc>
              <a:defRPr/>
            </a:pPr>
            <a:endParaRPr lang="en-US" sz="1600" dirty="0" smtClean="0">
              <a:effectLst>
                <a:outerShdw blurRad="38100" dist="38100" dir="2700000" algn="tl">
                  <a:srgbClr val="000000">
                    <a:alpha val="43137"/>
                  </a:srgbClr>
                </a:outerShdw>
              </a:effectLst>
            </a:endParaRPr>
          </a:p>
          <a:p>
            <a:pPr algn="just" eaLnBrk="1" hangingPunct="1">
              <a:lnSpc>
                <a:spcPct val="90000"/>
              </a:lnSpc>
              <a:defRPr/>
            </a:pPr>
            <a:r>
              <a:rPr lang="en-US" sz="2400" dirty="0" smtClean="0">
                <a:effectLst>
                  <a:outerShdw blurRad="38100" dist="38100" dir="2700000" algn="tl">
                    <a:srgbClr val="000000">
                      <a:alpha val="43137"/>
                    </a:srgbClr>
                  </a:outerShdw>
                </a:effectLst>
              </a:rPr>
              <a:t>Include only macro studies in meta-sample, which estimate the coefficient of the size effect of health on growth.</a:t>
            </a:r>
          </a:p>
          <a:p>
            <a:pPr algn="just" eaLnBrk="1" hangingPunct="1">
              <a:lnSpc>
                <a:spcPct val="90000"/>
              </a:lnSpc>
              <a:defRPr/>
            </a:pPr>
            <a:endParaRPr lang="en-US" sz="1600" dirty="0" smtClean="0">
              <a:effectLst>
                <a:outerShdw blurRad="38100" dist="38100" dir="2700000" algn="tl">
                  <a:srgbClr val="000000">
                    <a:alpha val="43137"/>
                  </a:srgbClr>
                </a:outerShdw>
              </a:effectLst>
            </a:endParaRPr>
          </a:p>
          <a:p>
            <a:pPr algn="just" eaLnBrk="1" hangingPunct="1">
              <a:lnSpc>
                <a:spcPct val="90000"/>
              </a:lnSpc>
              <a:defRPr/>
            </a:pPr>
            <a:r>
              <a:rPr lang="en-US" sz="2400" dirty="0" smtClean="0">
                <a:effectLst>
                  <a:outerShdw blurRad="38100" dist="38100" dir="2700000" algn="tl">
                    <a:srgbClr val="000000">
                      <a:alpha val="43137"/>
                    </a:srgbClr>
                  </a:outerShdw>
                </a:effectLst>
              </a:rPr>
              <a:t>Only studies providing regression results where  </a:t>
            </a:r>
            <a:br>
              <a:rPr lang="en-US" sz="2400" dirty="0" smtClean="0">
                <a:effectLst>
                  <a:outerShdw blurRad="38100" dist="38100" dir="2700000" algn="tl">
                    <a:srgbClr val="000000">
                      <a:alpha val="43137"/>
                    </a:srgbClr>
                  </a:outerShdw>
                </a:effectLst>
              </a:rPr>
            </a:br>
            <a:r>
              <a:rPr lang="en-US" sz="2400" dirty="0" smtClean="0">
                <a:effectLst>
                  <a:outerShdw blurRad="38100" dist="38100" dir="2700000" algn="tl">
                    <a:srgbClr val="000000">
                      <a:alpha val="43137"/>
                    </a:srgbClr>
                  </a:outerShdw>
                </a:effectLst>
              </a:rPr>
              <a:t>measure of growth rate is dependent variable and at least one health measure is among the explanatory variables are included in our meta-data set.</a:t>
            </a:r>
          </a:p>
          <a:p>
            <a:pPr algn="just" eaLnBrk="1" hangingPunct="1">
              <a:lnSpc>
                <a:spcPct val="90000"/>
              </a:lnSpc>
              <a:defRPr/>
            </a:pPr>
            <a:endParaRPr lang="en-US" sz="2400" dirty="0" smtClean="0">
              <a:effectLst>
                <a:outerShdw blurRad="38100" dist="38100" dir="2700000" algn="tl">
                  <a:srgbClr val="000000">
                    <a:alpha val="43137"/>
                  </a:srgbClr>
                </a:outerShdw>
              </a:effectLst>
            </a:endParaRPr>
          </a:p>
          <a:p>
            <a:pPr algn="just" eaLnBrk="1" hangingPunct="1">
              <a:lnSpc>
                <a:spcPct val="90000"/>
              </a:lnSpc>
              <a:defRPr/>
            </a:pPr>
            <a:endParaRPr lang="en-US" sz="2400" dirty="0" smtClean="0">
              <a:effectLst>
                <a:outerShdw blurRad="38100" dist="38100" dir="2700000" algn="tl">
                  <a:srgbClr val="000000">
                    <a:alpha val="43137"/>
                  </a:srgbClr>
                </a:outerShdw>
              </a:effectLst>
            </a:endParaRPr>
          </a:p>
          <a:p>
            <a:pPr algn="just" eaLnBrk="1" hangingPunct="1">
              <a:lnSpc>
                <a:spcPct val="90000"/>
              </a:lnSpc>
              <a:defRPr/>
            </a:pPr>
            <a:endParaRPr lang="en-US" sz="2400" dirty="0" smtClean="0">
              <a:effectLst>
                <a:outerShdw blurRad="38100" dist="38100" dir="2700000" algn="tl">
                  <a:srgbClr val="000000">
                    <a:alpha val="43137"/>
                  </a:srgbClr>
                </a:outerShdw>
              </a:effectLst>
            </a:endParaRPr>
          </a:p>
        </p:txBody>
      </p:sp>
      <p:sp>
        <p:nvSpPr>
          <p:cNvPr id="9220"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55302" name="Rectangle 6"/>
          <p:cNvSpPr>
            <a:spLocks noGrp="1" noChangeArrowheads="1"/>
          </p:cNvSpPr>
          <p:nvPr>
            <p:ph type="body" idx="1"/>
          </p:nvPr>
        </p:nvSpPr>
        <p:spPr>
          <a:xfrm>
            <a:off x="0" y="835025"/>
            <a:ext cx="9124950" cy="6022975"/>
          </a:xfrm>
        </p:spPr>
        <p:txBody>
          <a:bodyPr/>
          <a:lstStyle/>
          <a:p>
            <a:pPr eaLnBrk="1" hangingPunct="1">
              <a:lnSpc>
                <a:spcPct val="90000"/>
              </a:lnSpc>
              <a:buFont typeface="Wingdings" pitchFamily="2" charset="2"/>
              <a:buNone/>
              <a:defRPr/>
            </a:pPr>
            <a:endParaRPr lang="en-US" sz="500" dirty="0" smtClean="0"/>
          </a:p>
          <a:p>
            <a:pPr algn="just" eaLnBrk="1" hangingPunct="1">
              <a:lnSpc>
                <a:spcPct val="90000"/>
              </a:lnSpc>
              <a:defRPr/>
            </a:pPr>
            <a:endParaRPr lang="en-US" sz="800" dirty="0" smtClean="0">
              <a:effectLst>
                <a:outerShdw blurRad="38100" dist="38100" dir="2700000" algn="tl">
                  <a:srgbClr val="000000">
                    <a:alpha val="43137"/>
                  </a:srgbClr>
                </a:outerShdw>
              </a:effectLst>
            </a:endParaRPr>
          </a:p>
          <a:p>
            <a:pPr algn="just" eaLnBrk="1" hangingPunct="1">
              <a:lnSpc>
                <a:spcPct val="90000"/>
              </a:lnSpc>
              <a:defRPr/>
            </a:pPr>
            <a:r>
              <a:rPr lang="en-US" sz="2350" dirty="0" smtClean="0">
                <a:effectLst>
                  <a:outerShdw blurRad="38100" dist="38100" dir="2700000" algn="tl">
                    <a:srgbClr val="000000">
                      <a:alpha val="43137"/>
                    </a:srgbClr>
                  </a:outerShdw>
                </a:effectLst>
              </a:rPr>
              <a:t>We perform meta-regression analysis using data from 42 empirical studies.</a:t>
            </a:r>
          </a:p>
          <a:p>
            <a:pPr algn="just" eaLnBrk="1" hangingPunct="1">
              <a:lnSpc>
                <a:spcPct val="90000"/>
              </a:lnSpc>
              <a:defRPr/>
            </a:pPr>
            <a:endParaRPr lang="en-US" sz="2350" dirty="0" smtClean="0">
              <a:effectLst>
                <a:outerShdw blurRad="38100" dist="38100" dir="2700000" algn="tl">
                  <a:srgbClr val="000000">
                    <a:alpha val="43137"/>
                  </a:srgbClr>
                </a:outerShdw>
              </a:effectLst>
            </a:endParaRPr>
          </a:p>
          <a:p>
            <a:pPr algn="just" eaLnBrk="1" hangingPunct="1">
              <a:lnSpc>
                <a:spcPct val="90000"/>
              </a:lnSpc>
              <a:defRPr/>
            </a:pPr>
            <a:r>
              <a:rPr lang="en-US" sz="2350" dirty="0" smtClean="0">
                <a:effectLst>
                  <a:outerShdw blurRad="38100" dist="38100" dir="2700000" algn="tl">
                    <a:srgbClr val="000000">
                      <a:alpha val="43137"/>
                    </a:srgbClr>
                  </a:outerShdw>
                </a:effectLst>
              </a:rPr>
              <a:t>However, the coding of the studies is ongoing and the number of studies included in the meta-sample will be considerably higher. </a:t>
            </a:r>
          </a:p>
          <a:p>
            <a:pPr algn="just" eaLnBrk="1" hangingPunct="1">
              <a:lnSpc>
                <a:spcPct val="90000"/>
              </a:lnSpc>
              <a:defRPr/>
            </a:pPr>
            <a:endParaRPr lang="en-US" sz="2350" dirty="0" smtClean="0">
              <a:effectLst>
                <a:outerShdw blurRad="38100" dist="38100" dir="2700000" algn="tl">
                  <a:srgbClr val="000000">
                    <a:alpha val="43137"/>
                  </a:srgbClr>
                </a:outerShdw>
              </a:effectLst>
            </a:endParaRPr>
          </a:p>
          <a:p>
            <a:pPr algn="just" eaLnBrk="1" hangingPunct="1">
              <a:lnSpc>
                <a:spcPct val="90000"/>
              </a:lnSpc>
              <a:defRPr/>
            </a:pPr>
            <a:r>
              <a:rPr lang="en-US" sz="2350" dirty="0" smtClean="0">
                <a:effectLst>
                  <a:outerShdw blurRad="38100" dist="38100" dir="2700000" algn="tl">
                    <a:srgbClr val="000000">
                      <a:alpha val="43137"/>
                    </a:srgbClr>
                  </a:outerShdw>
                </a:effectLst>
              </a:rPr>
              <a:t>Include all reported estimates in each study, any potential dependence among estimates is captured by study identifiers. </a:t>
            </a:r>
          </a:p>
          <a:p>
            <a:pPr algn="just" eaLnBrk="1" hangingPunct="1">
              <a:lnSpc>
                <a:spcPct val="90000"/>
              </a:lnSpc>
              <a:defRPr/>
            </a:pPr>
            <a:endParaRPr lang="en-US" sz="2350" dirty="0" smtClean="0">
              <a:effectLst>
                <a:outerShdw blurRad="38100" dist="38100" dir="2700000" algn="tl">
                  <a:srgbClr val="000000">
                    <a:alpha val="43137"/>
                  </a:srgbClr>
                </a:outerShdw>
              </a:effectLst>
            </a:endParaRPr>
          </a:p>
          <a:p>
            <a:pPr algn="just" eaLnBrk="1" hangingPunct="1">
              <a:lnSpc>
                <a:spcPct val="90000"/>
              </a:lnSpc>
              <a:defRPr/>
            </a:pPr>
            <a:r>
              <a:rPr lang="en-US" sz="2350" dirty="0" smtClean="0">
                <a:effectLst>
                  <a:outerShdw blurRad="38100" dist="38100" dir="2700000" algn="tl">
                    <a:srgbClr val="000000">
                      <a:alpha val="43137"/>
                    </a:srgbClr>
                  </a:outerShdw>
                </a:effectLst>
              </a:rPr>
              <a:t>Given that most studies include many estimations, we use all of them as independent regressions, report a total of 688 observations.</a:t>
            </a:r>
          </a:p>
          <a:p>
            <a:pPr algn="just" eaLnBrk="1" hangingPunct="1">
              <a:lnSpc>
                <a:spcPct val="90000"/>
              </a:lnSpc>
              <a:defRPr/>
            </a:pPr>
            <a:endParaRPr lang="en-US" sz="2350" dirty="0" smtClean="0">
              <a:effectLst>
                <a:outerShdw blurRad="38100" dist="38100" dir="2700000" algn="tl">
                  <a:srgbClr val="000000">
                    <a:alpha val="43137"/>
                  </a:srgbClr>
                </a:outerShdw>
              </a:effectLst>
            </a:endParaRPr>
          </a:p>
          <a:p>
            <a:pPr algn="just" eaLnBrk="1" hangingPunct="1">
              <a:lnSpc>
                <a:spcPct val="90000"/>
              </a:lnSpc>
              <a:defRPr/>
            </a:pPr>
            <a:r>
              <a:rPr lang="en-US" sz="2350" dirty="0" smtClean="0">
                <a:effectLst>
                  <a:outerShdw blurRad="38100" dist="38100" dir="2700000" algn="tl">
                    <a:srgbClr val="000000">
                      <a:alpha val="43137"/>
                    </a:srgbClr>
                  </a:outerShdw>
                </a:effectLst>
              </a:rPr>
              <a:t>We calculated the partial correlations from each study.</a:t>
            </a:r>
          </a:p>
        </p:txBody>
      </p:sp>
      <p:sp>
        <p:nvSpPr>
          <p:cNvPr id="10244"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56326" name="Rectangle 6"/>
          <p:cNvSpPr>
            <a:spLocks noGrp="1" noChangeArrowheads="1"/>
          </p:cNvSpPr>
          <p:nvPr>
            <p:ph type="body" idx="1"/>
          </p:nvPr>
        </p:nvSpPr>
        <p:spPr>
          <a:xfrm>
            <a:off x="0" y="836613"/>
            <a:ext cx="9144000" cy="6021387"/>
          </a:xfrm>
        </p:spPr>
        <p:txBody>
          <a:bodyPr/>
          <a:lstStyle/>
          <a:p>
            <a:pPr marL="0" indent="0" eaLnBrk="1" fontAlgn="auto" hangingPunct="1">
              <a:lnSpc>
                <a:spcPct val="150000"/>
              </a:lnSpc>
              <a:spcBef>
                <a:spcPct val="0"/>
              </a:spcBef>
              <a:spcAft>
                <a:spcPts val="0"/>
              </a:spcAft>
              <a:buClr>
                <a:schemeClr val="tx1">
                  <a:shade val="95000"/>
                </a:schemeClr>
              </a:buClr>
              <a:buFont typeface="Arial" pitchFamily="34" charset="0"/>
              <a:buNone/>
              <a:defRPr/>
            </a:pPr>
            <a:r>
              <a:rPr lang="en-GB" sz="2600" i="1" dirty="0" smtClean="0"/>
              <a:t>The meta-regression model:</a:t>
            </a:r>
          </a:p>
          <a:p>
            <a:pPr marL="0" indent="0" algn="just" eaLnBrk="1" fontAlgn="auto" hangingPunct="1">
              <a:lnSpc>
                <a:spcPct val="150000"/>
              </a:lnSpc>
              <a:spcBef>
                <a:spcPct val="0"/>
              </a:spcBef>
              <a:spcAft>
                <a:spcPts val="0"/>
              </a:spcAft>
              <a:buClr>
                <a:schemeClr val="tx1">
                  <a:shade val="95000"/>
                </a:schemeClr>
              </a:buClr>
              <a:buFont typeface="Arial" pitchFamily="34" charset="0"/>
              <a:buNone/>
              <a:defRPr/>
            </a:pPr>
            <a:endParaRPr lang="en-GB" sz="900" i="1" dirty="0" smtClean="0"/>
          </a:p>
          <a:p>
            <a:pPr marL="548640" indent="-411480" eaLnBrk="1" fontAlgn="auto" hangingPunct="1">
              <a:spcAft>
                <a:spcPts val="0"/>
              </a:spcAft>
              <a:buClr>
                <a:schemeClr val="tx1">
                  <a:shade val="95000"/>
                </a:schemeClr>
              </a:buClr>
              <a:buFont typeface="Wingdings 2"/>
              <a:buChar char=""/>
              <a:defRPr/>
            </a:pPr>
            <a:r>
              <a:rPr lang="el-GR" sz="2400" dirty="0" smtClean="0">
                <a:latin typeface="Lucida Sans (Επικεφαλίδες)"/>
              </a:rPr>
              <a:t>β</a:t>
            </a:r>
            <a:r>
              <a:rPr lang="en-US" sz="2400" baseline="-25000" dirty="0" smtClean="0">
                <a:latin typeface="Lucida Sans (Επικεφαλίδες)"/>
              </a:rPr>
              <a:t>j</a:t>
            </a:r>
            <a:r>
              <a:rPr lang="en-US" sz="2400" dirty="0" smtClean="0">
                <a:latin typeface="Lucida Sans (Επικεφαλίδες)"/>
              </a:rPr>
              <a:t> = </a:t>
            </a:r>
            <a:r>
              <a:rPr lang="el-GR" sz="2400" dirty="0" smtClean="0">
                <a:latin typeface="Lucida Sans (Επικεφαλίδες)"/>
              </a:rPr>
              <a:t>β</a:t>
            </a:r>
            <a:r>
              <a:rPr lang="en-US" sz="2400" baseline="-25000" dirty="0" smtClean="0">
                <a:latin typeface="Lucida Sans (Επικεφαλίδες)"/>
              </a:rPr>
              <a:t>0</a:t>
            </a:r>
            <a:r>
              <a:rPr lang="en-US" sz="2400" dirty="0" smtClean="0">
                <a:latin typeface="Lucida Sans (Επικεφαλίδες)"/>
              </a:rPr>
              <a:t> + </a:t>
            </a:r>
            <a:r>
              <a:rPr lang="el-GR" sz="2400" dirty="0" smtClean="0">
                <a:latin typeface="Lucida Sans (Επικεφαλίδες)"/>
              </a:rPr>
              <a:t>Σα</a:t>
            </a:r>
            <a:r>
              <a:rPr lang="en-US" sz="2400" baseline="-25000" dirty="0" err="1" smtClean="0">
                <a:latin typeface="Lucida Sans (Επικεφαλίδες)"/>
              </a:rPr>
              <a:t>k</a:t>
            </a:r>
            <a:r>
              <a:rPr lang="en-US" sz="2400" dirty="0" err="1" smtClean="0">
                <a:latin typeface="Lucida Sans (Επικεφαλίδες)"/>
              </a:rPr>
              <a:t>Z</a:t>
            </a:r>
            <a:r>
              <a:rPr lang="en-US" sz="2400" baseline="-25000" dirty="0" err="1" smtClean="0">
                <a:latin typeface="Lucida Sans (Επικεφαλίδες)"/>
              </a:rPr>
              <a:t>jk</a:t>
            </a:r>
            <a:r>
              <a:rPr lang="en-US" sz="2400" dirty="0" smtClean="0">
                <a:latin typeface="Lucida Sans (Επικεφαλίδες)"/>
              </a:rPr>
              <a:t> + </a:t>
            </a:r>
            <a:r>
              <a:rPr lang="el-GR" sz="2400" dirty="0" smtClean="0">
                <a:latin typeface="Lucida Sans (Επικεφαλίδες)"/>
              </a:rPr>
              <a:t>β</a:t>
            </a:r>
            <a:r>
              <a:rPr lang="en-US" sz="2400" baseline="-25000" dirty="0" smtClean="0">
                <a:latin typeface="Lucida Sans (Επικεφαλίδες)"/>
              </a:rPr>
              <a:t>1</a:t>
            </a:r>
            <a:r>
              <a:rPr lang="en-US" sz="2400" dirty="0" smtClean="0">
                <a:latin typeface="Lucida Sans (Επικεφαλίδες)"/>
              </a:rPr>
              <a:t>se</a:t>
            </a:r>
            <a:r>
              <a:rPr lang="en-US" sz="2400" baseline="-25000" dirty="0" smtClean="0">
                <a:latin typeface="Lucida Sans (Επικεφαλίδες)"/>
              </a:rPr>
              <a:t>j</a:t>
            </a:r>
            <a:r>
              <a:rPr lang="en-US" sz="2400" dirty="0" smtClean="0">
                <a:latin typeface="Lucida Sans (Επικεφαλίδες)"/>
              </a:rPr>
              <a:t> + </a:t>
            </a:r>
            <a:r>
              <a:rPr lang="en-US" sz="2400" dirty="0" err="1" smtClean="0">
                <a:latin typeface="Lucida Sans (Επικεφαλίδες)"/>
              </a:rPr>
              <a:t>u</a:t>
            </a:r>
            <a:r>
              <a:rPr lang="en-US" sz="2400" baseline="-25000" dirty="0" err="1" smtClean="0">
                <a:latin typeface="Lucida Sans (Επικεφαλίδες)"/>
              </a:rPr>
              <a:t>j</a:t>
            </a:r>
            <a:r>
              <a:rPr lang="en-US" sz="2400" dirty="0" smtClean="0">
                <a:latin typeface="Lucida Sans (Επικεφαλίδες)"/>
              </a:rPr>
              <a:t> 	(1), where:</a:t>
            </a:r>
          </a:p>
          <a:p>
            <a:pPr marL="548640" indent="-411480" eaLnBrk="1" fontAlgn="auto" hangingPunct="1">
              <a:spcAft>
                <a:spcPts val="0"/>
              </a:spcAft>
              <a:buClr>
                <a:schemeClr val="tx1">
                  <a:shade val="95000"/>
                </a:schemeClr>
              </a:buClr>
              <a:buFont typeface="Wingdings 2"/>
              <a:buChar char=""/>
              <a:defRPr/>
            </a:pPr>
            <a:endParaRPr lang="en-US" sz="2400" dirty="0" smtClean="0">
              <a:latin typeface="Lucida Sans (Επικεφαλίδες)"/>
            </a:endParaRPr>
          </a:p>
          <a:p>
            <a:pPr marL="0" indent="0" algn="just" eaLnBrk="1" fontAlgn="auto" hangingPunct="1">
              <a:spcAft>
                <a:spcPts val="0"/>
              </a:spcAft>
              <a:buClr>
                <a:schemeClr val="tx1">
                  <a:shade val="95000"/>
                </a:schemeClr>
              </a:buClr>
              <a:buFont typeface="Arial" pitchFamily="34" charset="0"/>
              <a:buNone/>
              <a:defRPr/>
            </a:pPr>
            <a:r>
              <a:rPr lang="en-US" sz="2400" dirty="0" err="1" smtClean="0">
                <a:latin typeface="Lucida Sans (Επικεφαλίδες)"/>
              </a:rPr>
              <a:t>β</a:t>
            </a:r>
            <a:r>
              <a:rPr lang="en-US" sz="2400" baseline="-25000" dirty="0" err="1" smtClean="0">
                <a:latin typeface="Lucida Sans (Επικεφαλίδες)"/>
              </a:rPr>
              <a:t>j</a:t>
            </a:r>
            <a:r>
              <a:rPr lang="en-US" sz="2400" baseline="-25000" dirty="0" smtClean="0">
                <a:latin typeface="Lucida Sans (Επικεφαλίδες)"/>
              </a:rPr>
              <a:t> </a:t>
            </a:r>
            <a:r>
              <a:rPr lang="en-US" sz="2400" dirty="0" smtClean="0">
                <a:latin typeface="Lucida Sans (Επικεφαλίδες)"/>
              </a:rPr>
              <a:t>reported estimate of health coefficient of </a:t>
            </a:r>
            <a:r>
              <a:rPr lang="en-US" sz="2400" dirty="0" err="1" smtClean="0">
                <a:latin typeface="Lucida Sans (Επικεφαλίδες)"/>
              </a:rPr>
              <a:t>j</a:t>
            </a:r>
            <a:r>
              <a:rPr lang="en-US" sz="2400" baseline="30000" dirty="0" err="1" smtClean="0">
                <a:latin typeface="Lucida Sans (Επικεφαλίδες)"/>
              </a:rPr>
              <a:t>th</a:t>
            </a:r>
            <a:r>
              <a:rPr lang="en-US" sz="2400" dirty="0" smtClean="0">
                <a:latin typeface="Lucida Sans (Επικεφαλίδες)"/>
              </a:rPr>
              <a:t> study,</a:t>
            </a:r>
          </a:p>
          <a:p>
            <a:pPr marL="0" indent="0" algn="just" eaLnBrk="1" fontAlgn="auto" hangingPunct="1">
              <a:spcAft>
                <a:spcPts val="0"/>
              </a:spcAft>
              <a:buClr>
                <a:schemeClr val="tx1">
                  <a:shade val="95000"/>
                </a:schemeClr>
              </a:buClr>
              <a:buFont typeface="Arial" pitchFamily="34" charset="0"/>
              <a:buNone/>
              <a:defRPr/>
            </a:pPr>
            <a:endParaRPr lang="en-US" sz="1200" dirty="0" smtClean="0">
              <a:latin typeface="Lucida Sans (Επικεφαλίδες)"/>
            </a:endParaRPr>
          </a:p>
          <a:p>
            <a:pPr marL="0" indent="0" algn="just" eaLnBrk="1" fontAlgn="auto" hangingPunct="1">
              <a:spcAft>
                <a:spcPts val="0"/>
              </a:spcAft>
              <a:buClr>
                <a:schemeClr val="tx1">
                  <a:shade val="95000"/>
                </a:schemeClr>
              </a:buClr>
              <a:buFont typeface="Arial" pitchFamily="34" charset="0"/>
              <a:buNone/>
              <a:defRPr/>
            </a:pPr>
            <a:r>
              <a:rPr lang="en-US" sz="2400" dirty="0" smtClean="0">
                <a:latin typeface="Lucida Sans (Επικεφαλίδες)"/>
              </a:rPr>
              <a:t>β</a:t>
            </a:r>
            <a:r>
              <a:rPr lang="en-US" sz="2400" baseline="-25000" dirty="0" smtClean="0">
                <a:latin typeface="Lucida Sans (Επικεφαλίδες)"/>
              </a:rPr>
              <a:t>0</a:t>
            </a:r>
            <a:r>
              <a:rPr lang="en-US" sz="2400" dirty="0" smtClean="0">
                <a:latin typeface="Lucida Sans (Επικεφαλίδες)"/>
              </a:rPr>
              <a:t> true value of health coefficient, </a:t>
            </a:r>
          </a:p>
          <a:p>
            <a:pPr marL="0" indent="0" algn="just" eaLnBrk="1" fontAlgn="auto" hangingPunct="1">
              <a:spcAft>
                <a:spcPts val="0"/>
              </a:spcAft>
              <a:buClr>
                <a:schemeClr val="tx1">
                  <a:shade val="95000"/>
                </a:schemeClr>
              </a:buClr>
              <a:buFont typeface="Arial" pitchFamily="34" charset="0"/>
              <a:buNone/>
              <a:defRPr/>
            </a:pPr>
            <a:endParaRPr lang="en-US" sz="1200" dirty="0" smtClean="0">
              <a:latin typeface="Lucida Sans (Επικεφαλίδες)"/>
            </a:endParaRPr>
          </a:p>
          <a:p>
            <a:pPr marL="0" indent="0" algn="just" eaLnBrk="1" fontAlgn="auto" hangingPunct="1">
              <a:spcAft>
                <a:spcPts val="0"/>
              </a:spcAft>
              <a:buClr>
                <a:schemeClr val="tx1">
                  <a:shade val="95000"/>
                </a:schemeClr>
              </a:buClr>
              <a:buFont typeface="Arial" pitchFamily="34" charset="0"/>
              <a:buNone/>
              <a:defRPr/>
            </a:pPr>
            <a:r>
              <a:rPr lang="en-US" sz="2400" dirty="0" err="1" smtClean="0">
                <a:latin typeface="Lucida Sans (Επικεφαλίδες)"/>
              </a:rPr>
              <a:t>Z</a:t>
            </a:r>
            <a:r>
              <a:rPr lang="en-US" sz="2400" baseline="-25000" dirty="0" err="1" smtClean="0">
                <a:latin typeface="Lucida Sans (Επικεφαλίδες)"/>
              </a:rPr>
              <a:t>jk</a:t>
            </a:r>
            <a:r>
              <a:rPr lang="en-US" sz="2400" dirty="0" smtClean="0">
                <a:latin typeface="Lucida Sans (Επικεφαλίδες)"/>
              </a:rPr>
              <a:t> moderator variables which explain variation in </a:t>
            </a:r>
            <a:r>
              <a:rPr lang="en-US" sz="2400" dirty="0" err="1" smtClean="0">
                <a:latin typeface="Lucida Sans (Επικεφαλίδες)"/>
              </a:rPr>
              <a:t>β</a:t>
            </a:r>
            <a:r>
              <a:rPr lang="en-US" sz="2400" baseline="-25000" dirty="0" err="1" smtClean="0">
                <a:latin typeface="Lucida Sans (Επικεφαλίδες)"/>
              </a:rPr>
              <a:t>j</a:t>
            </a:r>
            <a:r>
              <a:rPr lang="en-US" sz="2400" dirty="0" smtClean="0">
                <a:latin typeface="Lucida Sans (Επικεφαλίδες)"/>
              </a:rPr>
              <a:t>, </a:t>
            </a:r>
          </a:p>
          <a:p>
            <a:pPr marL="0" indent="0" algn="just" eaLnBrk="1" fontAlgn="auto" hangingPunct="1">
              <a:spcAft>
                <a:spcPts val="0"/>
              </a:spcAft>
              <a:buClr>
                <a:schemeClr val="tx1">
                  <a:shade val="95000"/>
                </a:schemeClr>
              </a:buClr>
              <a:buFont typeface="Arial" pitchFamily="34" charset="0"/>
              <a:buNone/>
              <a:defRPr/>
            </a:pPr>
            <a:endParaRPr lang="en-US" sz="1200" dirty="0" smtClean="0">
              <a:latin typeface="Lucida Sans (Επικεφαλίδες)"/>
            </a:endParaRPr>
          </a:p>
          <a:p>
            <a:pPr marL="0" indent="0" algn="just" eaLnBrk="1" fontAlgn="auto" hangingPunct="1">
              <a:spcAft>
                <a:spcPts val="0"/>
              </a:spcAft>
              <a:buClr>
                <a:schemeClr val="tx1">
                  <a:shade val="95000"/>
                </a:schemeClr>
              </a:buClr>
              <a:buFont typeface="Arial" pitchFamily="34" charset="0"/>
              <a:buNone/>
              <a:defRPr/>
            </a:pPr>
            <a:r>
              <a:rPr lang="en-US" sz="2400" dirty="0" err="1" smtClean="0">
                <a:latin typeface="Lucida Sans (Επικεφαλίδες)"/>
              </a:rPr>
              <a:t>α</a:t>
            </a:r>
            <a:r>
              <a:rPr lang="en-US" sz="2400" baseline="-25000" dirty="0" err="1" smtClean="0">
                <a:latin typeface="Lucida Sans (Επικεφαλίδες)"/>
              </a:rPr>
              <a:t>k</a:t>
            </a:r>
            <a:r>
              <a:rPr lang="en-US" sz="2400" dirty="0" smtClean="0">
                <a:latin typeface="Lucida Sans (Επικεφαλίδες)"/>
              </a:rPr>
              <a:t> MRA coefficients reflecting effect of particular study characteristics </a:t>
            </a:r>
          </a:p>
          <a:p>
            <a:pPr marL="0" indent="0" algn="just" eaLnBrk="1" fontAlgn="auto" hangingPunct="1">
              <a:spcAft>
                <a:spcPts val="0"/>
              </a:spcAft>
              <a:buClr>
                <a:schemeClr val="tx1">
                  <a:shade val="95000"/>
                </a:schemeClr>
              </a:buClr>
              <a:buFont typeface="Arial" pitchFamily="34" charset="0"/>
              <a:buNone/>
              <a:defRPr/>
            </a:pPr>
            <a:endParaRPr lang="en-US" sz="1200" dirty="0" smtClean="0">
              <a:latin typeface="Lucida Sans (Επικεφαλίδες)"/>
            </a:endParaRPr>
          </a:p>
          <a:p>
            <a:pPr marL="0" indent="0" algn="just" eaLnBrk="1" fontAlgn="auto" hangingPunct="1">
              <a:spcAft>
                <a:spcPts val="0"/>
              </a:spcAft>
              <a:buClr>
                <a:schemeClr val="tx1">
                  <a:shade val="95000"/>
                </a:schemeClr>
              </a:buClr>
              <a:buFont typeface="Arial" pitchFamily="34" charset="0"/>
              <a:buNone/>
              <a:defRPr/>
            </a:pPr>
            <a:r>
              <a:rPr lang="en-US" sz="2400" dirty="0" err="1" smtClean="0">
                <a:latin typeface="Lucida Sans (Επικεφαλίδες)"/>
              </a:rPr>
              <a:t>se</a:t>
            </a:r>
            <a:r>
              <a:rPr lang="en-US" sz="2400" baseline="-25000" dirty="0" err="1" smtClean="0">
                <a:latin typeface="Lucida Sans (Επικεφαλίδες)"/>
              </a:rPr>
              <a:t>j</a:t>
            </a:r>
            <a:r>
              <a:rPr lang="en-US" sz="2400" dirty="0" smtClean="0">
                <a:latin typeface="Lucida Sans (Επικεφαλίδες)"/>
              </a:rPr>
              <a:t> standard error of coefficient of </a:t>
            </a:r>
            <a:r>
              <a:rPr lang="en-US" sz="2400" dirty="0" err="1" smtClean="0">
                <a:latin typeface="Lucida Sans (Επικεφαλίδες)"/>
              </a:rPr>
              <a:t>j</a:t>
            </a:r>
            <a:r>
              <a:rPr lang="en-US" sz="2400" baseline="30000" dirty="0" err="1" smtClean="0">
                <a:latin typeface="Lucida Sans (Επικεφαλίδες)"/>
              </a:rPr>
              <a:t>th</a:t>
            </a:r>
            <a:r>
              <a:rPr lang="en-US" sz="2400" dirty="0" smtClean="0">
                <a:latin typeface="Lucida Sans (Επικεφαλίδες)"/>
              </a:rPr>
              <a:t> study</a:t>
            </a:r>
          </a:p>
          <a:p>
            <a:pPr marL="0" indent="0" algn="just" eaLnBrk="1" fontAlgn="auto" hangingPunct="1">
              <a:spcAft>
                <a:spcPts val="0"/>
              </a:spcAft>
              <a:buClr>
                <a:schemeClr val="tx1">
                  <a:shade val="95000"/>
                </a:schemeClr>
              </a:buClr>
              <a:buFont typeface="Arial" pitchFamily="34" charset="0"/>
              <a:buNone/>
              <a:defRPr/>
            </a:pPr>
            <a:endParaRPr lang="en-US" sz="1200" dirty="0" smtClean="0">
              <a:latin typeface="Lucida Sans (Επικεφαλίδες)"/>
            </a:endParaRPr>
          </a:p>
          <a:p>
            <a:pPr marL="0" indent="0" algn="just" eaLnBrk="1" fontAlgn="auto" hangingPunct="1">
              <a:spcAft>
                <a:spcPts val="0"/>
              </a:spcAft>
              <a:buClr>
                <a:schemeClr val="tx1">
                  <a:shade val="95000"/>
                </a:schemeClr>
              </a:buClr>
              <a:buFont typeface="Arial" pitchFamily="34" charset="0"/>
              <a:buNone/>
              <a:defRPr/>
            </a:pPr>
            <a:r>
              <a:rPr lang="en-US" sz="2400" dirty="0" err="1" smtClean="0">
                <a:latin typeface="Lucida Sans (Επικεφαλίδες)"/>
              </a:rPr>
              <a:t>u</a:t>
            </a:r>
            <a:r>
              <a:rPr lang="en-US" sz="2400" baseline="-25000" dirty="0" err="1" smtClean="0">
                <a:latin typeface="Lucida Sans (Επικεφαλίδες)"/>
              </a:rPr>
              <a:t>j</a:t>
            </a:r>
            <a:r>
              <a:rPr lang="en-US" sz="2400" dirty="0" smtClean="0">
                <a:latin typeface="Lucida Sans (Επικεφαλίδες)"/>
              </a:rPr>
              <a:t> meta-regression disturbance term.</a:t>
            </a:r>
          </a:p>
          <a:p>
            <a:pPr algn="ctr" eaLnBrk="1" hangingPunct="1">
              <a:buFont typeface="Wingdings" pitchFamily="2" charset="2"/>
              <a:buNone/>
              <a:defRPr/>
            </a:pPr>
            <a:r>
              <a:rPr lang="en-GB" sz="2400" i="1" dirty="0" smtClean="0"/>
              <a:t>.</a:t>
            </a:r>
            <a:endParaRPr lang="en-US" sz="2400" dirty="0" smtClean="0"/>
          </a:p>
        </p:txBody>
      </p:sp>
      <p:sp>
        <p:nvSpPr>
          <p:cNvPr id="11268"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55302" name="Rectangle 6"/>
          <p:cNvSpPr>
            <a:spLocks noGrp="1" noChangeArrowheads="1"/>
          </p:cNvSpPr>
          <p:nvPr>
            <p:ph type="body" idx="1"/>
          </p:nvPr>
        </p:nvSpPr>
        <p:spPr>
          <a:xfrm>
            <a:off x="0" y="835025"/>
            <a:ext cx="9124950" cy="6022975"/>
          </a:xfrm>
        </p:spPr>
        <p:txBody>
          <a:bodyPr/>
          <a:lstStyle/>
          <a:p>
            <a:pPr eaLnBrk="1" hangingPunct="1">
              <a:lnSpc>
                <a:spcPct val="90000"/>
              </a:lnSpc>
              <a:buFont typeface="Wingdings" pitchFamily="2" charset="2"/>
              <a:buNone/>
              <a:defRPr/>
            </a:pPr>
            <a:endParaRPr lang="en-US" sz="500" dirty="0" smtClean="0"/>
          </a:p>
          <a:p>
            <a:pPr algn="just" eaLnBrk="1" hangingPunct="1">
              <a:lnSpc>
                <a:spcPct val="90000"/>
              </a:lnSpc>
              <a:defRPr/>
            </a:pPr>
            <a:endParaRPr lang="en-US" sz="800" dirty="0" smtClean="0">
              <a:effectLst>
                <a:outerShdw blurRad="38100" dist="38100" dir="2700000" algn="tl">
                  <a:srgbClr val="000000">
                    <a:alpha val="43137"/>
                  </a:srgbClr>
                </a:outerShdw>
              </a:effectLst>
            </a:endParaRPr>
          </a:p>
          <a:p>
            <a:pPr algn="just" eaLnBrk="1" hangingPunct="1">
              <a:lnSpc>
                <a:spcPct val="90000"/>
              </a:lnSpc>
              <a:defRPr/>
            </a:pPr>
            <a:r>
              <a:rPr lang="en-US" sz="2350" dirty="0" smtClean="0">
                <a:effectLst>
                  <a:outerShdw blurRad="38100" dist="38100" dir="2700000" algn="tl">
                    <a:srgbClr val="000000">
                      <a:alpha val="43137"/>
                    </a:srgbClr>
                  </a:outerShdw>
                </a:effectLst>
              </a:rPr>
              <a:t>Empirical studies use varying sample sizes, econometric specifications and estimation procedures. Hence, </a:t>
            </a:r>
            <a:r>
              <a:rPr lang="en-US" sz="2350" dirty="0" err="1" smtClean="0">
                <a:effectLst>
                  <a:outerShdw blurRad="38100" dist="38100" dir="2700000" algn="tl">
                    <a:srgbClr val="000000">
                      <a:alpha val="43137"/>
                    </a:srgbClr>
                  </a:outerShdw>
                </a:effectLst>
              </a:rPr>
              <a:t>u</a:t>
            </a:r>
            <a:r>
              <a:rPr lang="en-US" sz="2350" baseline="-25000" dirty="0" err="1" smtClean="0">
                <a:effectLst>
                  <a:outerShdw blurRad="38100" dist="38100" dir="2700000" algn="tl">
                    <a:srgbClr val="000000">
                      <a:alpha val="43137"/>
                    </a:srgbClr>
                  </a:outerShdw>
                </a:effectLst>
              </a:rPr>
              <a:t>j</a:t>
            </a:r>
            <a:r>
              <a:rPr lang="en-US" sz="2350" dirty="0" smtClean="0">
                <a:effectLst>
                  <a:outerShdw blurRad="38100" dist="38100" dir="2700000" algn="tl">
                    <a:srgbClr val="000000">
                      <a:alpha val="43137"/>
                    </a:srgbClr>
                  </a:outerShdw>
                </a:effectLst>
              </a:rPr>
              <a:t> are likely to be </a:t>
            </a:r>
            <a:r>
              <a:rPr lang="en-US" sz="2350" dirty="0" err="1" smtClean="0">
                <a:effectLst>
                  <a:outerShdw blurRad="38100" dist="38100" dir="2700000" algn="tl">
                    <a:srgbClr val="000000">
                      <a:alpha val="43137"/>
                    </a:srgbClr>
                  </a:outerShdw>
                </a:effectLst>
              </a:rPr>
              <a:t>heteroscedastic</a:t>
            </a:r>
            <a:r>
              <a:rPr lang="en-US" sz="2350" dirty="0" smtClean="0">
                <a:effectLst>
                  <a:outerShdw blurRad="38100" dist="38100" dir="2700000" algn="tl">
                    <a:srgbClr val="000000">
                      <a:alpha val="43137"/>
                    </a:srgbClr>
                  </a:outerShdw>
                </a:effectLst>
              </a:rPr>
              <a:t>.</a:t>
            </a:r>
          </a:p>
          <a:p>
            <a:pPr algn="just" eaLnBrk="1" hangingPunct="1">
              <a:lnSpc>
                <a:spcPct val="90000"/>
              </a:lnSpc>
              <a:defRPr/>
            </a:pPr>
            <a:endParaRPr lang="en-US" sz="800" dirty="0" smtClean="0">
              <a:effectLst>
                <a:outerShdw blurRad="38100" dist="38100" dir="2700000" algn="tl">
                  <a:srgbClr val="000000">
                    <a:alpha val="43137"/>
                  </a:srgbClr>
                </a:outerShdw>
              </a:effectLst>
            </a:endParaRPr>
          </a:p>
          <a:p>
            <a:pPr algn="just" eaLnBrk="1" hangingPunct="1">
              <a:lnSpc>
                <a:spcPct val="90000"/>
              </a:lnSpc>
              <a:defRPr/>
            </a:pPr>
            <a:r>
              <a:rPr lang="en-US" sz="2350" dirty="0" smtClean="0">
                <a:effectLst>
                  <a:outerShdw blurRad="38100" dist="38100" dir="2700000" algn="tl">
                    <a:srgbClr val="000000">
                      <a:alpha val="43137"/>
                    </a:srgbClr>
                  </a:outerShdw>
                </a:effectLst>
              </a:rPr>
              <a:t>Thus, we estimate the Weighted Least Squares (WLS) version of equation (1), by dividing it by </a:t>
            </a:r>
            <a:r>
              <a:rPr lang="en-US" sz="2350" i="1" dirty="0" err="1" smtClean="0">
                <a:effectLst>
                  <a:outerShdw blurRad="38100" dist="38100" dir="2700000" algn="tl">
                    <a:srgbClr val="000000">
                      <a:alpha val="43137"/>
                    </a:srgbClr>
                  </a:outerShdw>
                </a:effectLst>
              </a:rPr>
              <a:t>se</a:t>
            </a:r>
            <a:r>
              <a:rPr lang="en-US" sz="2350" i="1" baseline="-25000" dirty="0" err="1" smtClean="0">
                <a:effectLst>
                  <a:outerShdw blurRad="38100" dist="38100" dir="2700000" algn="tl">
                    <a:srgbClr val="000000">
                      <a:alpha val="43137"/>
                    </a:srgbClr>
                  </a:outerShdw>
                </a:effectLst>
              </a:rPr>
              <a:t>j</a:t>
            </a:r>
            <a:r>
              <a:rPr lang="en-US" sz="2350" dirty="0" smtClean="0">
                <a:effectLst>
                  <a:outerShdw blurRad="38100" dist="38100" dir="2700000" algn="tl">
                    <a:srgbClr val="000000">
                      <a:alpha val="43137"/>
                    </a:srgbClr>
                  </a:outerShdw>
                </a:effectLst>
              </a:rPr>
              <a:t>:</a:t>
            </a:r>
          </a:p>
          <a:p>
            <a:pPr algn="just" eaLnBrk="1" hangingPunct="1">
              <a:lnSpc>
                <a:spcPct val="90000"/>
              </a:lnSpc>
              <a:buFont typeface="Wingdings" pitchFamily="2" charset="2"/>
              <a:buNone/>
              <a:defRPr/>
            </a:pPr>
            <a:endParaRPr lang="en-US" sz="800" dirty="0" smtClean="0">
              <a:effectLst>
                <a:outerShdw blurRad="38100" dist="38100" dir="2700000" algn="tl">
                  <a:srgbClr val="000000">
                    <a:alpha val="43137"/>
                  </a:srgbClr>
                </a:outerShdw>
              </a:effectLst>
            </a:endParaRPr>
          </a:p>
          <a:p>
            <a:pPr algn="just" eaLnBrk="1" hangingPunct="1">
              <a:lnSpc>
                <a:spcPct val="90000"/>
              </a:lnSpc>
              <a:buFont typeface="Wingdings" pitchFamily="2" charset="2"/>
              <a:buNone/>
              <a:defRPr/>
            </a:pPr>
            <a:r>
              <a:rPr lang="en-US" sz="2350" dirty="0" smtClean="0">
                <a:effectLst>
                  <a:outerShdw blurRad="38100" dist="38100" dir="2700000" algn="tl">
                    <a:srgbClr val="000000">
                      <a:alpha val="43137"/>
                    </a:srgbClr>
                  </a:outerShdw>
                </a:effectLst>
              </a:rPr>
              <a:t>	</a:t>
            </a:r>
            <a:r>
              <a:rPr lang="en-US" sz="2350" i="1" dirty="0" err="1" smtClean="0">
                <a:effectLst>
                  <a:outerShdw blurRad="38100" dist="38100" dir="2700000" algn="tl">
                    <a:srgbClr val="000000">
                      <a:alpha val="43137"/>
                    </a:srgbClr>
                  </a:outerShdw>
                </a:effectLst>
              </a:rPr>
              <a:t>t</a:t>
            </a:r>
            <a:r>
              <a:rPr lang="en-US" sz="2350" i="1" baseline="-25000" dirty="0" err="1" smtClean="0">
                <a:effectLst>
                  <a:outerShdw blurRad="38100" dist="38100" dir="2700000" algn="tl">
                    <a:srgbClr val="000000">
                      <a:alpha val="43137"/>
                    </a:srgbClr>
                  </a:outerShdw>
                </a:effectLst>
              </a:rPr>
              <a:t>j</a:t>
            </a:r>
            <a:r>
              <a:rPr lang="en-US" sz="2350" i="1" dirty="0" smtClean="0">
                <a:effectLst>
                  <a:outerShdw blurRad="38100" dist="38100" dir="2700000" algn="tl">
                    <a:srgbClr val="000000">
                      <a:alpha val="43137"/>
                    </a:srgbClr>
                  </a:outerShdw>
                </a:effectLst>
              </a:rPr>
              <a:t> = β</a:t>
            </a:r>
            <a:r>
              <a:rPr lang="en-US" sz="2350" i="1" baseline="-25000" dirty="0" smtClean="0">
                <a:effectLst>
                  <a:outerShdw blurRad="38100" dist="38100" dir="2700000" algn="tl">
                    <a:srgbClr val="000000">
                      <a:alpha val="43137"/>
                    </a:srgbClr>
                  </a:outerShdw>
                </a:effectLst>
              </a:rPr>
              <a:t>1</a:t>
            </a:r>
            <a:r>
              <a:rPr lang="en-US" sz="2350" i="1" dirty="0" smtClean="0">
                <a:effectLst>
                  <a:outerShdw blurRad="38100" dist="38100" dir="2700000" algn="tl">
                    <a:srgbClr val="000000">
                      <a:alpha val="43137"/>
                    </a:srgbClr>
                  </a:outerShdw>
                </a:effectLst>
              </a:rPr>
              <a:t> + </a:t>
            </a:r>
            <a:r>
              <a:rPr lang="en-US" sz="2350" i="1" dirty="0" err="1" smtClean="0">
                <a:effectLst>
                  <a:outerShdw blurRad="38100" dist="38100" dir="2700000" algn="tl">
                    <a:srgbClr val="000000">
                      <a:alpha val="43137"/>
                    </a:srgbClr>
                  </a:outerShdw>
                </a:effectLst>
              </a:rPr>
              <a:t>Σγ</a:t>
            </a:r>
            <a:r>
              <a:rPr lang="en-US" sz="2350" i="1" baseline="-25000" dirty="0" err="1" smtClean="0">
                <a:effectLst>
                  <a:outerShdw blurRad="38100" dist="38100" dir="2700000" algn="tl">
                    <a:srgbClr val="000000">
                      <a:alpha val="43137"/>
                    </a:srgbClr>
                  </a:outerShdw>
                </a:effectLst>
              </a:rPr>
              <a:t>i</a:t>
            </a:r>
            <a:r>
              <a:rPr lang="en-US" sz="2350" i="1" dirty="0" err="1" smtClean="0">
                <a:effectLst>
                  <a:outerShdw blurRad="38100" dist="38100" dir="2700000" algn="tl">
                    <a:srgbClr val="000000">
                      <a:alpha val="43137"/>
                    </a:srgbClr>
                  </a:outerShdw>
                </a:effectLst>
              </a:rPr>
              <a:t>K</a:t>
            </a:r>
            <a:r>
              <a:rPr lang="en-US" sz="2350" i="1" baseline="-25000" dirty="0" err="1" smtClean="0">
                <a:effectLst>
                  <a:outerShdw blurRad="38100" dist="38100" dir="2700000" algn="tl">
                    <a:srgbClr val="000000">
                      <a:alpha val="43137"/>
                    </a:srgbClr>
                  </a:outerShdw>
                </a:effectLst>
              </a:rPr>
              <a:t>ij</a:t>
            </a:r>
            <a:r>
              <a:rPr lang="en-US" sz="2350" i="1" dirty="0" smtClean="0">
                <a:effectLst>
                  <a:outerShdw blurRad="38100" dist="38100" dir="2700000" algn="tl">
                    <a:srgbClr val="000000">
                      <a:alpha val="43137"/>
                    </a:srgbClr>
                  </a:outerShdw>
                </a:effectLst>
              </a:rPr>
              <a:t> + β</a:t>
            </a:r>
            <a:r>
              <a:rPr lang="en-US" sz="2350" i="1" baseline="-25000" dirty="0" smtClean="0">
                <a:effectLst>
                  <a:outerShdw blurRad="38100" dist="38100" dir="2700000" algn="tl">
                    <a:srgbClr val="000000">
                      <a:alpha val="43137"/>
                    </a:srgbClr>
                  </a:outerShdw>
                </a:effectLst>
              </a:rPr>
              <a:t>0</a:t>
            </a:r>
            <a:r>
              <a:rPr lang="en-US" sz="2350" i="1" dirty="0" smtClean="0">
                <a:effectLst>
                  <a:outerShdw blurRad="38100" dist="38100" dir="2700000" algn="tl">
                    <a:srgbClr val="000000">
                      <a:alpha val="43137"/>
                    </a:srgbClr>
                  </a:outerShdw>
                </a:effectLst>
              </a:rPr>
              <a:t>(1/</a:t>
            </a:r>
            <a:r>
              <a:rPr lang="en-US" sz="2350" i="1" dirty="0" err="1" smtClean="0">
                <a:effectLst>
                  <a:outerShdw blurRad="38100" dist="38100" dir="2700000" algn="tl">
                    <a:srgbClr val="000000">
                      <a:alpha val="43137"/>
                    </a:srgbClr>
                  </a:outerShdw>
                </a:effectLst>
              </a:rPr>
              <a:t>se</a:t>
            </a:r>
            <a:r>
              <a:rPr lang="en-US" sz="2350" i="1" baseline="-25000" dirty="0" err="1" smtClean="0">
                <a:effectLst>
                  <a:outerShdw blurRad="38100" dist="38100" dir="2700000" algn="tl">
                    <a:srgbClr val="000000">
                      <a:alpha val="43137"/>
                    </a:srgbClr>
                  </a:outerShdw>
                </a:effectLst>
              </a:rPr>
              <a:t>j</a:t>
            </a:r>
            <a:r>
              <a:rPr lang="en-US" sz="2350" i="1" dirty="0" smtClean="0">
                <a:effectLst>
                  <a:outerShdw blurRad="38100" dist="38100" dir="2700000" algn="tl">
                    <a:srgbClr val="000000">
                      <a:alpha val="43137"/>
                    </a:srgbClr>
                  </a:outerShdw>
                </a:effectLst>
              </a:rPr>
              <a:t>) + </a:t>
            </a:r>
            <a:r>
              <a:rPr lang="en-US" sz="2350" i="1" dirty="0" err="1" smtClean="0">
                <a:effectLst>
                  <a:outerShdw blurRad="38100" dist="38100" dir="2700000" algn="tl">
                    <a:srgbClr val="000000">
                      <a:alpha val="43137"/>
                    </a:srgbClr>
                  </a:outerShdw>
                </a:effectLst>
              </a:rPr>
              <a:t>Σα</a:t>
            </a:r>
            <a:r>
              <a:rPr lang="en-US" sz="2350" i="1" baseline="-25000" dirty="0" err="1" smtClean="0">
                <a:effectLst>
                  <a:outerShdw blurRad="38100" dist="38100" dir="2700000" algn="tl">
                    <a:srgbClr val="000000">
                      <a:alpha val="43137"/>
                    </a:srgbClr>
                  </a:outerShdw>
                </a:effectLst>
              </a:rPr>
              <a:t>k</a:t>
            </a:r>
            <a:r>
              <a:rPr lang="en-US" sz="2350" i="1" dirty="0" err="1" smtClean="0">
                <a:effectLst>
                  <a:outerShdw blurRad="38100" dist="38100" dir="2700000" algn="tl">
                    <a:srgbClr val="000000">
                      <a:alpha val="43137"/>
                    </a:srgbClr>
                  </a:outerShdw>
                </a:effectLst>
              </a:rPr>
              <a:t>Z</a:t>
            </a:r>
            <a:r>
              <a:rPr lang="en-US" sz="2350" i="1" baseline="-25000" dirty="0" err="1" smtClean="0">
                <a:effectLst>
                  <a:outerShdw blurRad="38100" dist="38100" dir="2700000" algn="tl">
                    <a:srgbClr val="000000">
                      <a:alpha val="43137"/>
                    </a:srgbClr>
                  </a:outerShdw>
                </a:effectLst>
              </a:rPr>
              <a:t>jk</a:t>
            </a:r>
            <a:r>
              <a:rPr lang="en-US" sz="2350" i="1" dirty="0" smtClean="0">
                <a:effectLst>
                  <a:outerShdw blurRad="38100" dist="38100" dir="2700000" algn="tl">
                    <a:srgbClr val="000000">
                      <a:alpha val="43137"/>
                    </a:srgbClr>
                  </a:outerShdw>
                </a:effectLst>
              </a:rPr>
              <a:t>/</a:t>
            </a:r>
            <a:r>
              <a:rPr lang="en-US" sz="2350" i="1" dirty="0" err="1" smtClean="0">
                <a:effectLst>
                  <a:outerShdw blurRad="38100" dist="38100" dir="2700000" algn="tl">
                    <a:srgbClr val="000000">
                      <a:alpha val="43137"/>
                    </a:srgbClr>
                  </a:outerShdw>
                </a:effectLst>
              </a:rPr>
              <a:t>se</a:t>
            </a:r>
            <a:r>
              <a:rPr lang="en-US" sz="2350" i="1" baseline="-25000" dirty="0" err="1" smtClean="0">
                <a:effectLst>
                  <a:outerShdw blurRad="38100" dist="38100" dir="2700000" algn="tl">
                    <a:srgbClr val="000000">
                      <a:alpha val="43137"/>
                    </a:srgbClr>
                  </a:outerShdw>
                </a:effectLst>
              </a:rPr>
              <a:t>j</a:t>
            </a:r>
            <a:r>
              <a:rPr lang="en-US" sz="2350" i="1" dirty="0" smtClean="0">
                <a:effectLst>
                  <a:outerShdw blurRad="38100" dist="38100" dir="2700000" algn="tl">
                    <a:srgbClr val="000000">
                      <a:alpha val="43137"/>
                    </a:srgbClr>
                  </a:outerShdw>
                </a:effectLst>
              </a:rPr>
              <a:t> + </a:t>
            </a:r>
            <a:r>
              <a:rPr lang="en-US" sz="2350" i="1" dirty="0" err="1" smtClean="0">
                <a:effectLst>
                  <a:outerShdw blurRad="38100" dist="38100" dir="2700000" algn="tl">
                    <a:srgbClr val="000000">
                      <a:alpha val="43137"/>
                    </a:srgbClr>
                  </a:outerShdw>
                </a:effectLst>
              </a:rPr>
              <a:t>v</a:t>
            </a:r>
            <a:r>
              <a:rPr lang="en-US" sz="2350" i="1" baseline="-25000" dirty="0" err="1" smtClean="0">
                <a:effectLst>
                  <a:outerShdw blurRad="38100" dist="38100" dir="2700000" algn="tl">
                    <a:srgbClr val="000000">
                      <a:alpha val="43137"/>
                    </a:srgbClr>
                  </a:outerShdw>
                </a:effectLst>
              </a:rPr>
              <a:t>j</a:t>
            </a:r>
            <a:r>
              <a:rPr lang="en-US" sz="2350" dirty="0" smtClean="0">
                <a:effectLst>
                  <a:outerShdw blurRad="38100" dist="38100" dir="2700000" algn="tl">
                    <a:srgbClr val="000000">
                      <a:alpha val="43137"/>
                    </a:srgbClr>
                  </a:outerShdw>
                </a:effectLst>
              </a:rPr>
              <a:t>     (2), where:</a:t>
            </a:r>
          </a:p>
          <a:p>
            <a:pPr algn="just" eaLnBrk="1" hangingPunct="1">
              <a:lnSpc>
                <a:spcPct val="90000"/>
              </a:lnSpc>
              <a:defRPr/>
            </a:pPr>
            <a:endParaRPr lang="en-US" sz="800" dirty="0" smtClean="0">
              <a:effectLst>
                <a:outerShdw blurRad="38100" dist="38100" dir="2700000" algn="tl">
                  <a:srgbClr val="000000">
                    <a:alpha val="43137"/>
                  </a:srgbClr>
                </a:outerShdw>
              </a:effectLst>
            </a:endParaRPr>
          </a:p>
          <a:p>
            <a:pPr algn="just" eaLnBrk="1" hangingPunct="1">
              <a:lnSpc>
                <a:spcPct val="90000"/>
              </a:lnSpc>
              <a:buFont typeface="Wingdings" pitchFamily="2" charset="2"/>
              <a:buNone/>
              <a:defRPr/>
            </a:pPr>
            <a:r>
              <a:rPr lang="en-US" sz="2350" dirty="0" smtClean="0">
                <a:effectLst>
                  <a:outerShdw blurRad="38100" dist="38100" dir="2700000" algn="tl">
                    <a:srgbClr val="000000">
                      <a:alpha val="43137"/>
                    </a:srgbClr>
                  </a:outerShdw>
                </a:effectLst>
              </a:rPr>
              <a:t>	</a:t>
            </a:r>
            <a:r>
              <a:rPr lang="en-US" sz="2350" i="1" dirty="0" err="1" smtClean="0">
                <a:effectLst>
                  <a:outerShdw blurRad="38100" dist="38100" dir="2700000" algn="tl">
                    <a:srgbClr val="000000">
                      <a:alpha val="43137"/>
                    </a:srgbClr>
                  </a:outerShdw>
                </a:effectLst>
              </a:rPr>
              <a:t>t</a:t>
            </a:r>
            <a:r>
              <a:rPr lang="en-US" sz="2350" i="1" baseline="-25000" dirty="0" err="1" smtClean="0">
                <a:effectLst>
                  <a:outerShdw blurRad="38100" dist="38100" dir="2700000" algn="tl">
                    <a:srgbClr val="000000">
                      <a:alpha val="43137"/>
                    </a:srgbClr>
                  </a:outerShdw>
                </a:effectLst>
              </a:rPr>
              <a:t>j</a:t>
            </a:r>
            <a:r>
              <a:rPr lang="en-US" sz="2350" dirty="0" smtClean="0">
                <a:effectLst>
                  <a:outerShdw blurRad="38100" dist="38100" dir="2700000" algn="tl">
                    <a:srgbClr val="000000">
                      <a:alpha val="43137"/>
                    </a:srgbClr>
                  </a:outerShdw>
                </a:effectLst>
              </a:rPr>
              <a:t> is t-statistic which corresponds to the estimate </a:t>
            </a:r>
            <a:r>
              <a:rPr lang="en-US" sz="2350" i="1" dirty="0" err="1" smtClean="0">
                <a:effectLst>
                  <a:outerShdw blurRad="38100" dist="38100" dir="2700000" algn="tl">
                    <a:srgbClr val="000000">
                      <a:alpha val="43137"/>
                    </a:srgbClr>
                  </a:outerShdw>
                </a:effectLst>
              </a:rPr>
              <a:t>β</a:t>
            </a:r>
            <a:r>
              <a:rPr lang="en-US" sz="2350" i="1" baseline="-25000" dirty="0" err="1" smtClean="0">
                <a:effectLst>
                  <a:outerShdw blurRad="38100" dist="38100" dir="2700000" algn="tl">
                    <a:srgbClr val="000000">
                      <a:alpha val="43137"/>
                    </a:srgbClr>
                  </a:outerShdw>
                </a:effectLst>
              </a:rPr>
              <a:t>j</a:t>
            </a:r>
            <a:r>
              <a:rPr lang="en-US" sz="2350" dirty="0" smtClean="0">
                <a:effectLst>
                  <a:outerShdw blurRad="38100" dist="38100" dir="2700000" algn="tl">
                    <a:srgbClr val="000000">
                      <a:alpha val="43137"/>
                    </a:srgbClr>
                  </a:outerShdw>
                </a:effectLst>
              </a:rPr>
              <a:t>.</a:t>
            </a:r>
          </a:p>
          <a:p>
            <a:pPr algn="just" eaLnBrk="1" hangingPunct="1">
              <a:lnSpc>
                <a:spcPct val="90000"/>
              </a:lnSpc>
              <a:buFont typeface="Wingdings" pitchFamily="2" charset="2"/>
              <a:buNone/>
              <a:defRPr/>
            </a:pPr>
            <a:r>
              <a:rPr lang="en-US" sz="2350" dirty="0" smtClean="0">
                <a:effectLst>
                  <a:outerShdw blurRad="38100" dist="38100" dir="2700000" algn="tl">
                    <a:srgbClr val="000000">
                      <a:alpha val="43137"/>
                    </a:srgbClr>
                  </a:outerShdw>
                </a:effectLst>
              </a:rPr>
              <a:t>	</a:t>
            </a:r>
            <a:r>
              <a:rPr lang="en-US" sz="2350" i="1" dirty="0" err="1" smtClean="0">
                <a:effectLst>
                  <a:outerShdw blurRad="38100" dist="38100" dir="2700000" algn="tl">
                    <a:srgbClr val="000000">
                      <a:alpha val="43137"/>
                    </a:srgbClr>
                  </a:outerShdw>
                </a:effectLst>
              </a:rPr>
              <a:t>K</a:t>
            </a:r>
            <a:r>
              <a:rPr lang="en-US" sz="2350" i="1" baseline="-25000" dirty="0" err="1" smtClean="0">
                <a:effectLst>
                  <a:outerShdw blurRad="38100" dist="38100" dir="2700000" algn="tl">
                    <a:srgbClr val="000000">
                      <a:alpha val="43137"/>
                    </a:srgbClr>
                  </a:outerShdw>
                </a:effectLst>
              </a:rPr>
              <a:t>ij</a:t>
            </a:r>
            <a:r>
              <a:rPr lang="en-US" sz="2350" dirty="0" smtClean="0">
                <a:effectLst>
                  <a:outerShdw blurRad="38100" dist="38100" dir="2700000" algn="tl">
                    <a:srgbClr val="000000">
                      <a:alpha val="43137"/>
                    </a:srgbClr>
                  </a:outerShdw>
                </a:effectLst>
              </a:rPr>
              <a:t> are additional factors correlated with publication process itself.</a:t>
            </a:r>
          </a:p>
          <a:p>
            <a:pPr algn="just" eaLnBrk="1" hangingPunct="1">
              <a:lnSpc>
                <a:spcPct val="90000"/>
              </a:lnSpc>
              <a:defRPr/>
            </a:pPr>
            <a:endParaRPr lang="en-US" sz="800" dirty="0" smtClean="0">
              <a:effectLst>
                <a:outerShdw blurRad="38100" dist="38100" dir="2700000" algn="tl">
                  <a:srgbClr val="000000">
                    <a:alpha val="43137"/>
                  </a:srgbClr>
                </a:outerShdw>
              </a:effectLst>
            </a:endParaRPr>
          </a:p>
          <a:p>
            <a:pPr algn="just" eaLnBrk="1" hangingPunct="1">
              <a:lnSpc>
                <a:spcPct val="90000"/>
              </a:lnSpc>
              <a:defRPr/>
            </a:pPr>
            <a:r>
              <a:rPr lang="en-US" sz="2350" dirty="0" smtClean="0">
                <a:effectLst>
                  <a:outerShdw blurRad="38100" dist="38100" dir="2700000" algn="tl">
                    <a:srgbClr val="000000">
                      <a:alpha val="43137"/>
                    </a:srgbClr>
                  </a:outerShdw>
                </a:effectLst>
              </a:rPr>
              <a:t>We follow general-to-specific modeling approach for variable selection.</a:t>
            </a:r>
          </a:p>
          <a:p>
            <a:pPr algn="just" eaLnBrk="1" hangingPunct="1">
              <a:lnSpc>
                <a:spcPct val="90000"/>
              </a:lnSpc>
              <a:defRPr/>
            </a:pPr>
            <a:endParaRPr lang="en-US" sz="800" dirty="0" smtClean="0">
              <a:effectLst>
                <a:outerShdw blurRad="38100" dist="38100" dir="2700000" algn="tl">
                  <a:srgbClr val="000000">
                    <a:alpha val="43137"/>
                  </a:srgbClr>
                </a:outerShdw>
              </a:effectLst>
            </a:endParaRPr>
          </a:p>
          <a:p>
            <a:pPr algn="just" eaLnBrk="1" hangingPunct="1">
              <a:lnSpc>
                <a:spcPct val="90000"/>
              </a:lnSpc>
              <a:defRPr/>
            </a:pPr>
            <a:r>
              <a:rPr lang="en-US" sz="2400" dirty="0" smtClean="0"/>
              <a:t>The estimation methods we use are: </a:t>
            </a:r>
            <a:r>
              <a:rPr lang="en-US" sz="2400" dirty="0" err="1" smtClean="0"/>
              <a:t>i</a:t>
            </a:r>
            <a:r>
              <a:rPr lang="en-US" sz="2400" dirty="0" smtClean="0"/>
              <a:t>) OLS, ii) OLS-cluster, iii) REML, iv) FE, v) Weighted-Least-Squares and vi) FE-WLS.</a:t>
            </a:r>
            <a:endParaRPr lang="en-US" sz="2350" dirty="0" smtClean="0">
              <a:effectLst>
                <a:outerShdw blurRad="38100" dist="38100" dir="2700000" algn="tl">
                  <a:srgbClr val="000000">
                    <a:alpha val="43137"/>
                  </a:srgbClr>
                </a:outerShdw>
              </a:effectLst>
            </a:endParaRPr>
          </a:p>
          <a:p>
            <a:pPr algn="just" eaLnBrk="1" hangingPunct="1">
              <a:lnSpc>
                <a:spcPct val="90000"/>
              </a:lnSpc>
              <a:buFont typeface="Wingdings" pitchFamily="2" charset="2"/>
              <a:buNone/>
              <a:defRPr/>
            </a:pPr>
            <a:endParaRPr lang="en-US" sz="2350" dirty="0" smtClean="0">
              <a:effectLst>
                <a:outerShdw blurRad="38100" dist="38100" dir="2700000" algn="tl">
                  <a:srgbClr val="000000">
                    <a:alpha val="43137"/>
                  </a:srgbClr>
                </a:outerShdw>
              </a:effectLst>
            </a:endParaRPr>
          </a:p>
        </p:txBody>
      </p:sp>
      <p:sp>
        <p:nvSpPr>
          <p:cNvPr id="12292"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 Θέση περιεχομένου"/>
          <p:cNvSpPr>
            <a:spLocks noGrp="1"/>
          </p:cNvSpPr>
          <p:nvPr>
            <p:ph sz="half" idx="1"/>
          </p:nvPr>
        </p:nvSpPr>
        <p:spPr>
          <a:xfrm>
            <a:off x="0" y="0"/>
            <a:ext cx="9144000" cy="915988"/>
          </a:xfrm>
        </p:spPr>
        <p:txBody>
          <a:bodyPr/>
          <a:lstStyle/>
          <a:p>
            <a:pPr algn="ctr">
              <a:buFont typeface="Wingdings" pitchFamily="2" charset="2"/>
              <a:buNone/>
              <a:defRPr/>
            </a:pPr>
            <a:r>
              <a:rPr lang="en-US" sz="2600" dirty="0" smtClean="0"/>
              <a:t>Figure 1: Funnel graph (n=688)</a:t>
            </a:r>
          </a:p>
          <a:p>
            <a:pPr algn="ctr">
              <a:buFont typeface="Wingdings" pitchFamily="2" charset="2"/>
              <a:buNone/>
              <a:defRPr/>
            </a:pPr>
            <a:endParaRPr lang="el-GR" dirty="0"/>
          </a:p>
        </p:txBody>
      </p:sp>
      <p:sp>
        <p:nvSpPr>
          <p:cNvPr id="7" name="6 - Ορθογώνιο"/>
          <p:cNvSpPr/>
          <p:nvPr/>
        </p:nvSpPr>
        <p:spPr>
          <a:xfrm>
            <a:off x="5021263" y="1358900"/>
            <a:ext cx="3781425" cy="923925"/>
          </a:xfrm>
          <a:prstGeom prst="rect">
            <a:avLst/>
          </a:prstGeom>
        </p:spPr>
        <p:txBody>
          <a:bodyPr>
            <a:spAutoFit/>
          </a:bodyPr>
          <a:lstStyle/>
          <a:p>
            <a:pPr algn="r">
              <a:defRPr/>
            </a:pPr>
            <a:r>
              <a:rPr lang="en-US" dirty="0">
                <a:solidFill>
                  <a:schemeClr val="accent6"/>
                </a:solidFill>
                <a:latin typeface="Arial" charset="0"/>
              </a:rPr>
              <a:t>430 estimates &lt; 0</a:t>
            </a:r>
          </a:p>
          <a:p>
            <a:pPr algn="r">
              <a:defRPr/>
            </a:pPr>
            <a:r>
              <a:rPr lang="en-US" dirty="0">
                <a:solidFill>
                  <a:schemeClr val="accent6"/>
                </a:solidFill>
                <a:latin typeface="Arial" charset="0"/>
              </a:rPr>
              <a:t>431 estimates &gt; 0</a:t>
            </a:r>
          </a:p>
          <a:p>
            <a:pPr algn="r">
              <a:defRPr/>
            </a:pPr>
            <a:r>
              <a:rPr lang="en-US" dirty="0">
                <a:solidFill>
                  <a:schemeClr val="accent6"/>
                </a:solidFill>
                <a:latin typeface="Arial" charset="0"/>
              </a:rPr>
              <a:t>5 estimates = 0</a:t>
            </a:r>
            <a:endParaRPr lang="el-GR" dirty="0">
              <a:solidFill>
                <a:schemeClr val="accent6"/>
              </a:solidFill>
              <a:latin typeface="Arial" charset="0"/>
            </a:endParaRPr>
          </a:p>
        </p:txBody>
      </p:sp>
      <p:pic>
        <p:nvPicPr>
          <p:cNvPr id="13316" name="Picture 6"/>
          <p:cNvPicPr>
            <a:picLocks noChangeAspect="1" noChangeArrowheads="1"/>
          </p:cNvPicPr>
          <p:nvPr/>
        </p:nvPicPr>
        <p:blipFill>
          <a:blip r:embed="rId2" cstate="print"/>
          <a:srcRect/>
          <a:stretch>
            <a:fillRect/>
          </a:stretch>
        </p:blipFill>
        <p:spPr bwMode="auto">
          <a:xfrm>
            <a:off x="0" y="638175"/>
            <a:ext cx="8982075" cy="6219825"/>
          </a:xfrm>
          <a:prstGeom prst="rect">
            <a:avLst/>
          </a:prstGeom>
          <a:noFill/>
          <a:ln w="9525">
            <a:noFill/>
            <a:miter lim="800000"/>
            <a:headEnd/>
            <a:tailEnd/>
          </a:ln>
        </p:spPr>
      </p:pic>
      <p:sp>
        <p:nvSpPr>
          <p:cNvPr id="13317" name="Line 3"/>
          <p:cNvSpPr>
            <a:spLocks noChangeShapeType="1"/>
          </p:cNvSpPr>
          <p:nvPr/>
        </p:nvSpPr>
        <p:spPr bwMode="auto">
          <a:xfrm flipV="1">
            <a:off x="4797425" y="1179513"/>
            <a:ext cx="0" cy="4772025"/>
          </a:xfrm>
          <a:prstGeom prst="line">
            <a:avLst/>
          </a:prstGeom>
          <a:noFill/>
          <a:ln w="9525">
            <a:solidFill>
              <a:srgbClr val="000000"/>
            </a:solidFill>
            <a:round/>
            <a:headEnd/>
            <a:tailEnd/>
          </a:ln>
        </p:spPr>
        <p:txBody>
          <a:bodyPr/>
          <a:lstStyle/>
          <a:p>
            <a:endParaRPr lang="el-G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19"/>
          <p:cNvSpPr>
            <a:spLocks noChangeArrowheads="1"/>
          </p:cNvSpPr>
          <p:nvPr/>
        </p:nvSpPr>
        <p:spPr bwMode="auto">
          <a:xfrm>
            <a:off x="0" y="-138113"/>
            <a:ext cx="9144000" cy="892176"/>
          </a:xfrm>
          <a:prstGeom prst="rect">
            <a:avLst/>
          </a:prstGeom>
          <a:noFill/>
          <a:ln w="9525">
            <a:noFill/>
            <a:miter lim="800000"/>
            <a:headEnd/>
            <a:tailEnd/>
          </a:ln>
        </p:spPr>
        <p:txBody>
          <a:bodyPr anchor="ctr">
            <a:spAutoFit/>
          </a:bodyPr>
          <a:lstStyle/>
          <a:p>
            <a:pPr algn="ctr" eaLnBrk="0" hangingPunct="0">
              <a:defRPr/>
            </a:pPr>
            <a:r>
              <a:rPr lang="en-GB" altLang="el-GR" sz="2600" b="1" dirty="0">
                <a:latin typeface="+mn-lt"/>
                <a:cs typeface="Times New Roman" pitchFamily="18" charset="0"/>
              </a:rPr>
              <a:t>Table 1: Summary statistics of the studies included in meta-regression analysis</a:t>
            </a:r>
            <a:endParaRPr lang="en-GB" altLang="el-GR" sz="2600" dirty="0">
              <a:latin typeface="+mn-lt"/>
            </a:endParaRPr>
          </a:p>
        </p:txBody>
      </p:sp>
      <p:graphicFrame>
        <p:nvGraphicFramePr>
          <p:cNvPr id="4" name="3 - Πίνακας"/>
          <p:cNvGraphicFramePr>
            <a:graphicFrameLocks noGrp="1"/>
          </p:cNvGraphicFramePr>
          <p:nvPr/>
        </p:nvGraphicFramePr>
        <p:xfrm>
          <a:off x="0" y="754063"/>
          <a:ext cx="9144001" cy="6104047"/>
        </p:xfrm>
        <a:graphic>
          <a:graphicData uri="http://schemas.openxmlformats.org/drawingml/2006/table">
            <a:tbl>
              <a:tblPr/>
              <a:tblGrid>
                <a:gridCol w="400789"/>
                <a:gridCol w="2371602"/>
                <a:gridCol w="1061935"/>
                <a:gridCol w="1061935"/>
                <a:gridCol w="1061935"/>
                <a:gridCol w="1061935"/>
                <a:gridCol w="1061935"/>
                <a:gridCol w="1061935"/>
              </a:tblGrid>
              <a:tr h="483498">
                <a:tc>
                  <a:txBody>
                    <a:bodyPr/>
                    <a:lstStyle/>
                    <a:p>
                      <a:pPr>
                        <a:lnSpc>
                          <a:spcPct val="115000"/>
                        </a:lnSpc>
                      </a:pPr>
                      <a:endParaRPr lang="el-GR" sz="1300" dirty="0">
                        <a:solidFill>
                          <a:schemeClr val="bg1"/>
                        </a:solidFill>
                        <a:latin typeface="Calibri"/>
                        <a:ea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dirty="0">
                          <a:solidFill>
                            <a:schemeClr val="bg1"/>
                          </a:solidFill>
                          <a:latin typeface="Cambria"/>
                          <a:ea typeface="Calibri"/>
                          <a:cs typeface="Times New Roman"/>
                        </a:rPr>
                        <a:t>  </a:t>
                      </a:r>
                      <a:endParaRPr lang="el-GR" sz="1300" dirty="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err="1">
                          <a:solidFill>
                            <a:schemeClr val="bg1"/>
                          </a:solidFill>
                          <a:latin typeface="Cambria"/>
                          <a:ea typeface="Calibri"/>
                          <a:cs typeface="Times New Roman"/>
                        </a:rPr>
                        <a:t>Number</a:t>
                      </a:r>
                      <a:r>
                        <a:rPr lang="el-GR" sz="1300" b="1" dirty="0">
                          <a:solidFill>
                            <a:schemeClr val="bg1"/>
                          </a:solidFill>
                          <a:latin typeface="Cambria"/>
                          <a:ea typeface="Calibri"/>
                          <a:cs typeface="Times New Roman"/>
                        </a:rPr>
                        <a:t> </a:t>
                      </a:r>
                      <a:r>
                        <a:rPr lang="el-GR" sz="1300" b="1" dirty="0" err="1">
                          <a:solidFill>
                            <a:schemeClr val="bg1"/>
                          </a:solidFill>
                          <a:latin typeface="Cambria"/>
                          <a:ea typeface="Calibri"/>
                          <a:cs typeface="Times New Roman"/>
                        </a:rPr>
                        <a:t>of</a:t>
                      </a:r>
                      <a:r>
                        <a:rPr lang="el-GR" sz="1300" b="1" dirty="0">
                          <a:solidFill>
                            <a:schemeClr val="bg1"/>
                          </a:solidFill>
                          <a:latin typeface="Cambria"/>
                          <a:ea typeface="Calibri"/>
                          <a:cs typeface="Times New Roman"/>
                        </a:rPr>
                        <a:t> </a:t>
                      </a:r>
                      <a:r>
                        <a:rPr lang="en-US" sz="1300" b="1" dirty="0">
                          <a:solidFill>
                            <a:schemeClr val="bg1"/>
                          </a:solidFill>
                          <a:latin typeface="Cambria"/>
                          <a:ea typeface="Calibri"/>
                          <a:cs typeface="Times New Roman"/>
                        </a:rPr>
                        <a:t>estimates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err="1">
                          <a:solidFill>
                            <a:schemeClr val="bg1"/>
                          </a:solidFill>
                          <a:latin typeface="Cambria"/>
                          <a:ea typeface="Calibri"/>
                          <a:cs typeface="Times New Roman"/>
                        </a:rPr>
                        <a:t>Minimum</a:t>
                      </a:r>
                      <a:r>
                        <a:rPr lang="el-GR" sz="1300" b="1" dirty="0">
                          <a:solidFill>
                            <a:schemeClr val="bg1"/>
                          </a:solidFill>
                          <a:latin typeface="Cambria"/>
                          <a:ea typeface="Calibri"/>
                          <a:cs typeface="Times New Roman"/>
                        </a:rPr>
                        <a:t>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err="1">
                          <a:solidFill>
                            <a:schemeClr val="bg1"/>
                          </a:solidFill>
                          <a:latin typeface="Cambria"/>
                          <a:ea typeface="Calibri"/>
                          <a:cs typeface="Times New Roman"/>
                        </a:rPr>
                        <a:t>Maximum</a:t>
                      </a:r>
                      <a:r>
                        <a:rPr lang="el-GR" sz="1300" b="1" dirty="0">
                          <a:solidFill>
                            <a:schemeClr val="bg1"/>
                          </a:solidFill>
                          <a:latin typeface="Cambria"/>
                          <a:ea typeface="Calibri"/>
                          <a:cs typeface="Times New Roman"/>
                        </a:rPr>
                        <a:t>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err="1">
                          <a:solidFill>
                            <a:schemeClr val="bg1"/>
                          </a:solidFill>
                          <a:latin typeface="Cambria"/>
                          <a:ea typeface="Calibri"/>
                          <a:cs typeface="Times New Roman"/>
                        </a:rPr>
                        <a:t>Median</a:t>
                      </a:r>
                      <a:r>
                        <a:rPr lang="el-GR" sz="1300" b="1" dirty="0">
                          <a:solidFill>
                            <a:schemeClr val="bg1"/>
                          </a:solidFill>
                          <a:latin typeface="Cambria"/>
                          <a:ea typeface="Calibri"/>
                          <a:cs typeface="Times New Roman"/>
                        </a:rPr>
                        <a:t>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a:solidFill>
                            <a:schemeClr val="bg1"/>
                          </a:solidFill>
                          <a:latin typeface="Cambria"/>
                          <a:ea typeface="Calibri"/>
                          <a:cs typeface="Times New Roman"/>
                        </a:rPr>
                        <a:t>Standard </a:t>
                      </a:r>
                      <a:r>
                        <a:rPr lang="en-US" sz="1300" b="1" dirty="0">
                          <a:solidFill>
                            <a:schemeClr val="bg1"/>
                          </a:solidFill>
                          <a:latin typeface="Cambria"/>
                          <a:ea typeface="Calibri"/>
                          <a:cs typeface="Times New Roman"/>
                        </a:rPr>
                        <a:t>deviation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err="1">
                          <a:solidFill>
                            <a:schemeClr val="bg1"/>
                          </a:solidFill>
                          <a:latin typeface="Cambria"/>
                          <a:ea typeface="Calibri"/>
                          <a:cs typeface="Times New Roman"/>
                        </a:rPr>
                        <a:t>Mean</a:t>
                      </a:r>
                      <a:r>
                        <a:rPr lang="el-GR" sz="1300" b="1" dirty="0">
                          <a:solidFill>
                            <a:schemeClr val="bg1"/>
                          </a:solidFill>
                          <a:latin typeface="Cambria"/>
                          <a:ea typeface="Calibri"/>
                          <a:cs typeface="Times New Roman"/>
                        </a:rPr>
                        <a:t>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r>
              <a:tr h="483498">
                <a:tc>
                  <a:txBody>
                    <a:bodyPr/>
                    <a:lstStyle/>
                    <a:p>
                      <a:pPr>
                        <a:lnSpc>
                          <a:spcPct val="115000"/>
                        </a:lnSpc>
                        <a:spcAft>
                          <a:spcPts val="1000"/>
                        </a:spcAft>
                      </a:pPr>
                      <a:r>
                        <a:rPr lang="en-US" sz="1300">
                          <a:solidFill>
                            <a:schemeClr val="bg1"/>
                          </a:solidFill>
                          <a:latin typeface="Cambria"/>
                          <a:ea typeface="Calibri"/>
                          <a:cs typeface="Times New Roman"/>
                        </a:rPr>
                        <a:t>1</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Bhargava-Jamison-Lau-Murray 2001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4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.1127893</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.2053412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.1552227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.0385714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.157144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483498">
                <a:tc>
                  <a:txBody>
                    <a:bodyPr/>
                    <a:lstStyle/>
                    <a:p>
                      <a:pPr>
                        <a:lnSpc>
                          <a:spcPct val="115000"/>
                        </a:lnSpc>
                        <a:spcAft>
                          <a:spcPts val="1000"/>
                        </a:spcAft>
                      </a:pPr>
                      <a:r>
                        <a:rPr lang="en-US" sz="1300">
                          <a:solidFill>
                            <a:schemeClr val="bg1"/>
                          </a:solidFill>
                          <a:latin typeface="Cambria"/>
                          <a:ea typeface="Calibri"/>
                          <a:cs typeface="Times New Roman"/>
                        </a:rPr>
                        <a:t>2</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Lorentzen-McMillan-Wacziarg 2008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47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.0390137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.537778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.2988422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.098081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.2962789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3</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Bloom-Canning-Sevilla 2004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.0910718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.1764016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.1337367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.0603373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.1337367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4</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dirty="0">
                          <a:solidFill>
                            <a:schemeClr val="bg1"/>
                          </a:solidFill>
                          <a:latin typeface="Cambria"/>
                          <a:ea typeface="Calibri"/>
                          <a:cs typeface="Times New Roman"/>
                        </a:rPr>
                        <a:t>Hassan-</a:t>
                      </a:r>
                      <a:r>
                        <a:rPr lang="en-US" sz="1300" b="1" dirty="0" err="1">
                          <a:solidFill>
                            <a:schemeClr val="bg1"/>
                          </a:solidFill>
                          <a:latin typeface="Cambria"/>
                          <a:ea typeface="Calibri"/>
                          <a:cs typeface="Times New Roman"/>
                        </a:rPr>
                        <a:t>Cooray</a:t>
                      </a:r>
                      <a:r>
                        <a:rPr lang="en-US" sz="1300" b="1" dirty="0">
                          <a:solidFill>
                            <a:schemeClr val="bg1"/>
                          </a:solidFill>
                          <a:latin typeface="Cambria"/>
                          <a:ea typeface="Calibri"/>
                          <a:cs typeface="Times New Roman"/>
                        </a:rPr>
                        <a:t> 2012</a:t>
                      </a:r>
                      <a:endParaRPr lang="el-GR" sz="1300" dirty="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26</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a:ea typeface="Calibri"/>
                          <a:cs typeface="Times New Roman"/>
                        </a:rPr>
                        <a:t>-0.24428191</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a:ea typeface="Calibri"/>
                          <a:cs typeface="Times New Roman"/>
                        </a:rPr>
                        <a:t>0.237283926</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a:ea typeface="Calibri"/>
                          <a:cs typeface="Times New Roman"/>
                        </a:rPr>
                        <a:t>0.041048978</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a:ea typeface="Calibri"/>
                          <a:cs typeface="Times New Roman"/>
                        </a:rPr>
                        <a:t>0.106580826</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a:ea typeface="Calibri"/>
                          <a:cs typeface="Times New Roman"/>
                        </a:rPr>
                        <a:t>0.027527711</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5</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Dauda 2011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25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a:ea typeface="Calibri"/>
                          <a:cs typeface="Times New Roman"/>
                        </a:rPr>
                        <a:t>-</a:t>
                      </a: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.7880076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.6300946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a:ea typeface="Calibri"/>
                          <a:cs typeface="Times New Roman"/>
                        </a:rPr>
                        <a:t>-</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.1936881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.3649692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.108819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6</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Chakraborty 2004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.404049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 .6378231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4767651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.1088734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.4988506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7</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Bloom-Malaney 1998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.0507718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.2687883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.15978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.154161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.15978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85310">
                <a:tc>
                  <a:txBody>
                    <a:bodyPr/>
                    <a:lstStyle/>
                    <a:p>
                      <a:pPr>
                        <a:lnSpc>
                          <a:spcPct val="115000"/>
                        </a:lnSpc>
                        <a:spcAft>
                          <a:spcPts val="1000"/>
                        </a:spcAft>
                      </a:pPr>
                      <a:r>
                        <a:rPr lang="en-US" sz="1300">
                          <a:solidFill>
                            <a:schemeClr val="bg1"/>
                          </a:solidFill>
                          <a:latin typeface="Cambria"/>
                          <a:ea typeface="Calibri"/>
                          <a:cs typeface="Times New Roman"/>
                        </a:rPr>
                        <a:t>8</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Ogunleye-Eris 2008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a:ea typeface="Calibri"/>
                          <a:cs typeface="Times New Roman"/>
                        </a:rPr>
                        <a:t>-</a:t>
                      </a: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.0677641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.444764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.0079311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.2386655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.1354641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60119">
                <a:tc>
                  <a:txBody>
                    <a:bodyPr/>
                    <a:lstStyle/>
                    <a:p>
                      <a:pPr>
                        <a:lnSpc>
                          <a:spcPct val="115000"/>
                        </a:lnSpc>
                        <a:spcAft>
                          <a:spcPts val="1000"/>
                        </a:spcAft>
                      </a:pPr>
                      <a:r>
                        <a:rPr lang="en-US" sz="1300">
                          <a:solidFill>
                            <a:schemeClr val="bg1"/>
                          </a:solidFill>
                          <a:latin typeface="Cambria"/>
                          <a:ea typeface="Calibri"/>
                          <a:cs typeface="Times New Roman"/>
                        </a:rPr>
                        <a:t>9</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Bloom-Finlay 2008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.1316099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.1756688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.154432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.0201957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.1540357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69131">
                <a:tc>
                  <a:txBody>
                    <a:bodyPr/>
                    <a:lstStyle/>
                    <a:p>
                      <a:pPr>
                        <a:lnSpc>
                          <a:spcPct val="115000"/>
                        </a:lnSpc>
                        <a:spcAft>
                          <a:spcPts val="1000"/>
                        </a:spcAft>
                      </a:pPr>
                      <a:r>
                        <a:rPr lang="en-US" sz="1300">
                          <a:solidFill>
                            <a:schemeClr val="bg1"/>
                          </a:solidFill>
                          <a:latin typeface="Cambria"/>
                          <a:ea typeface="Calibri"/>
                          <a:cs typeface="Times New Roman"/>
                        </a:rPr>
                        <a:t>10</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Hamoudi-Sachs 1999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.0139687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.3960025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.2311337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.1354138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.1832942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37355">
                <a:tc>
                  <a:txBody>
                    <a:bodyPr/>
                    <a:lstStyle/>
                    <a:p>
                      <a:pPr>
                        <a:lnSpc>
                          <a:spcPct val="115000"/>
                        </a:lnSpc>
                        <a:spcAft>
                          <a:spcPts val="1000"/>
                        </a:spcAft>
                      </a:pPr>
                      <a:r>
                        <a:rPr lang="en-US" sz="1300">
                          <a:solidFill>
                            <a:schemeClr val="bg1"/>
                          </a:solidFill>
                          <a:latin typeface="Cambria"/>
                          <a:ea typeface="Calibri"/>
                          <a:cs typeface="Times New Roman"/>
                        </a:rPr>
                        <a:t>11</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Bloom-Canning 2005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.1293416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.2141601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.1653771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.0348591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.168564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12</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Ogunleye 2011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.0375591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.047183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.0048119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.0599217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.0048119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13</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Aguayo-Rico 2005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16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a:ea typeface="Calibri"/>
                          <a:cs typeface="Times New Roman"/>
                        </a:rPr>
                        <a:t>-</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.8652772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.0368825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a:ea typeface="Calibri"/>
                          <a:cs typeface="Times New Roman"/>
                        </a:rPr>
                        <a:t>-</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.3162207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.2976298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.3671903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14</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Hartwig 2010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90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.36057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.3111134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.2378656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.1429659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.1830541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38502">
                <a:tc>
                  <a:txBody>
                    <a:bodyPr/>
                    <a:lstStyle/>
                    <a:p>
                      <a:pPr>
                        <a:lnSpc>
                          <a:spcPct val="115000"/>
                        </a:lnSpc>
                        <a:spcAft>
                          <a:spcPts val="1000"/>
                        </a:spcAft>
                      </a:pPr>
                      <a:r>
                        <a:rPr lang="en-US" sz="1300">
                          <a:solidFill>
                            <a:schemeClr val="bg1"/>
                          </a:solidFill>
                          <a:latin typeface="Cambria"/>
                          <a:ea typeface="Calibri"/>
                          <a:cs typeface="Times New Roman"/>
                        </a:rPr>
                        <a:t>15</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Aghion Howitt Murtin 2011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46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a:ea typeface="Calibri"/>
                          <a:cs typeface="Times New Roman"/>
                        </a:rPr>
                        <a:t>-</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.4349467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.6765192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.2705822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.3338576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.2495588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16</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Barro 2013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.1921057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.1958518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.1939787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.0026489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.1939787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17</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Barro 1996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7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.1638054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.1952904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.1909404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.1327709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.1296216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18</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Akram 2009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.2429159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.9999934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.9999613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.3090633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.8737888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19</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Acemoglu-Johnson 2007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.0944395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.5200244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.0368381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.2350488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.1368345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20</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Bloom-Canning-Fink 2013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12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.489435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.7236468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.0386692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.4037553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.1249301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40224">
                <a:tc>
                  <a:txBody>
                    <a:bodyPr/>
                    <a:lstStyle/>
                    <a:p>
                      <a:pPr>
                        <a:lnSpc>
                          <a:spcPct val="115000"/>
                        </a:lnSpc>
                        <a:spcAft>
                          <a:spcPts val="1000"/>
                        </a:spcAft>
                      </a:pPr>
                      <a:r>
                        <a:rPr lang="en-US" sz="1300">
                          <a:solidFill>
                            <a:schemeClr val="bg1"/>
                          </a:solidFill>
                          <a:latin typeface="Cambria"/>
                          <a:ea typeface="Calibri"/>
                          <a:cs typeface="Times New Roman"/>
                        </a:rPr>
                        <a:t>21</a:t>
                      </a:r>
                      <a:endParaRPr lang="el-GR" sz="1300">
                        <a:solidFill>
                          <a:schemeClr val="bg1"/>
                        </a:solidFill>
                        <a:latin typeface="Calibri"/>
                        <a:ea typeface="Calibri"/>
                        <a:cs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a:ea typeface="Calibri"/>
                          <a:cs typeface="Times New Roman"/>
                        </a:rPr>
                        <a:t>Grimm 2011 </a:t>
                      </a:r>
                      <a:endParaRPr lang="el-GR" sz="1300">
                        <a:solidFill>
                          <a:schemeClr val="bg1"/>
                        </a:solidFill>
                        <a:latin typeface="Calibri"/>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22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.6706818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.5253376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a:ea typeface="Calibri"/>
                          <a:cs typeface="Times New Roman"/>
                        </a:rPr>
                        <a:t> </a:t>
                      </a:r>
                      <a:r>
                        <a:rPr lang="en-US" sz="1300">
                          <a:solidFill>
                            <a:schemeClr val="bg1"/>
                          </a:solidFill>
                          <a:latin typeface="Cambria"/>
                          <a:ea typeface="Calibri"/>
                          <a:cs typeface="Times New Roman"/>
                        </a:rPr>
                        <a:t>0</a:t>
                      </a:r>
                      <a:r>
                        <a:rPr lang="el-GR" sz="1300">
                          <a:solidFill>
                            <a:schemeClr val="bg1"/>
                          </a:solidFill>
                          <a:latin typeface="Cambria"/>
                          <a:ea typeface="Calibri"/>
                          <a:cs typeface="Times New Roman"/>
                        </a:rPr>
                        <a:t>.1714329 </a:t>
                      </a:r>
                      <a:endParaRPr lang="el-GR" sz="130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.3360617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a:ea typeface="Calibri"/>
                          <a:cs typeface="Times New Roman"/>
                        </a:rPr>
                        <a:t>0</a:t>
                      </a:r>
                      <a:r>
                        <a:rPr lang="el-GR" sz="1300" dirty="0">
                          <a:solidFill>
                            <a:schemeClr val="bg1"/>
                          </a:solidFill>
                          <a:latin typeface="Cambria"/>
                          <a:ea typeface="Calibri"/>
                          <a:cs typeface="Times New Roman"/>
                        </a:rPr>
                        <a:t>.019544 </a:t>
                      </a:r>
                      <a:endParaRPr lang="el-GR" sz="1300" dirty="0">
                        <a:solidFill>
                          <a:schemeClr val="bg1"/>
                        </a:solidFill>
                        <a:latin typeface="Calibri"/>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 Πίνακας"/>
          <p:cNvGraphicFramePr>
            <a:graphicFrameLocks noGrp="1"/>
          </p:cNvGraphicFramePr>
          <p:nvPr/>
        </p:nvGraphicFramePr>
        <p:xfrm>
          <a:off x="0" y="0"/>
          <a:ext cx="9144001" cy="6858005"/>
        </p:xfrm>
        <a:graphic>
          <a:graphicData uri="http://schemas.openxmlformats.org/drawingml/2006/table">
            <a:tbl>
              <a:tblPr/>
              <a:tblGrid>
                <a:gridCol w="400789"/>
                <a:gridCol w="2371602"/>
                <a:gridCol w="1061935"/>
                <a:gridCol w="1061935"/>
                <a:gridCol w="1061935"/>
                <a:gridCol w="1061935"/>
                <a:gridCol w="1061935"/>
                <a:gridCol w="1061935"/>
              </a:tblGrid>
              <a:tr h="574315">
                <a:tc>
                  <a:txBody>
                    <a:bodyPr/>
                    <a:lstStyle/>
                    <a:p>
                      <a:pPr>
                        <a:lnSpc>
                          <a:spcPct val="115000"/>
                        </a:lnSpc>
                      </a:pPr>
                      <a:endParaRPr lang="el-GR" sz="1300" dirty="0">
                        <a:solidFill>
                          <a:schemeClr val="bg1"/>
                        </a:solidFill>
                        <a:latin typeface="Cambria" pitchFamily="18" charset="0"/>
                        <a:ea typeface="Times New Roman"/>
                      </a:endParaRPr>
                    </a:p>
                  </a:txBody>
                  <a:tcPr marL="31779" marR="31779" marT="5479"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dirty="0">
                          <a:solidFill>
                            <a:schemeClr val="bg1"/>
                          </a:solidFill>
                          <a:latin typeface="Cambria" pitchFamily="18" charset="0"/>
                          <a:ea typeface="Calibri"/>
                          <a:cs typeface="Times New Roman"/>
                        </a:rPr>
                        <a:t>  </a:t>
                      </a:r>
                      <a:endParaRPr lang="el-GR" sz="1300" dirty="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err="1">
                          <a:solidFill>
                            <a:schemeClr val="bg1"/>
                          </a:solidFill>
                          <a:latin typeface="Cambria" pitchFamily="18" charset="0"/>
                          <a:ea typeface="Calibri"/>
                          <a:cs typeface="Times New Roman"/>
                        </a:rPr>
                        <a:t>Number</a:t>
                      </a:r>
                      <a:r>
                        <a:rPr lang="el-GR" sz="1300" b="1" dirty="0">
                          <a:solidFill>
                            <a:schemeClr val="bg1"/>
                          </a:solidFill>
                          <a:latin typeface="Cambria" pitchFamily="18" charset="0"/>
                          <a:ea typeface="Calibri"/>
                          <a:cs typeface="Times New Roman"/>
                        </a:rPr>
                        <a:t> </a:t>
                      </a:r>
                      <a:r>
                        <a:rPr lang="el-GR" sz="1300" b="1" dirty="0" err="1">
                          <a:solidFill>
                            <a:schemeClr val="bg1"/>
                          </a:solidFill>
                          <a:latin typeface="Cambria" pitchFamily="18" charset="0"/>
                          <a:ea typeface="Calibri"/>
                          <a:cs typeface="Times New Roman"/>
                        </a:rPr>
                        <a:t>of</a:t>
                      </a:r>
                      <a:r>
                        <a:rPr lang="el-GR" sz="1300" b="1" dirty="0">
                          <a:solidFill>
                            <a:schemeClr val="bg1"/>
                          </a:solidFill>
                          <a:latin typeface="Cambria" pitchFamily="18" charset="0"/>
                          <a:ea typeface="Calibri"/>
                          <a:cs typeface="Times New Roman"/>
                        </a:rPr>
                        <a:t> </a:t>
                      </a:r>
                      <a:r>
                        <a:rPr lang="en-US" sz="1300" b="1" dirty="0">
                          <a:solidFill>
                            <a:schemeClr val="bg1"/>
                          </a:solidFill>
                          <a:latin typeface="Cambria" pitchFamily="18" charset="0"/>
                          <a:ea typeface="Calibri"/>
                          <a:cs typeface="Times New Roman"/>
                        </a:rPr>
                        <a:t>estimates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err="1">
                          <a:solidFill>
                            <a:schemeClr val="bg1"/>
                          </a:solidFill>
                          <a:latin typeface="Cambria" pitchFamily="18" charset="0"/>
                          <a:ea typeface="Calibri"/>
                          <a:cs typeface="Times New Roman"/>
                        </a:rPr>
                        <a:t>Minimum</a:t>
                      </a:r>
                      <a:r>
                        <a:rPr lang="el-GR" sz="1300" b="1" dirty="0">
                          <a:solidFill>
                            <a:schemeClr val="bg1"/>
                          </a:solidFill>
                          <a:latin typeface="Cambria" pitchFamily="18" charset="0"/>
                          <a:ea typeface="Calibri"/>
                          <a:cs typeface="Times New Roman"/>
                        </a:rPr>
                        <a:t>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err="1">
                          <a:solidFill>
                            <a:schemeClr val="bg1"/>
                          </a:solidFill>
                          <a:latin typeface="Cambria" pitchFamily="18" charset="0"/>
                          <a:ea typeface="Calibri"/>
                          <a:cs typeface="Times New Roman"/>
                        </a:rPr>
                        <a:t>Maximum</a:t>
                      </a:r>
                      <a:r>
                        <a:rPr lang="el-GR" sz="1300" b="1" dirty="0">
                          <a:solidFill>
                            <a:schemeClr val="bg1"/>
                          </a:solidFill>
                          <a:latin typeface="Cambria" pitchFamily="18" charset="0"/>
                          <a:ea typeface="Calibri"/>
                          <a:cs typeface="Times New Roman"/>
                        </a:rPr>
                        <a:t>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err="1">
                          <a:solidFill>
                            <a:schemeClr val="bg1"/>
                          </a:solidFill>
                          <a:latin typeface="Cambria" pitchFamily="18" charset="0"/>
                          <a:ea typeface="Calibri"/>
                          <a:cs typeface="Times New Roman"/>
                        </a:rPr>
                        <a:t>Median</a:t>
                      </a:r>
                      <a:r>
                        <a:rPr lang="el-GR" sz="1300" b="1" dirty="0">
                          <a:solidFill>
                            <a:schemeClr val="bg1"/>
                          </a:solidFill>
                          <a:latin typeface="Cambria" pitchFamily="18" charset="0"/>
                          <a:ea typeface="Calibri"/>
                          <a:cs typeface="Times New Roman"/>
                        </a:rPr>
                        <a:t>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a:solidFill>
                            <a:schemeClr val="bg1"/>
                          </a:solidFill>
                          <a:latin typeface="Cambria" pitchFamily="18" charset="0"/>
                          <a:ea typeface="Calibri"/>
                          <a:cs typeface="Times New Roman"/>
                        </a:rPr>
                        <a:t>Standard </a:t>
                      </a:r>
                      <a:r>
                        <a:rPr lang="en-US" sz="1300" b="1" dirty="0">
                          <a:solidFill>
                            <a:schemeClr val="bg1"/>
                          </a:solidFill>
                          <a:latin typeface="Cambria" pitchFamily="18" charset="0"/>
                          <a:ea typeface="Calibri"/>
                          <a:cs typeface="Times New Roman"/>
                        </a:rPr>
                        <a:t>deviation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c>
                  <a:txBody>
                    <a:bodyPr/>
                    <a:lstStyle/>
                    <a:p>
                      <a:pPr algn="ctr">
                        <a:lnSpc>
                          <a:spcPct val="115000"/>
                        </a:lnSpc>
                        <a:spcAft>
                          <a:spcPts val="1000"/>
                        </a:spcAft>
                      </a:pPr>
                      <a:r>
                        <a:rPr lang="el-GR" sz="1300" b="1" dirty="0" err="1">
                          <a:solidFill>
                            <a:schemeClr val="bg1"/>
                          </a:solidFill>
                          <a:latin typeface="Cambria" pitchFamily="18" charset="0"/>
                          <a:ea typeface="Calibri"/>
                          <a:cs typeface="Times New Roman"/>
                        </a:rPr>
                        <a:t>Mean</a:t>
                      </a:r>
                      <a:r>
                        <a:rPr lang="el-GR" sz="1300" b="1" dirty="0">
                          <a:solidFill>
                            <a:schemeClr val="bg1"/>
                          </a:solidFill>
                          <a:latin typeface="Cambria" pitchFamily="18" charset="0"/>
                          <a:ea typeface="Calibri"/>
                          <a:cs typeface="Times New Roman"/>
                        </a:rPr>
                        <a:t>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CEB966"/>
                    </a:solidFill>
                  </a:tcPr>
                </a:tc>
              </a:tr>
              <a:tr h="338844">
                <a:tc>
                  <a:txBody>
                    <a:bodyPr/>
                    <a:lstStyle/>
                    <a:p>
                      <a:pPr>
                        <a:lnSpc>
                          <a:spcPct val="115000"/>
                        </a:lnSpc>
                        <a:spcAft>
                          <a:spcPts val="1000"/>
                        </a:spcAft>
                      </a:pPr>
                      <a:r>
                        <a:rPr lang="en-US" sz="1300">
                          <a:solidFill>
                            <a:schemeClr val="bg1"/>
                          </a:solidFill>
                          <a:latin typeface="Cambria" pitchFamily="18" charset="0"/>
                          <a:ea typeface="Calibri"/>
                          <a:cs typeface="Times New Roman"/>
                        </a:rPr>
                        <a:t>22</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dirty="0" err="1">
                          <a:solidFill>
                            <a:schemeClr val="bg1"/>
                          </a:solidFill>
                          <a:latin typeface="Cambria" pitchFamily="18" charset="0"/>
                          <a:ea typeface="Calibri"/>
                          <a:cs typeface="Times New Roman"/>
                        </a:rPr>
                        <a:t>Acemoglu</a:t>
                      </a:r>
                      <a:r>
                        <a:rPr lang="en-US" sz="1300" b="1" dirty="0">
                          <a:solidFill>
                            <a:schemeClr val="bg1"/>
                          </a:solidFill>
                          <a:latin typeface="Cambria" pitchFamily="18" charset="0"/>
                          <a:ea typeface="Calibri"/>
                          <a:cs typeface="Times New Roman"/>
                        </a:rPr>
                        <a:t>-Johnson 2014 </a:t>
                      </a:r>
                      <a:endParaRPr lang="el-GR" sz="1300" dirty="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16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.3866729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.1136748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 -</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.2973236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.094554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 -</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.2742631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37907">
                <a:tc>
                  <a:txBody>
                    <a:bodyPr/>
                    <a:lstStyle/>
                    <a:p>
                      <a:pPr>
                        <a:lnSpc>
                          <a:spcPct val="115000"/>
                        </a:lnSpc>
                        <a:spcAft>
                          <a:spcPts val="1000"/>
                        </a:spcAft>
                      </a:pPr>
                      <a:r>
                        <a:rPr lang="en-US" sz="1300">
                          <a:solidFill>
                            <a:schemeClr val="bg1"/>
                          </a:solidFill>
                          <a:latin typeface="Cambria" pitchFamily="18" charset="0"/>
                          <a:ea typeface="Calibri"/>
                          <a:cs typeface="Times New Roman"/>
                        </a:rPr>
                        <a:t>23</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dirty="0" err="1">
                          <a:solidFill>
                            <a:schemeClr val="bg1"/>
                          </a:solidFill>
                          <a:latin typeface="Cambria" pitchFamily="18" charset="0"/>
                          <a:ea typeface="Calibri"/>
                          <a:cs typeface="Times New Roman"/>
                        </a:rPr>
                        <a:t>Coorey</a:t>
                      </a:r>
                      <a:r>
                        <a:rPr lang="en-US" sz="1300" b="1" dirty="0">
                          <a:solidFill>
                            <a:schemeClr val="bg1"/>
                          </a:solidFill>
                          <a:latin typeface="Cambria" pitchFamily="18" charset="0"/>
                          <a:ea typeface="Calibri"/>
                          <a:cs typeface="Times New Roman"/>
                        </a:rPr>
                        <a:t> 2013 </a:t>
                      </a:r>
                      <a:endParaRPr lang="el-GR" sz="1300" dirty="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26 </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0</a:t>
                      </a:r>
                      <a:r>
                        <a:rPr lang="el-GR" sz="1300" dirty="0">
                          <a:solidFill>
                            <a:schemeClr val="bg1"/>
                          </a:solidFill>
                          <a:latin typeface="Cambria" pitchFamily="18" charset="0"/>
                          <a:ea typeface="Calibri"/>
                          <a:cs typeface="Times New Roman"/>
                        </a:rPr>
                        <a:t>.0075936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.5271178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.1020374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.1435864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 </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.1409324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24</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dirty="0" err="1">
                          <a:solidFill>
                            <a:schemeClr val="bg1"/>
                          </a:solidFill>
                          <a:latin typeface="Cambria" pitchFamily="18" charset="0"/>
                          <a:ea typeface="Calibri"/>
                          <a:cs typeface="Times New Roman"/>
                        </a:rPr>
                        <a:t>Pocas-Soukiazis</a:t>
                      </a:r>
                      <a:r>
                        <a:rPr lang="en-US" sz="1300" b="1" dirty="0">
                          <a:solidFill>
                            <a:schemeClr val="bg1"/>
                          </a:solidFill>
                          <a:latin typeface="Cambria" pitchFamily="18" charset="0"/>
                          <a:ea typeface="Calibri"/>
                          <a:cs typeface="Times New Roman"/>
                        </a:rPr>
                        <a:t> 2013 </a:t>
                      </a:r>
                      <a:endParaRPr lang="el-GR" sz="1300" dirty="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20 </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a:t>
                      </a:r>
                      <a:r>
                        <a:rPr lang="en-US" sz="1300" dirty="0">
                          <a:solidFill>
                            <a:schemeClr val="bg1"/>
                          </a:solidFill>
                          <a:latin typeface="Cambria" pitchFamily="18" charset="0"/>
                          <a:ea typeface="Calibri"/>
                          <a:cs typeface="Times New Roman"/>
                        </a:rPr>
                        <a:t>0</a:t>
                      </a:r>
                      <a:r>
                        <a:rPr lang="el-GR" sz="1300" dirty="0">
                          <a:solidFill>
                            <a:schemeClr val="bg1"/>
                          </a:solidFill>
                          <a:latin typeface="Cambria" pitchFamily="18" charset="0"/>
                          <a:ea typeface="Calibri"/>
                          <a:cs typeface="Times New Roman"/>
                        </a:rPr>
                        <a:t>.4323282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 -</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.0274014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.2603462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.1081623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.2572113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25</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dirty="0" err="1">
                          <a:solidFill>
                            <a:schemeClr val="bg1"/>
                          </a:solidFill>
                          <a:latin typeface="Cambria" pitchFamily="18" charset="0"/>
                          <a:ea typeface="Calibri"/>
                          <a:cs typeface="Times New Roman"/>
                        </a:rPr>
                        <a:t>Morgado</a:t>
                      </a:r>
                      <a:r>
                        <a:rPr lang="en-US" sz="1300" b="1" dirty="0">
                          <a:solidFill>
                            <a:schemeClr val="bg1"/>
                          </a:solidFill>
                          <a:latin typeface="Cambria" pitchFamily="18" charset="0"/>
                          <a:ea typeface="Calibri"/>
                          <a:cs typeface="Times New Roman"/>
                        </a:rPr>
                        <a:t> 2014 </a:t>
                      </a:r>
                      <a:endParaRPr lang="el-GR" sz="1300" dirty="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4 </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0</a:t>
                      </a:r>
                      <a:r>
                        <a:rPr lang="el-GR" sz="1300" dirty="0">
                          <a:solidFill>
                            <a:schemeClr val="bg1"/>
                          </a:solidFill>
                          <a:latin typeface="Cambria" pitchFamily="18" charset="0"/>
                          <a:ea typeface="Calibri"/>
                          <a:cs typeface="Times New Roman"/>
                        </a:rPr>
                        <a:t>.3277324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.2771657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.0146922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.2912972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.0199878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26</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dirty="0">
                          <a:solidFill>
                            <a:schemeClr val="bg1"/>
                          </a:solidFill>
                          <a:latin typeface="Cambria" pitchFamily="18" charset="0"/>
                          <a:ea typeface="Calibri"/>
                          <a:cs typeface="Times New Roman"/>
                        </a:rPr>
                        <a:t>Naidu-</a:t>
                      </a:r>
                      <a:r>
                        <a:rPr lang="en-US" sz="1300" b="1" dirty="0" err="1">
                          <a:solidFill>
                            <a:schemeClr val="bg1"/>
                          </a:solidFill>
                          <a:latin typeface="Cambria" pitchFamily="18" charset="0"/>
                          <a:ea typeface="Calibri"/>
                          <a:cs typeface="Times New Roman"/>
                        </a:rPr>
                        <a:t>Chand</a:t>
                      </a:r>
                      <a:r>
                        <a:rPr lang="en-US" sz="1300" b="1" dirty="0">
                          <a:solidFill>
                            <a:schemeClr val="bg1"/>
                          </a:solidFill>
                          <a:latin typeface="Cambria" pitchFamily="18" charset="0"/>
                          <a:ea typeface="Calibri"/>
                          <a:cs typeface="Times New Roman"/>
                        </a:rPr>
                        <a:t> 2013 </a:t>
                      </a:r>
                      <a:endParaRPr lang="el-GR" sz="1300" dirty="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2 </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 0</a:t>
                      </a:r>
                      <a:r>
                        <a:rPr lang="el-GR" sz="1300" dirty="0">
                          <a:solidFill>
                            <a:schemeClr val="bg1"/>
                          </a:solidFill>
                          <a:latin typeface="Cambria" pitchFamily="18" charset="0"/>
                          <a:ea typeface="Calibri"/>
                          <a:cs typeface="Times New Roman"/>
                        </a:rPr>
                        <a:t>.0109603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.1388662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.0749133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 </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.0904431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 </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.0749133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27</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Strittmatter- Sunde 2013 </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88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a:t>
                      </a:r>
                      <a:r>
                        <a:rPr lang="en-US" sz="1300" dirty="0">
                          <a:solidFill>
                            <a:schemeClr val="bg1"/>
                          </a:solidFill>
                          <a:latin typeface="Cambria" pitchFamily="18" charset="0"/>
                          <a:ea typeface="Calibri"/>
                          <a:cs typeface="Times New Roman"/>
                        </a:rPr>
                        <a:t>0</a:t>
                      </a:r>
                      <a:r>
                        <a:rPr lang="el-GR" sz="1300" dirty="0">
                          <a:solidFill>
                            <a:schemeClr val="bg1"/>
                          </a:solidFill>
                          <a:latin typeface="Cambria" pitchFamily="18" charset="0"/>
                          <a:ea typeface="Calibri"/>
                          <a:cs typeface="Times New Roman"/>
                        </a:rPr>
                        <a:t>.5273883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.1363126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.2149934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.1563704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.2129748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28</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McCarthy-Wolf-Wu 2000 </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12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.311311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a:t>
                      </a:r>
                      <a:r>
                        <a:rPr lang="en-US" sz="1300" dirty="0">
                          <a:solidFill>
                            <a:schemeClr val="bg1"/>
                          </a:solidFill>
                          <a:latin typeface="Cambria" pitchFamily="18" charset="0"/>
                          <a:ea typeface="Calibri"/>
                          <a:cs typeface="Times New Roman"/>
                        </a:rPr>
                        <a:t>0</a:t>
                      </a:r>
                      <a:r>
                        <a:rPr lang="el-GR" sz="1300" dirty="0">
                          <a:solidFill>
                            <a:schemeClr val="bg1"/>
                          </a:solidFill>
                          <a:latin typeface="Cambria" pitchFamily="18" charset="0"/>
                          <a:ea typeface="Calibri"/>
                          <a:cs typeface="Times New Roman"/>
                        </a:rPr>
                        <a:t>.1195245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.1776583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.0627895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.2056611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338901">
                <a:tc>
                  <a:txBody>
                    <a:bodyPr/>
                    <a:lstStyle/>
                    <a:p>
                      <a:pPr>
                        <a:lnSpc>
                          <a:spcPct val="115000"/>
                        </a:lnSpc>
                        <a:spcAft>
                          <a:spcPts val="1000"/>
                        </a:spcAft>
                      </a:pPr>
                      <a:r>
                        <a:rPr lang="en-US" sz="1300">
                          <a:solidFill>
                            <a:schemeClr val="bg1"/>
                          </a:solidFill>
                          <a:latin typeface="Cambria" pitchFamily="18" charset="0"/>
                          <a:ea typeface="Calibri"/>
                          <a:cs typeface="Times New Roman"/>
                        </a:rPr>
                        <a:t>29</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Nketiah-Amponsah 2009 </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1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 0</a:t>
                      </a:r>
                      <a:r>
                        <a:rPr lang="el-GR" sz="1300">
                          <a:solidFill>
                            <a:schemeClr val="bg1"/>
                          </a:solidFill>
                          <a:latin typeface="Cambria" pitchFamily="18" charset="0"/>
                          <a:ea typeface="Calibri"/>
                          <a:cs typeface="Times New Roman"/>
                        </a:rPr>
                        <a:t>.369881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 </a:t>
                      </a:r>
                      <a:r>
                        <a:rPr lang="en-US" sz="1300" dirty="0">
                          <a:solidFill>
                            <a:schemeClr val="bg1"/>
                          </a:solidFill>
                          <a:latin typeface="Cambria" pitchFamily="18" charset="0"/>
                          <a:ea typeface="Calibri"/>
                          <a:cs typeface="Times New Roman"/>
                        </a:rPr>
                        <a:t>0</a:t>
                      </a:r>
                      <a:r>
                        <a:rPr lang="el-GR" sz="1300" dirty="0">
                          <a:solidFill>
                            <a:schemeClr val="bg1"/>
                          </a:solidFill>
                          <a:latin typeface="Cambria" pitchFamily="18" charset="0"/>
                          <a:ea typeface="Calibri"/>
                          <a:cs typeface="Times New Roman"/>
                        </a:rPr>
                        <a:t>.369881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 </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.369881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  </a:t>
                      </a:r>
                      <a:r>
                        <a:rPr lang="en-US" sz="1300" dirty="0" smtClean="0">
                          <a:solidFill>
                            <a:schemeClr val="bg1"/>
                          </a:solidFill>
                          <a:latin typeface="Cambria" pitchFamily="18" charset="0"/>
                          <a:ea typeface="Calibri"/>
                          <a:cs typeface="Times New Roman"/>
                        </a:rPr>
                        <a:t>-</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 </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.369881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308978">
                <a:tc>
                  <a:txBody>
                    <a:bodyPr/>
                    <a:lstStyle/>
                    <a:p>
                      <a:pPr>
                        <a:lnSpc>
                          <a:spcPct val="115000"/>
                        </a:lnSpc>
                        <a:spcAft>
                          <a:spcPts val="1000"/>
                        </a:spcAft>
                      </a:pPr>
                      <a:r>
                        <a:rPr lang="en-US" sz="1300">
                          <a:solidFill>
                            <a:schemeClr val="bg1"/>
                          </a:solidFill>
                          <a:latin typeface="Cambria" pitchFamily="18" charset="0"/>
                          <a:ea typeface="Calibri"/>
                          <a:cs typeface="Times New Roman"/>
                        </a:rPr>
                        <a:t>30</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Rivera-Currais 2004 </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9 </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a:t>
                      </a: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.1359857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0</a:t>
                      </a:r>
                      <a:r>
                        <a:rPr lang="el-GR" sz="1300" dirty="0">
                          <a:solidFill>
                            <a:schemeClr val="bg1"/>
                          </a:solidFill>
                          <a:latin typeface="Cambria" pitchFamily="18" charset="0"/>
                          <a:ea typeface="Calibri"/>
                          <a:cs typeface="Times New Roman"/>
                        </a:rPr>
                        <a:t>.347066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.2454038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.154853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.1779704 </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319683">
                <a:tc>
                  <a:txBody>
                    <a:bodyPr/>
                    <a:lstStyle/>
                    <a:p>
                      <a:pPr>
                        <a:lnSpc>
                          <a:spcPct val="115000"/>
                        </a:lnSpc>
                        <a:spcAft>
                          <a:spcPts val="1000"/>
                        </a:spcAft>
                      </a:pPr>
                      <a:r>
                        <a:rPr lang="en-US" sz="1300">
                          <a:solidFill>
                            <a:schemeClr val="bg1"/>
                          </a:solidFill>
                          <a:latin typeface="Cambria" pitchFamily="18" charset="0"/>
                          <a:ea typeface="Calibri"/>
                          <a:cs typeface="Times New Roman"/>
                        </a:rPr>
                        <a:t>31</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Kumar-Mitra 2009</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2</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-0.316501035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0.225946776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-0.04527713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0.383568525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-0.04527713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461218">
                <a:tc>
                  <a:txBody>
                    <a:bodyPr/>
                    <a:lstStyle/>
                    <a:p>
                      <a:pPr>
                        <a:lnSpc>
                          <a:spcPct val="115000"/>
                        </a:lnSpc>
                        <a:spcAft>
                          <a:spcPts val="1000"/>
                        </a:spcAft>
                      </a:pPr>
                      <a:r>
                        <a:rPr lang="en-US" sz="1300">
                          <a:solidFill>
                            <a:schemeClr val="bg1"/>
                          </a:solidFill>
                          <a:latin typeface="Cambria" pitchFamily="18" charset="0"/>
                          <a:ea typeface="Calibri"/>
                          <a:cs typeface="Times New Roman"/>
                        </a:rPr>
                        <a:t>32</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Bloom-Canning-Fink-Finley 2009</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3</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0.192753279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0.466802317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0.326423076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0.137038207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a:t>
                      </a:r>
                      <a:r>
                        <a:rPr lang="el-GR" sz="1300">
                          <a:solidFill>
                            <a:schemeClr val="bg1"/>
                          </a:solidFill>
                          <a:latin typeface="Cambria" pitchFamily="18" charset="0"/>
                          <a:ea typeface="Calibri"/>
                          <a:cs typeface="Times New Roman"/>
                        </a:rPr>
                        <a:t>.328659557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33</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Magnus-Powell-Prufer 2010</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23</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0</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0.076290879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0.038263937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0.01663281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0.035733569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34</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Barro 1996</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4</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0.217822079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0.233188612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0.21915562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0.007267053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0.222330482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35</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dirty="0" err="1">
                          <a:solidFill>
                            <a:schemeClr val="bg1"/>
                          </a:solidFill>
                          <a:latin typeface="Cambria" pitchFamily="18" charset="0"/>
                          <a:ea typeface="Calibri"/>
                          <a:cs typeface="Times New Roman"/>
                        </a:rPr>
                        <a:t>Cervellati-Sunde</a:t>
                      </a:r>
                      <a:r>
                        <a:rPr lang="en-US" sz="1300" b="1" dirty="0">
                          <a:solidFill>
                            <a:schemeClr val="bg1"/>
                          </a:solidFill>
                          <a:latin typeface="Cambria" pitchFamily="18" charset="0"/>
                          <a:ea typeface="Calibri"/>
                          <a:cs typeface="Times New Roman"/>
                        </a:rPr>
                        <a:t> 2011</a:t>
                      </a:r>
                      <a:endParaRPr lang="el-GR" sz="1300" dirty="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18</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-0.099132404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0.046921478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-0.032648516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0.038253654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-0.035900685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83301">
                <a:tc>
                  <a:txBody>
                    <a:bodyPr/>
                    <a:lstStyle/>
                    <a:p>
                      <a:pPr>
                        <a:lnSpc>
                          <a:spcPct val="115000"/>
                        </a:lnSpc>
                        <a:spcAft>
                          <a:spcPts val="1000"/>
                        </a:spcAft>
                      </a:pPr>
                      <a:r>
                        <a:rPr lang="en-US" sz="1300">
                          <a:solidFill>
                            <a:schemeClr val="bg1"/>
                          </a:solidFill>
                          <a:latin typeface="Cambria" pitchFamily="18" charset="0"/>
                          <a:ea typeface="Calibri"/>
                          <a:cs typeface="Times New Roman"/>
                        </a:rPr>
                        <a:t>36</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Suhrske-Urban 2010</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34</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-0.27610975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0.257386953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-0.13102291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0.132438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-0.094009152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6D3"/>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37</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Hansen 2014</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24</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-0.369166979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0.166725802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0.009287362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0.161062829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-0.060852529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38</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Acemoglu-Johnson 2013</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26</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-0.208281082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0.089734833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-0.067542258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0.078132284</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-0.064155108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39</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Afonso-Jalles 2013</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8</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-0.123766926</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0.164756211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-0.073766192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0.104004459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-0.033609615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40</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Afonso-Allegre 2007</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2</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-0.337897177</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-0.243573802</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-0.290735489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0.066696698</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-0.290735489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41</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Miller-Russek 1997</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6</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-0.248311345</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-0.010049871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a:solidFill>
                            <a:schemeClr val="bg1"/>
                          </a:solidFill>
                          <a:latin typeface="Cambria" pitchFamily="18" charset="0"/>
                          <a:ea typeface="Calibri"/>
                          <a:cs typeface="Times New Roman"/>
                        </a:rPr>
                        <a:t>-0.179727019</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0.083391651</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l-GR" sz="1300" dirty="0">
                          <a:solidFill>
                            <a:schemeClr val="bg1"/>
                          </a:solidFill>
                          <a:latin typeface="Cambria" pitchFamily="18" charset="0"/>
                          <a:ea typeface="Calibri"/>
                          <a:cs typeface="Times New Roman"/>
                        </a:rPr>
                        <a:t>-0.16170273</a:t>
                      </a: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r h="285347">
                <a:tc>
                  <a:txBody>
                    <a:bodyPr/>
                    <a:lstStyle/>
                    <a:p>
                      <a:pPr>
                        <a:lnSpc>
                          <a:spcPct val="115000"/>
                        </a:lnSpc>
                        <a:spcAft>
                          <a:spcPts val="1000"/>
                        </a:spcAft>
                      </a:pPr>
                      <a:r>
                        <a:rPr lang="en-US" sz="1300">
                          <a:solidFill>
                            <a:schemeClr val="bg1"/>
                          </a:solidFill>
                          <a:latin typeface="Cambria" pitchFamily="18" charset="0"/>
                          <a:ea typeface="Calibri"/>
                          <a:cs typeface="Times New Roman"/>
                        </a:rPr>
                        <a:t>42</a:t>
                      </a:r>
                      <a:endParaRPr lang="el-GR" sz="1300">
                        <a:solidFill>
                          <a:schemeClr val="bg1"/>
                        </a:solidFill>
                        <a:latin typeface="Cambria" pitchFamily="18" charset="0"/>
                        <a:ea typeface="Calibri"/>
                        <a:cs typeface="Times New Roman"/>
                      </a:endParaRPr>
                    </a:p>
                  </a:txBody>
                  <a:tcPr marL="55245" marR="55245" marT="952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EB966"/>
                    </a:solidFill>
                  </a:tcPr>
                </a:tc>
                <a:tc>
                  <a:txBody>
                    <a:bodyPr/>
                    <a:lstStyle/>
                    <a:p>
                      <a:pPr>
                        <a:lnSpc>
                          <a:spcPct val="115000"/>
                        </a:lnSpc>
                        <a:spcAft>
                          <a:spcPts val="1000"/>
                        </a:spcAft>
                      </a:pPr>
                      <a:r>
                        <a:rPr lang="en-US" sz="1300" b="1">
                          <a:solidFill>
                            <a:schemeClr val="bg1"/>
                          </a:solidFill>
                          <a:latin typeface="Cambria" pitchFamily="18" charset="0"/>
                          <a:ea typeface="Calibri"/>
                          <a:cs typeface="Times New Roman"/>
                        </a:rPr>
                        <a:t>Devarajan-Swaroop-Zou 1996</a:t>
                      </a:r>
                      <a:endParaRPr lang="el-GR" sz="1300">
                        <a:solidFill>
                          <a:schemeClr val="bg1"/>
                        </a:solidFill>
                        <a:latin typeface="Cambria" pitchFamily="18" charset="0"/>
                        <a:ea typeface="Calibri"/>
                        <a:cs typeface="Times New Roman"/>
                      </a:endParaRPr>
                    </a:p>
                  </a:txBody>
                  <a:tcPr marL="0" marR="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26</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-0.304997141</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0.353743243</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0.085698168</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a:solidFill>
                            <a:schemeClr val="bg1"/>
                          </a:solidFill>
                          <a:latin typeface="Cambria" pitchFamily="18" charset="0"/>
                          <a:ea typeface="Calibri"/>
                          <a:cs typeface="Times New Roman"/>
                        </a:rPr>
                        <a:t>0.156852492</a:t>
                      </a:r>
                      <a:endParaRPr lang="el-GR" sz="130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c>
                  <a:txBody>
                    <a:bodyPr/>
                    <a:lstStyle/>
                    <a:p>
                      <a:pPr algn="ctr">
                        <a:lnSpc>
                          <a:spcPct val="115000"/>
                        </a:lnSpc>
                        <a:spcAft>
                          <a:spcPts val="1000"/>
                        </a:spcAft>
                      </a:pPr>
                      <a:r>
                        <a:rPr lang="en-US" sz="1300" dirty="0">
                          <a:solidFill>
                            <a:schemeClr val="bg1"/>
                          </a:solidFill>
                          <a:latin typeface="Cambria" pitchFamily="18" charset="0"/>
                          <a:ea typeface="Calibri"/>
                          <a:cs typeface="Times New Roman"/>
                        </a:rPr>
                        <a:t>0.074243354</a:t>
                      </a:r>
                      <a:endParaRPr lang="el-GR" sz="1300" dirty="0">
                        <a:solidFill>
                          <a:schemeClr val="bg1"/>
                        </a:solidFill>
                        <a:latin typeface="Cambria" pitchFamily="18" charset="0"/>
                        <a:ea typeface="Calibri"/>
                        <a:cs typeface="Times New Roman"/>
                      </a:endParaRPr>
                    </a:p>
                  </a:txBody>
                  <a:tcPr marL="0" marR="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3EA"/>
                    </a:solidFill>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6 - Ορθογώνιο"/>
          <p:cNvSpPr>
            <a:spLocks noChangeArrowheads="1"/>
          </p:cNvSpPr>
          <p:nvPr/>
        </p:nvSpPr>
        <p:spPr bwMode="auto">
          <a:xfrm>
            <a:off x="0" y="0"/>
            <a:ext cx="9144000" cy="369888"/>
          </a:xfrm>
          <a:prstGeom prst="rect">
            <a:avLst/>
          </a:prstGeom>
          <a:noFill/>
          <a:ln w="9525">
            <a:noFill/>
            <a:miter lim="800000"/>
            <a:headEnd/>
            <a:tailEnd/>
          </a:ln>
        </p:spPr>
        <p:txBody>
          <a:bodyPr>
            <a:spAutoFit/>
          </a:bodyPr>
          <a:lstStyle/>
          <a:p>
            <a:pPr algn="ctr"/>
            <a:r>
              <a:rPr lang="en-US"/>
              <a:t>Table 2. Moderators in the Multiple Meta-Regression Analysis.</a:t>
            </a:r>
            <a:endParaRPr lang="el-GR"/>
          </a:p>
        </p:txBody>
      </p:sp>
      <p:graphicFrame>
        <p:nvGraphicFramePr>
          <p:cNvPr id="9" name="8 - Θέση περιεχομένου"/>
          <p:cNvGraphicFramePr>
            <a:graphicFrameLocks noGrp="1"/>
          </p:cNvGraphicFramePr>
          <p:nvPr>
            <p:ph sz="half" idx="1"/>
          </p:nvPr>
        </p:nvGraphicFramePr>
        <p:xfrm>
          <a:off x="0" y="369888"/>
          <a:ext cx="9144000" cy="6339728"/>
        </p:xfrm>
        <a:graphic>
          <a:graphicData uri="http://schemas.openxmlformats.org/drawingml/2006/table">
            <a:tbl>
              <a:tblPr/>
              <a:tblGrid>
                <a:gridCol w="2096725"/>
                <a:gridCol w="1665185"/>
                <a:gridCol w="5382090"/>
              </a:tblGrid>
              <a:tr h="216289">
                <a:tc gridSpan="2">
                  <a:txBody>
                    <a:bodyPr/>
                    <a:lstStyle/>
                    <a:p>
                      <a:pPr algn="ctr">
                        <a:lnSpc>
                          <a:spcPct val="115000"/>
                        </a:lnSpc>
                        <a:spcAft>
                          <a:spcPts val="0"/>
                        </a:spcAft>
                      </a:pPr>
                      <a:r>
                        <a:rPr lang="en-US" sz="1500" dirty="0">
                          <a:latin typeface="Calibri"/>
                          <a:ea typeface="Calibri"/>
                          <a:cs typeface="Times New Roman"/>
                        </a:rPr>
                        <a:t>Variable</a:t>
                      </a:r>
                      <a:endParaRPr lang="el-GR"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l-GR"/>
                    </a:p>
                  </a:txBody>
                  <a:tcPr/>
                </a:tc>
                <a:tc>
                  <a:txBody>
                    <a:bodyPr/>
                    <a:lstStyle/>
                    <a:p>
                      <a:pPr algn="ctr">
                        <a:lnSpc>
                          <a:spcPct val="115000"/>
                        </a:lnSpc>
                        <a:spcAft>
                          <a:spcPts val="0"/>
                        </a:spcAft>
                      </a:pPr>
                      <a:r>
                        <a:rPr lang="en-US" sz="1500" dirty="0">
                          <a:latin typeface="Calibri"/>
                          <a:ea typeface="Calibri"/>
                          <a:cs typeface="Times New Roman"/>
                        </a:rPr>
                        <a:t>Description of the variable</a:t>
                      </a:r>
                      <a:endParaRPr lang="el-GR"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nSpc>
                          <a:spcPct val="115000"/>
                        </a:lnSpc>
                        <a:spcAft>
                          <a:spcPts val="0"/>
                        </a:spcAft>
                      </a:pPr>
                      <a:r>
                        <a:rPr lang="en-US" sz="1500" dirty="0">
                          <a:latin typeface="Calibri"/>
                          <a:ea typeface="Calibri"/>
                          <a:cs typeface="Times New Roman"/>
                        </a:rPr>
                        <a:t>K-variables</a:t>
                      </a:r>
                      <a:endParaRPr lang="el-GR"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Sample size</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dirty="0">
                          <a:latin typeface="Calibri"/>
                          <a:ea typeface="Calibri"/>
                          <a:cs typeface="Times New Roman"/>
                        </a:rPr>
                        <a:t>= the size of the sample</a:t>
                      </a:r>
                      <a:endParaRPr lang="el-GR"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5217">
                <a:tc>
                  <a:txBody>
                    <a:bodyPr/>
                    <a:lstStyle/>
                    <a:p>
                      <a:pPr>
                        <a:lnSpc>
                          <a:spcPct val="115000"/>
                        </a:lnSpc>
                        <a:spcAft>
                          <a:spcPts val="0"/>
                        </a:spcAft>
                      </a:pPr>
                      <a:r>
                        <a:rPr lang="en-US" sz="1500">
                          <a:latin typeface="Calibri"/>
                          <a:ea typeface="Calibri"/>
                          <a:cs typeface="Times New Roman"/>
                        </a:rPr>
                        <a:t>Z-variables</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invse=1/standerror</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r>
                        <a:rPr lang="el-GR" sz="1500">
                          <a:latin typeface="Calibri"/>
                          <a:ea typeface="Calibri"/>
                          <a:cs typeface="Times New Roman"/>
                        </a:rPr>
                        <a:t>Health variables </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dirty="0" err="1">
                          <a:latin typeface="Calibri"/>
                          <a:ea typeface="Calibri"/>
                          <a:cs typeface="Times New Roman"/>
                        </a:rPr>
                        <a:t>Life</a:t>
                      </a:r>
                      <a:r>
                        <a:rPr lang="el-GR" sz="1500" dirty="0">
                          <a:latin typeface="Calibri"/>
                          <a:ea typeface="Calibri"/>
                          <a:cs typeface="Times New Roman"/>
                        </a:rPr>
                        <a:t> </a:t>
                      </a:r>
                      <a:r>
                        <a:rPr lang="el-GR" sz="1500" dirty="0" err="1">
                          <a:latin typeface="Calibri"/>
                          <a:ea typeface="Calibri"/>
                          <a:cs typeface="Times New Roman"/>
                        </a:rPr>
                        <a:t>expectancy</a:t>
                      </a:r>
                      <a:endParaRPr lang="el-GR"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life expectancy as proxy for health</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4492">
                <a:tc>
                  <a:txBody>
                    <a:bodyPr/>
                    <a:lstStyle/>
                    <a:p>
                      <a:pPr algn="r">
                        <a:lnSpc>
                          <a:spcPct val="115000"/>
                        </a:lnSpc>
                        <a:spcAft>
                          <a:spcPts val="0"/>
                        </a:spcAft>
                      </a:pPr>
                      <a:endParaRPr lang="en-US"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adult survival rate</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adult survival rate as proxy for health</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endParaRPr lang="en-US"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mortality</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mortality as proxy for health</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endParaRPr lang="en-US"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healthexpend</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health expenditure as proxy for health</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5912">
                <a:tc>
                  <a:txBody>
                    <a:bodyPr/>
                    <a:lstStyle/>
                    <a:p>
                      <a:pPr algn="r">
                        <a:lnSpc>
                          <a:spcPct val="115000"/>
                        </a:lnSpc>
                        <a:spcAft>
                          <a:spcPts val="0"/>
                        </a:spcAft>
                      </a:pPr>
                      <a:r>
                        <a:rPr lang="en-US" sz="1500" dirty="0">
                          <a:solidFill>
                            <a:schemeClr val="tx1"/>
                          </a:solidFill>
                          <a:latin typeface="Calibri"/>
                          <a:ea typeface="Calibri"/>
                          <a:cs typeface="Times New Roman"/>
                        </a:rPr>
                        <a:t>Additional </a:t>
                      </a:r>
                      <a:r>
                        <a:rPr lang="en-US" sz="1500" dirty="0" smtClean="0">
                          <a:solidFill>
                            <a:schemeClr val="tx1"/>
                          </a:solidFill>
                          <a:latin typeface="Calibri"/>
                          <a:ea typeface="Calibri"/>
                          <a:cs typeface="Times New Roman"/>
                        </a:rPr>
                        <a:t>controls</a:t>
                      </a:r>
                      <a:endParaRPr lang="el-GR" sz="1500" dirty="0">
                        <a:solidFill>
                          <a:schemeClr val="tx1"/>
                        </a:solidFill>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dirty="0" err="1">
                          <a:solidFill>
                            <a:schemeClr val="tx1"/>
                          </a:solidFill>
                          <a:latin typeface="Calibri"/>
                          <a:ea typeface="Calibri"/>
                          <a:cs typeface="Times New Roman"/>
                        </a:rPr>
                        <a:t>pcapital</a:t>
                      </a:r>
                      <a:r>
                        <a:rPr lang="el-GR" sz="1500" dirty="0">
                          <a:solidFill>
                            <a:schemeClr val="tx1"/>
                          </a:solidFill>
                          <a:latin typeface="Calibri"/>
                          <a:ea typeface="Calibri"/>
                          <a:cs typeface="Times New Roman"/>
                        </a:rPr>
                        <a:t> </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dirty="0">
                          <a:latin typeface="Calibri"/>
                          <a:ea typeface="Calibri"/>
                          <a:cs typeface="Times New Roman"/>
                        </a:rPr>
                        <a:t>= if study uses physical capital as explanatory variable </a:t>
                      </a:r>
                      <a:endParaRPr lang="el-GR"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8978">
                <a:tc>
                  <a:txBody>
                    <a:bodyPr/>
                    <a:lstStyle/>
                    <a:p>
                      <a:pPr algn="r">
                        <a:lnSpc>
                          <a:spcPct val="115000"/>
                        </a:lnSpc>
                        <a:spcAft>
                          <a:spcPts val="0"/>
                        </a:spcAft>
                      </a:pPr>
                      <a:endParaRPr lang="en-US"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political </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political variable as explanatory variable</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endParaRPr lang="en-US"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fiscal </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fiscal variable as explanatory variable </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9691">
                <a:tc>
                  <a:txBody>
                    <a:bodyPr/>
                    <a:lstStyle/>
                    <a:p>
                      <a:pPr algn="r">
                        <a:lnSpc>
                          <a:spcPct val="115000"/>
                        </a:lnSpc>
                        <a:spcAft>
                          <a:spcPts val="0"/>
                        </a:spcAft>
                      </a:pPr>
                      <a:endParaRPr lang="en-US"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demog</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demographic variable as explanatory variable </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endParaRPr lang="en-US"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pcgdp</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GDP pc as explanatory variable</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44">
                <a:tc>
                  <a:txBody>
                    <a:bodyPr/>
                    <a:lstStyle/>
                    <a:p>
                      <a:pPr algn="r">
                        <a:lnSpc>
                          <a:spcPct val="115000"/>
                        </a:lnSpc>
                        <a:spcAft>
                          <a:spcPts val="0"/>
                        </a:spcAft>
                      </a:pPr>
                      <a:endParaRPr lang="en-US"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openness</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openness variable as explanatory variables</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30">
                <a:tc>
                  <a:txBody>
                    <a:bodyPr/>
                    <a:lstStyle/>
                    <a:p>
                      <a:pPr algn="r">
                        <a:lnSpc>
                          <a:spcPct val="115000"/>
                        </a:lnSpc>
                        <a:spcAft>
                          <a:spcPts val="0"/>
                        </a:spcAft>
                      </a:pPr>
                      <a:endParaRPr lang="en-US"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schooling</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dirty="0">
                          <a:latin typeface="Calibri"/>
                          <a:ea typeface="Calibri"/>
                          <a:cs typeface="Times New Roman"/>
                        </a:rPr>
                        <a:t>=1 if study uses education variable as explanatory variables </a:t>
                      </a:r>
                      <a:endParaRPr lang="el-GR"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70030">
                <a:tc>
                  <a:txBody>
                    <a:bodyPr/>
                    <a:lstStyle/>
                    <a:p>
                      <a:pPr algn="r">
                        <a:lnSpc>
                          <a:spcPct val="115000"/>
                        </a:lnSpc>
                        <a:spcAft>
                          <a:spcPts val="0"/>
                        </a:spcAft>
                      </a:pPr>
                      <a:r>
                        <a:rPr lang="en-US" sz="1500" dirty="0">
                          <a:latin typeface="Calibri"/>
                          <a:ea typeface="Calibri"/>
                          <a:cs typeface="Times New Roman"/>
                        </a:rPr>
                        <a:t>Effect </a:t>
                      </a:r>
                      <a:r>
                        <a:rPr lang="en-US" sz="1500" dirty="0" smtClean="0">
                          <a:latin typeface="Calibri"/>
                          <a:ea typeface="Calibri"/>
                          <a:cs typeface="Times New Roman"/>
                        </a:rPr>
                        <a:t>measurement</a:t>
                      </a:r>
                      <a:r>
                        <a:rPr lang="en-US" sz="1500" baseline="0" dirty="0" smtClean="0">
                          <a:latin typeface="Calibri"/>
                          <a:ea typeface="Calibri"/>
                          <a:cs typeface="Times New Roman"/>
                        </a:rPr>
                        <a:t> </a:t>
                      </a:r>
                      <a:r>
                        <a:rPr lang="en-US" sz="1500" dirty="0" smtClean="0">
                          <a:latin typeface="Calibri"/>
                          <a:ea typeface="Calibri"/>
                          <a:cs typeface="Times New Roman"/>
                        </a:rPr>
                        <a:t>var.</a:t>
                      </a:r>
                      <a:endParaRPr lang="el-GR"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loghealth</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dirty="0">
                          <a:latin typeface="Calibri"/>
                          <a:ea typeface="Calibri"/>
                          <a:cs typeface="Times New Roman"/>
                        </a:rPr>
                        <a:t>=1 if study uses log of health variable as explanatory variable</a:t>
                      </a:r>
                      <a:endParaRPr lang="el-GR"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r>
                        <a:rPr lang="en-US" sz="1500">
                          <a:latin typeface="Calibri"/>
                          <a:ea typeface="Calibri"/>
                          <a:cs typeface="Times New Roman"/>
                        </a:rPr>
                        <a:t>Data variables</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earlyyear </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500">
                          <a:latin typeface="Calibri"/>
                          <a:ea typeface="Calibri"/>
                          <a:cs typeface="Times New Roman"/>
                        </a:rPr>
                        <a:t>First year of sample</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lastyear</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500">
                          <a:latin typeface="Calibri"/>
                          <a:ea typeface="Calibri"/>
                          <a:cs typeface="Times New Roman"/>
                        </a:rPr>
                        <a:t>Last year of sample</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obs</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500">
                          <a:latin typeface="Calibri"/>
                          <a:ea typeface="Calibri"/>
                          <a:cs typeface="Times New Roman"/>
                        </a:rPr>
                        <a:t>Sample size</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r>
                        <a:rPr lang="en-US" sz="1500">
                          <a:latin typeface="Calibri"/>
                          <a:ea typeface="Calibri"/>
                          <a:cs typeface="Times New Roman"/>
                        </a:rPr>
                        <a:t>Quality</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public</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is published in academic journal</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r>
                        <a:rPr lang="en-US" sz="1500">
                          <a:latin typeface="Calibri"/>
                          <a:ea typeface="Calibri"/>
                          <a:cs typeface="Times New Roman"/>
                        </a:rPr>
                        <a:t>Specification variables</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independent</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 </a:t>
                      </a:r>
                      <a:r>
                        <a:rPr lang="el-GR" sz="1500">
                          <a:latin typeface="Calibri"/>
                          <a:ea typeface="Calibri"/>
                          <a:cs typeface="Times New Roman"/>
                        </a:rPr>
                        <a:t>number of independent variables </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ols</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OLS estimation</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endParaRPr lang="en-US"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IV</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IV estimation</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endParaRPr lang="en-US"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panel</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a:latin typeface="Calibri"/>
                          <a:ea typeface="Calibri"/>
                          <a:cs typeface="Times New Roman"/>
                        </a:rPr>
                        <a:t>=1 if study uses panel data in the sample</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6289">
                <a:tc>
                  <a:txBody>
                    <a:bodyPr/>
                    <a:lstStyle/>
                    <a:p>
                      <a:pPr algn="r">
                        <a:lnSpc>
                          <a:spcPct val="115000"/>
                        </a:lnSpc>
                        <a:spcAft>
                          <a:spcPts val="0"/>
                        </a:spcAft>
                      </a:pPr>
                      <a:r>
                        <a:rPr lang="en-US" sz="1500">
                          <a:latin typeface="Calibri"/>
                          <a:ea typeface="Calibri"/>
                          <a:cs typeface="Times New Roman"/>
                        </a:rPr>
                        <a:t>Country moderators</a:t>
                      </a:r>
                      <a:endParaRPr lang="el-GR" sz="150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lnSpc>
                          <a:spcPct val="115000"/>
                        </a:lnSpc>
                        <a:spcAft>
                          <a:spcPts val="0"/>
                        </a:spcAft>
                      </a:pPr>
                      <a:r>
                        <a:rPr lang="el-GR" sz="1500">
                          <a:latin typeface="Calibri"/>
                          <a:ea typeface="Calibri"/>
                          <a:cs typeface="Times New Roman"/>
                        </a:rPr>
                        <a:t>OECD</a:t>
                      </a: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500" dirty="0">
                          <a:latin typeface="Calibri"/>
                          <a:ea typeface="Calibri"/>
                          <a:cs typeface="Times New Roman"/>
                        </a:rPr>
                        <a:t>=1 if study uses OECD countries in the sample</a:t>
                      </a:r>
                      <a:endParaRPr lang="el-GR" sz="1500" dirty="0">
                        <a:latin typeface="Calibri"/>
                        <a:ea typeface="Calibri"/>
                        <a:cs typeface="Times New Roman"/>
                      </a:endParaRPr>
                    </a:p>
                  </a:txBody>
                  <a:tcPr marL="45175" marR="45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55302" name="Rectangle 6"/>
          <p:cNvSpPr>
            <a:spLocks noGrp="1" noChangeArrowheads="1"/>
          </p:cNvSpPr>
          <p:nvPr>
            <p:ph type="body" idx="1"/>
          </p:nvPr>
        </p:nvSpPr>
        <p:spPr>
          <a:xfrm>
            <a:off x="0" y="835025"/>
            <a:ext cx="9124950" cy="6022975"/>
          </a:xfrm>
        </p:spPr>
        <p:txBody>
          <a:bodyPr/>
          <a:lstStyle/>
          <a:p>
            <a:pPr eaLnBrk="1" hangingPunct="1">
              <a:lnSpc>
                <a:spcPct val="90000"/>
              </a:lnSpc>
              <a:buFont typeface="Wingdings" pitchFamily="2" charset="2"/>
              <a:buNone/>
              <a:defRPr/>
            </a:pPr>
            <a:endParaRPr lang="en-US" sz="500" dirty="0" smtClean="0"/>
          </a:p>
          <a:p>
            <a:pPr algn="just" eaLnBrk="1" hangingPunct="1">
              <a:lnSpc>
                <a:spcPct val="90000"/>
              </a:lnSpc>
              <a:defRPr/>
            </a:pPr>
            <a:endParaRPr lang="en-US" sz="800" dirty="0" smtClean="0">
              <a:effectLst>
                <a:outerShdw blurRad="38100" dist="38100" dir="2700000" algn="tl">
                  <a:srgbClr val="000000">
                    <a:alpha val="43137"/>
                  </a:srgbClr>
                </a:outerShdw>
              </a:effectLst>
            </a:endParaRPr>
          </a:p>
          <a:p>
            <a:pPr algn="just" eaLnBrk="1" hangingPunct="1">
              <a:buFontTx/>
              <a:buChar char="-"/>
              <a:defRPr/>
            </a:pPr>
            <a:r>
              <a:rPr lang="en-US" altLang="el-GR" sz="2400" dirty="0" smtClean="0"/>
              <a:t>Assuming that all </a:t>
            </a:r>
            <a:r>
              <a:rPr lang="en-US" altLang="el-GR" sz="2400" i="1" dirty="0" err="1" smtClean="0"/>
              <a:t>α</a:t>
            </a:r>
            <a:r>
              <a:rPr lang="en-US" altLang="el-GR" sz="2400" i="1" baseline="-25000" dirty="0" err="1" smtClean="0"/>
              <a:t>k</a:t>
            </a:r>
            <a:r>
              <a:rPr lang="en-US" altLang="el-GR" sz="2400" i="1" dirty="0" smtClean="0"/>
              <a:t> and </a:t>
            </a:r>
            <a:r>
              <a:rPr lang="en-US" altLang="el-GR" sz="2400" i="1" dirty="0" err="1" smtClean="0"/>
              <a:t>γ</a:t>
            </a:r>
            <a:r>
              <a:rPr lang="en-US" altLang="el-GR" sz="2400" i="1" baseline="-25000" dirty="0" err="1" smtClean="0"/>
              <a:t>i</a:t>
            </a:r>
            <a:r>
              <a:rPr lang="en-US" altLang="el-GR" sz="2400" i="1" dirty="0" smtClean="0"/>
              <a:t> are </a:t>
            </a:r>
            <a:r>
              <a:rPr lang="en-US" altLang="el-GR" sz="2400" dirty="0" smtClean="0"/>
              <a:t>zero ,we employ the Funnel Asymmetry Test or FAT for publication selection:</a:t>
            </a:r>
          </a:p>
          <a:p>
            <a:pPr eaLnBrk="1" hangingPunct="1">
              <a:buFont typeface="Wingdings" pitchFamily="2" charset="2"/>
              <a:buNone/>
              <a:defRPr/>
            </a:pPr>
            <a:r>
              <a:rPr lang="en-US" altLang="el-GR" sz="2400" dirty="0" smtClean="0"/>
              <a:t>	</a:t>
            </a:r>
            <a:r>
              <a:rPr lang="en-US" altLang="el-GR" sz="2400" i="1" dirty="0" err="1" smtClean="0"/>
              <a:t>t</a:t>
            </a:r>
            <a:r>
              <a:rPr lang="en-US" altLang="el-GR" sz="2400" i="1" baseline="-25000" dirty="0" err="1" smtClean="0"/>
              <a:t>j</a:t>
            </a:r>
            <a:r>
              <a:rPr lang="en-US" altLang="el-GR" sz="2400" i="1" dirty="0" smtClean="0"/>
              <a:t> =</a:t>
            </a:r>
            <a:r>
              <a:rPr lang="el-GR" altLang="el-GR" sz="2400" i="1" dirty="0" smtClean="0"/>
              <a:t>β</a:t>
            </a:r>
            <a:r>
              <a:rPr lang="en-US" altLang="el-GR" sz="2400" i="1" baseline="-25000" dirty="0" smtClean="0"/>
              <a:t>1</a:t>
            </a:r>
            <a:r>
              <a:rPr lang="en-US" altLang="el-GR" sz="2400" i="1" dirty="0" smtClean="0"/>
              <a:t> +</a:t>
            </a:r>
            <a:r>
              <a:rPr lang="el-GR" altLang="el-GR" sz="2400" i="1" dirty="0" smtClean="0"/>
              <a:t>β</a:t>
            </a:r>
            <a:r>
              <a:rPr lang="en-US" altLang="el-GR" sz="2400" i="1" baseline="-25000" dirty="0" smtClean="0"/>
              <a:t>0</a:t>
            </a:r>
            <a:r>
              <a:rPr lang="en-US" altLang="el-GR" sz="2400" i="1" dirty="0" smtClean="0"/>
              <a:t>(1/</a:t>
            </a:r>
            <a:r>
              <a:rPr lang="en-US" altLang="el-GR" sz="2400" i="1" dirty="0" err="1" smtClean="0"/>
              <a:t>se</a:t>
            </a:r>
            <a:r>
              <a:rPr lang="en-US" altLang="el-GR" sz="2400" i="1" baseline="-25000" dirty="0" err="1" smtClean="0"/>
              <a:t>j</a:t>
            </a:r>
            <a:r>
              <a:rPr lang="en-US" altLang="el-GR" sz="2400" i="1" dirty="0" smtClean="0"/>
              <a:t>) + </a:t>
            </a:r>
            <a:r>
              <a:rPr lang="en-US" altLang="el-GR" sz="2400" i="1" dirty="0" err="1" smtClean="0"/>
              <a:t>e</a:t>
            </a:r>
            <a:r>
              <a:rPr lang="en-US" altLang="el-GR" sz="2400" i="1" baseline="-25000" dirty="0" err="1" smtClean="0"/>
              <a:t>j</a:t>
            </a:r>
            <a:r>
              <a:rPr lang="el-GR" altLang="el-GR" sz="2400" i="1" dirty="0" smtClean="0"/>
              <a:t> </a:t>
            </a:r>
            <a:r>
              <a:rPr lang="en-US" altLang="el-GR" sz="2400" dirty="0" smtClean="0"/>
              <a:t>                                       (3)</a:t>
            </a:r>
          </a:p>
          <a:p>
            <a:pPr eaLnBrk="1" hangingPunct="1">
              <a:buFont typeface="Wingdings" pitchFamily="2" charset="2"/>
              <a:buNone/>
              <a:defRPr/>
            </a:pPr>
            <a:endParaRPr lang="el-GR" altLang="el-GR" sz="2400" dirty="0" smtClean="0"/>
          </a:p>
          <a:p>
            <a:pPr algn="ctr" eaLnBrk="1" hangingPunct="1">
              <a:lnSpc>
                <a:spcPct val="90000"/>
              </a:lnSpc>
              <a:buFont typeface="Wingdings" pitchFamily="2" charset="2"/>
              <a:buNone/>
              <a:defRPr/>
            </a:pPr>
            <a:r>
              <a:rPr lang="en-GB" sz="2200" b="1" dirty="0" smtClean="0">
                <a:cs typeface="Times New Roman" pitchFamily="18" charset="0"/>
              </a:rPr>
              <a:t>Table 3: FAT – PET tests</a:t>
            </a:r>
          </a:p>
          <a:p>
            <a:pPr algn="ctr" eaLnBrk="1" hangingPunct="1">
              <a:lnSpc>
                <a:spcPct val="90000"/>
              </a:lnSpc>
              <a:buFont typeface="Wingdings" pitchFamily="2" charset="2"/>
              <a:buNone/>
              <a:defRPr/>
            </a:pPr>
            <a:endParaRPr lang="en-GB" sz="2400" b="1" dirty="0" smtClean="0">
              <a:cs typeface="Times New Roman" pitchFamily="18" charset="0"/>
            </a:endParaRPr>
          </a:p>
          <a:p>
            <a:pPr algn="ctr" eaLnBrk="1" hangingPunct="1">
              <a:lnSpc>
                <a:spcPct val="90000"/>
              </a:lnSpc>
              <a:buFont typeface="Wingdings" pitchFamily="2" charset="2"/>
              <a:buNone/>
              <a:defRPr/>
            </a:pPr>
            <a:endParaRPr lang="en-GB" sz="2400" dirty="0" smtClean="0"/>
          </a:p>
          <a:p>
            <a:pPr algn="just" eaLnBrk="1" hangingPunct="1">
              <a:lnSpc>
                <a:spcPct val="90000"/>
              </a:lnSpc>
              <a:buFont typeface="Wingdings" pitchFamily="2" charset="2"/>
              <a:buNone/>
              <a:defRPr/>
            </a:pPr>
            <a:endParaRPr lang="en-US" sz="2350" dirty="0" smtClean="0">
              <a:effectLst>
                <a:outerShdw blurRad="38100" dist="38100" dir="2700000" algn="tl">
                  <a:srgbClr val="000000">
                    <a:alpha val="43137"/>
                  </a:srgbClr>
                </a:outerShdw>
              </a:effectLst>
            </a:endParaRPr>
          </a:p>
        </p:txBody>
      </p:sp>
      <p:sp>
        <p:nvSpPr>
          <p:cNvPr id="17412"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graphicFrame>
        <p:nvGraphicFramePr>
          <p:cNvPr id="7" name="6 - Πίνακας"/>
          <p:cNvGraphicFramePr>
            <a:graphicFrameLocks noGrp="1"/>
          </p:cNvGraphicFramePr>
          <p:nvPr/>
        </p:nvGraphicFramePr>
        <p:xfrm>
          <a:off x="0" y="3249613"/>
          <a:ext cx="9144002" cy="3441128"/>
        </p:xfrm>
        <a:graphic>
          <a:graphicData uri="http://schemas.openxmlformats.org/drawingml/2006/table">
            <a:tbl>
              <a:tblPr/>
              <a:tblGrid>
                <a:gridCol w="1069082"/>
                <a:gridCol w="1337081"/>
                <a:gridCol w="1337081"/>
                <a:gridCol w="1337081"/>
                <a:gridCol w="1337081"/>
                <a:gridCol w="1389515"/>
                <a:gridCol w="1337081"/>
              </a:tblGrid>
              <a:tr h="300752">
                <a:tc>
                  <a:txBody>
                    <a:bodyPr/>
                    <a:lstStyle/>
                    <a:p>
                      <a:pPr algn="ctr">
                        <a:lnSpc>
                          <a:spcPct val="115000"/>
                        </a:lnSpc>
                        <a:spcAft>
                          <a:spcPts val="0"/>
                        </a:spcAft>
                      </a:pPr>
                      <a:r>
                        <a:rPr lang="el-GR" sz="1600" dirty="0" err="1">
                          <a:latin typeface="Calibri"/>
                          <a:ea typeface="Calibri"/>
                          <a:cs typeface="Times New Roman"/>
                        </a:rPr>
                        <a:t>Variables</a:t>
                      </a:r>
                      <a:endParaRPr lang="el-GR"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l-GR" sz="1600">
                          <a:latin typeface="Calibri"/>
                          <a:ea typeface="Calibri"/>
                          <a:cs typeface="Times New Roman"/>
                        </a:rPr>
                        <a:t>OLS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l-GR" sz="1600">
                          <a:latin typeface="Calibri"/>
                          <a:ea typeface="Calibri"/>
                          <a:cs typeface="Times New Roman"/>
                        </a:rPr>
                        <a:t>OLS-cluster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l-GR" sz="1600">
                          <a:latin typeface="Calibri"/>
                          <a:ea typeface="Calibri"/>
                          <a:cs typeface="Times New Roman"/>
                        </a:rPr>
                        <a:t>RE</a:t>
                      </a:r>
                      <a:r>
                        <a:rPr lang="en-US" sz="1600">
                          <a:latin typeface="Calibri"/>
                          <a:ea typeface="Calibri"/>
                          <a:cs typeface="Times New Roman"/>
                        </a:rPr>
                        <a:t>ML</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l-GR" sz="1600">
                          <a:latin typeface="Calibri"/>
                          <a:ea typeface="Calibri"/>
                          <a:cs typeface="Times New Roman"/>
                        </a:rPr>
                        <a:t>FE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Calibri"/>
                          <a:ea typeface="Calibri"/>
                          <a:cs typeface="Times New Roman"/>
                        </a:rPr>
                        <a:t>WLS</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Calibri"/>
                          <a:ea typeface="Calibri"/>
                          <a:cs typeface="Times New Roman"/>
                        </a:rPr>
                        <a:t>FE-WLS</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34363">
                <a:tc>
                  <a:txBody>
                    <a:bodyPr/>
                    <a:lstStyle/>
                    <a:p>
                      <a:pPr>
                        <a:lnSpc>
                          <a:spcPct val="115000"/>
                        </a:lnSpc>
                        <a:spcAft>
                          <a:spcPts val="0"/>
                        </a:spcAft>
                      </a:pPr>
                      <a:r>
                        <a:rPr lang="el-GR" sz="1600">
                          <a:latin typeface="Calibri"/>
                          <a:ea typeface="Calibri"/>
                          <a:cs typeface="Times New Roman"/>
                        </a:rPr>
                        <a:t>invse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latin typeface="Calibri"/>
                          <a:ea typeface="Calibri"/>
                          <a:cs typeface="Times New Roman"/>
                        </a:rPr>
                        <a:t>0</a:t>
                      </a:r>
                      <a:r>
                        <a:rPr lang="el-GR" sz="1600" dirty="0">
                          <a:latin typeface="Calibri"/>
                          <a:ea typeface="Calibri"/>
                          <a:cs typeface="Times New Roman"/>
                        </a:rPr>
                        <a:t>.9745795***</a:t>
                      </a:r>
                    </a:p>
                    <a:p>
                      <a:pPr>
                        <a:lnSpc>
                          <a:spcPct val="115000"/>
                        </a:lnSpc>
                        <a:spcAft>
                          <a:spcPts val="0"/>
                        </a:spcAft>
                      </a:pPr>
                      <a:r>
                        <a:rPr lang="en-US" sz="1600" dirty="0">
                          <a:latin typeface="Calibri"/>
                          <a:ea typeface="Calibri"/>
                          <a:cs typeface="Times New Roman"/>
                        </a:rPr>
                        <a:t>(0.0083094)</a:t>
                      </a:r>
                      <a:endParaRPr lang="el-GR"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a:latin typeface="Calibri"/>
                          <a:ea typeface="Calibri"/>
                          <a:cs typeface="Times New Roman"/>
                        </a:rPr>
                        <a:t>0</a:t>
                      </a:r>
                      <a:r>
                        <a:rPr lang="el-GR" sz="1600">
                          <a:latin typeface="Calibri"/>
                          <a:ea typeface="Calibri"/>
                          <a:cs typeface="Times New Roman"/>
                        </a:rPr>
                        <a:t>.9745795***</a:t>
                      </a:r>
                    </a:p>
                    <a:p>
                      <a:pPr>
                        <a:lnSpc>
                          <a:spcPct val="115000"/>
                        </a:lnSpc>
                        <a:spcAft>
                          <a:spcPts val="0"/>
                        </a:spcAft>
                      </a:pPr>
                      <a:r>
                        <a:rPr lang="en-US" sz="1600">
                          <a:latin typeface="Calibri"/>
                          <a:ea typeface="Calibri"/>
                          <a:cs typeface="Times New Roman"/>
                        </a:rPr>
                        <a:t>(0.0483479)</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a:latin typeface="Calibri"/>
                          <a:ea typeface="Calibri"/>
                          <a:cs typeface="Times New Roman"/>
                        </a:rPr>
                        <a:t>0</a:t>
                      </a:r>
                      <a:r>
                        <a:rPr lang="el-GR" sz="1600">
                          <a:latin typeface="Calibri"/>
                          <a:ea typeface="Calibri"/>
                          <a:cs typeface="Times New Roman"/>
                        </a:rPr>
                        <a:t>.9745817***</a:t>
                      </a:r>
                    </a:p>
                    <a:p>
                      <a:pPr>
                        <a:lnSpc>
                          <a:spcPct val="115000"/>
                        </a:lnSpc>
                        <a:spcAft>
                          <a:spcPts val="0"/>
                        </a:spcAft>
                      </a:pPr>
                      <a:r>
                        <a:rPr lang="en-US" sz="1600">
                          <a:latin typeface="Calibri"/>
                          <a:ea typeface="Calibri"/>
                          <a:cs typeface="Times New Roman"/>
                        </a:rPr>
                        <a:t>(0.0083095)</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latin typeface="Calibri"/>
                          <a:ea typeface="Calibri"/>
                          <a:cs typeface="Times New Roman"/>
                        </a:rPr>
                        <a:t>0</a:t>
                      </a:r>
                      <a:r>
                        <a:rPr lang="el-GR" sz="1600" dirty="0">
                          <a:latin typeface="Calibri"/>
                          <a:ea typeface="Calibri"/>
                          <a:cs typeface="Times New Roman"/>
                        </a:rPr>
                        <a:t>.9878064***</a:t>
                      </a:r>
                    </a:p>
                    <a:p>
                      <a:pPr>
                        <a:lnSpc>
                          <a:spcPct val="115000"/>
                        </a:lnSpc>
                        <a:spcAft>
                          <a:spcPts val="0"/>
                        </a:spcAft>
                      </a:pPr>
                      <a:r>
                        <a:rPr lang="en-US" sz="1600" dirty="0">
                          <a:latin typeface="Calibri"/>
                          <a:ea typeface="Calibri"/>
                          <a:cs typeface="Times New Roman"/>
                        </a:rPr>
                        <a:t>(0</a:t>
                      </a:r>
                      <a:r>
                        <a:rPr lang="el-GR" sz="1600" dirty="0">
                          <a:latin typeface="Calibri"/>
                          <a:ea typeface="Calibri"/>
                          <a:cs typeface="Times New Roman"/>
                        </a:rPr>
                        <a:t>.0054442</a:t>
                      </a:r>
                      <a:r>
                        <a:rPr lang="en-US" sz="1600" dirty="0">
                          <a:latin typeface="Calibri"/>
                          <a:ea typeface="Calibri"/>
                          <a:cs typeface="Times New Roman"/>
                        </a:rPr>
                        <a:t>)</a:t>
                      </a:r>
                      <a:endParaRPr lang="el-GR"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1.024898***</a:t>
                      </a:r>
                    </a:p>
                    <a:p>
                      <a:pPr>
                        <a:lnSpc>
                          <a:spcPct val="115000"/>
                        </a:lnSpc>
                        <a:spcAft>
                          <a:spcPts val="0"/>
                        </a:spcAft>
                      </a:pPr>
                      <a:r>
                        <a:rPr lang="en-US" sz="1600">
                          <a:latin typeface="Calibri"/>
                          <a:ea typeface="Calibri"/>
                          <a:cs typeface="Times New Roman"/>
                        </a:rPr>
                        <a:t>(0.0019008)</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a:latin typeface="Calibri"/>
                          <a:ea typeface="Calibri"/>
                          <a:cs typeface="Times New Roman"/>
                        </a:rPr>
                        <a:t>0</a:t>
                      </a:r>
                      <a:r>
                        <a:rPr lang="el-GR" sz="1600">
                          <a:latin typeface="Calibri"/>
                          <a:ea typeface="Calibri"/>
                          <a:cs typeface="Times New Roman"/>
                        </a:rPr>
                        <a:t>.9993504***</a:t>
                      </a:r>
                    </a:p>
                    <a:p>
                      <a:pPr>
                        <a:lnSpc>
                          <a:spcPct val="115000"/>
                        </a:lnSpc>
                        <a:spcAft>
                          <a:spcPts val="0"/>
                        </a:spcAft>
                      </a:pPr>
                      <a:r>
                        <a:rPr lang="en-US" sz="1600">
                          <a:latin typeface="Calibri"/>
                          <a:ea typeface="Calibri"/>
                          <a:cs typeface="Times New Roman"/>
                        </a:rPr>
                        <a:t>(0.0011459)</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1503">
                <a:tc>
                  <a:txBody>
                    <a:bodyPr/>
                    <a:lstStyle/>
                    <a:p>
                      <a:pPr>
                        <a:lnSpc>
                          <a:spcPct val="115000"/>
                        </a:lnSpc>
                        <a:spcAft>
                          <a:spcPts val="0"/>
                        </a:spcAft>
                      </a:pPr>
                      <a:r>
                        <a:rPr lang="el-GR" sz="1600">
                          <a:latin typeface="Calibri"/>
                          <a:ea typeface="Calibri"/>
                          <a:cs typeface="Times New Roman"/>
                        </a:rPr>
                        <a:t>constant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dirty="0">
                          <a:latin typeface="Calibri"/>
                          <a:ea typeface="Calibri"/>
                          <a:cs typeface="Times New Roman"/>
                        </a:rPr>
                        <a:t>-13.56022***</a:t>
                      </a:r>
                    </a:p>
                    <a:p>
                      <a:pPr>
                        <a:lnSpc>
                          <a:spcPct val="115000"/>
                        </a:lnSpc>
                        <a:spcAft>
                          <a:spcPts val="0"/>
                        </a:spcAft>
                      </a:pPr>
                      <a:r>
                        <a:rPr lang="en-US" sz="1600" dirty="0">
                          <a:latin typeface="Calibri"/>
                          <a:ea typeface="Calibri"/>
                          <a:cs typeface="Times New Roman"/>
                        </a:rPr>
                        <a:t>(0</a:t>
                      </a:r>
                      <a:r>
                        <a:rPr lang="el-GR" sz="1600" dirty="0">
                          <a:latin typeface="Calibri"/>
                          <a:ea typeface="Calibri"/>
                          <a:cs typeface="Times New Roman"/>
                        </a:rPr>
                        <a:t>.4564856</a:t>
                      </a:r>
                      <a:r>
                        <a:rPr lang="en-US" sz="1600" dirty="0">
                          <a:latin typeface="Calibri"/>
                          <a:ea typeface="Calibri"/>
                          <a:cs typeface="Times New Roman"/>
                        </a:rPr>
                        <a:t>)</a:t>
                      </a:r>
                      <a:endParaRPr lang="el-GR"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dirty="0">
                          <a:latin typeface="Calibri"/>
                          <a:ea typeface="Calibri"/>
                          <a:cs typeface="Times New Roman"/>
                        </a:rPr>
                        <a:t>-13.56022***</a:t>
                      </a:r>
                    </a:p>
                    <a:p>
                      <a:pPr>
                        <a:lnSpc>
                          <a:spcPct val="115000"/>
                        </a:lnSpc>
                        <a:spcAft>
                          <a:spcPts val="0"/>
                        </a:spcAft>
                      </a:pPr>
                      <a:r>
                        <a:rPr lang="en-US" sz="1600" dirty="0">
                          <a:latin typeface="Calibri"/>
                          <a:ea typeface="Calibri"/>
                          <a:cs typeface="Times New Roman"/>
                        </a:rPr>
                        <a:t>(1.815613)</a:t>
                      </a:r>
                      <a:endParaRPr lang="el-GR"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-13.56075***</a:t>
                      </a:r>
                    </a:p>
                    <a:p>
                      <a:pPr>
                        <a:lnSpc>
                          <a:spcPct val="115000"/>
                        </a:lnSpc>
                        <a:spcAft>
                          <a:spcPts val="0"/>
                        </a:spcAft>
                      </a:pPr>
                      <a:r>
                        <a:rPr lang="en-US" sz="1600">
                          <a:latin typeface="Calibri"/>
                          <a:ea typeface="Calibri"/>
                          <a:cs typeface="Times New Roman"/>
                        </a:rPr>
                        <a:t>(0</a:t>
                      </a:r>
                      <a:r>
                        <a:rPr lang="el-GR" sz="1600">
                          <a:latin typeface="Calibri"/>
                          <a:ea typeface="Calibri"/>
                          <a:cs typeface="Times New Roman"/>
                        </a:rPr>
                        <a:t>.4565126</a:t>
                      </a:r>
                      <a:r>
                        <a:rPr lang="en-US" sz="1600">
                          <a:latin typeface="Calibri"/>
                          <a:ea typeface="Calibri"/>
                          <a:cs typeface="Times New Roman"/>
                        </a:rPr>
                        <a:t>)</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-16.92275***</a:t>
                      </a:r>
                    </a:p>
                    <a:p>
                      <a:pPr>
                        <a:lnSpc>
                          <a:spcPct val="115000"/>
                        </a:lnSpc>
                        <a:spcAft>
                          <a:spcPts val="0"/>
                        </a:spcAft>
                      </a:pPr>
                      <a:r>
                        <a:rPr lang="en-US" sz="1600">
                          <a:latin typeface="Calibri"/>
                          <a:ea typeface="Calibri"/>
                          <a:cs typeface="Times New Roman"/>
                        </a:rPr>
                        <a:t>(</a:t>
                      </a:r>
                      <a:r>
                        <a:rPr lang="el-GR" sz="1600">
                          <a:latin typeface="Calibri"/>
                          <a:ea typeface="Calibri"/>
                          <a:cs typeface="Times New Roman"/>
                        </a:rPr>
                        <a:t>2.115023</a:t>
                      </a:r>
                      <a:r>
                        <a:rPr lang="en-US" sz="1600">
                          <a:latin typeface="Calibri"/>
                          <a:ea typeface="Calibri"/>
                          <a:cs typeface="Times New Roman"/>
                        </a:rPr>
                        <a:t>)</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-22.08949***</a:t>
                      </a:r>
                    </a:p>
                    <a:p>
                      <a:pPr>
                        <a:lnSpc>
                          <a:spcPct val="115000"/>
                        </a:lnSpc>
                        <a:spcAft>
                          <a:spcPts val="0"/>
                        </a:spcAft>
                      </a:pPr>
                      <a:r>
                        <a:rPr lang="en-US" sz="1600">
                          <a:latin typeface="Calibri"/>
                          <a:ea typeface="Calibri"/>
                          <a:cs typeface="Times New Roman"/>
                        </a:rPr>
                        <a:t>(0.6732306)</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-17.23793***</a:t>
                      </a:r>
                    </a:p>
                    <a:p>
                      <a:pPr>
                        <a:lnSpc>
                          <a:spcPct val="115000"/>
                        </a:lnSpc>
                        <a:spcAft>
                          <a:spcPts val="0"/>
                        </a:spcAft>
                      </a:pPr>
                      <a:r>
                        <a:rPr lang="en-US" sz="1600">
                          <a:latin typeface="Calibri"/>
                          <a:ea typeface="Calibri"/>
                          <a:cs typeface="Times New Roman"/>
                        </a:rPr>
                        <a:t>(</a:t>
                      </a:r>
                      <a:r>
                        <a:rPr lang="el-GR" sz="1600">
                          <a:latin typeface="Calibri"/>
                          <a:ea typeface="Calibri"/>
                          <a:cs typeface="Times New Roman"/>
                        </a:rPr>
                        <a:t>2.112692</a:t>
                      </a:r>
                      <a:r>
                        <a:rPr lang="en-US" sz="1600">
                          <a:latin typeface="Calibri"/>
                          <a:ea typeface="Calibri"/>
                          <a:cs typeface="Times New Roman"/>
                        </a:rPr>
                        <a:t>)</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1503">
                <a:tc>
                  <a:txBody>
                    <a:bodyPr/>
                    <a:lstStyle/>
                    <a:p>
                      <a:pPr>
                        <a:lnSpc>
                          <a:spcPct val="115000"/>
                        </a:lnSpc>
                        <a:spcAft>
                          <a:spcPts val="0"/>
                        </a:spcAft>
                      </a:pPr>
                      <a:r>
                        <a:rPr lang="el-GR" sz="1600">
                          <a:latin typeface="Calibri"/>
                          <a:ea typeface="Calibri"/>
                          <a:cs typeface="Times New Roman"/>
                        </a:rPr>
                        <a:t>R-squared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0.9525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dirty="0">
                          <a:latin typeface="Calibri"/>
                          <a:ea typeface="Calibri"/>
                          <a:cs typeface="Times New Roman"/>
                        </a:rPr>
                        <a:t>0.9525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95.24%</a:t>
                      </a:r>
                      <a:r>
                        <a:rPr lang="en-US" sz="1600">
                          <a:latin typeface="Calibri"/>
                          <a:ea typeface="Calibri"/>
                          <a:cs typeface="Times New Roman"/>
                        </a:rPr>
                        <a:t> (Adjusted)</a:t>
                      </a:r>
                      <a:endParaRPr lang="el-GR"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0.9938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0.9976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0.9998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03007">
                <a:tc>
                  <a:txBody>
                    <a:bodyPr/>
                    <a:lstStyle/>
                    <a:p>
                      <a:pPr>
                        <a:lnSpc>
                          <a:spcPct val="115000"/>
                        </a:lnSpc>
                        <a:spcAft>
                          <a:spcPts val="0"/>
                        </a:spcAft>
                      </a:pPr>
                      <a:r>
                        <a:rPr lang="el-GR" sz="1600">
                          <a:latin typeface="Calibri"/>
                          <a:ea typeface="Calibri"/>
                          <a:cs typeface="Times New Roman"/>
                        </a:rPr>
                        <a:t>Ramsey RESET test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a:latin typeface="Calibri"/>
                          <a:ea typeface="Calibri"/>
                          <a:cs typeface="Times New Roman"/>
                        </a:rPr>
                        <a:t>F(3, 683) =  3151.78</a:t>
                      </a:r>
                    </a:p>
                    <a:p>
                      <a:pPr>
                        <a:lnSpc>
                          <a:spcPct val="115000"/>
                        </a:lnSpc>
                        <a:spcAft>
                          <a:spcPts val="0"/>
                        </a:spcAft>
                      </a:pPr>
                      <a:r>
                        <a:rPr lang="el-GR" sz="1600">
                          <a:latin typeface="Calibri"/>
                          <a:ea typeface="Calibri"/>
                          <a:cs typeface="Times New Roman"/>
                        </a:rPr>
                        <a:t>Prob &gt; F</a:t>
                      </a:r>
                      <a:r>
                        <a:rPr lang="en-US" sz="1600">
                          <a:latin typeface="Calibri"/>
                          <a:ea typeface="Calibri"/>
                          <a:cs typeface="Times New Roman"/>
                        </a:rPr>
                        <a:t> = </a:t>
                      </a:r>
                      <a:r>
                        <a:rPr lang="el-GR" sz="1600">
                          <a:latin typeface="Calibri"/>
                          <a:ea typeface="Calibri"/>
                          <a:cs typeface="Times New Roman"/>
                        </a:rPr>
                        <a:t>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dirty="0">
                          <a:latin typeface="Calibri"/>
                          <a:ea typeface="Calibri"/>
                          <a:cs typeface="Times New Roman"/>
                        </a:rPr>
                        <a:t>F(3, 683) =   3151.78</a:t>
                      </a:r>
                    </a:p>
                    <a:p>
                      <a:pPr>
                        <a:lnSpc>
                          <a:spcPct val="115000"/>
                        </a:lnSpc>
                        <a:spcAft>
                          <a:spcPts val="0"/>
                        </a:spcAft>
                      </a:pPr>
                      <a:r>
                        <a:rPr lang="el-GR" sz="1600" dirty="0">
                          <a:latin typeface="Calibri"/>
                          <a:ea typeface="Calibri"/>
                          <a:cs typeface="Times New Roman"/>
                        </a:rPr>
                        <a:t>Prob &gt; F =      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dirty="0">
                          <a:latin typeface="Calibri"/>
                          <a:ea typeface="Calibri"/>
                          <a:cs typeface="Times New Roman"/>
                        </a:rPr>
                        <a:t>-</a:t>
                      </a:r>
                      <a:endParaRPr lang="el-GR"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dirty="0">
                          <a:latin typeface="Calibri"/>
                          <a:ea typeface="Calibri"/>
                          <a:cs typeface="Times New Roman"/>
                        </a:rPr>
                        <a:t>F(3, 642) =    689.17</a:t>
                      </a:r>
                    </a:p>
                    <a:p>
                      <a:pPr>
                        <a:lnSpc>
                          <a:spcPct val="115000"/>
                        </a:lnSpc>
                        <a:spcAft>
                          <a:spcPts val="0"/>
                        </a:spcAft>
                      </a:pPr>
                      <a:r>
                        <a:rPr lang="el-GR" sz="1600" dirty="0">
                          <a:latin typeface="Calibri"/>
                          <a:ea typeface="Calibri"/>
                          <a:cs typeface="Times New Roman"/>
                        </a:rPr>
                        <a:t>Prob &gt; F =      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dirty="0">
                          <a:latin typeface="Calibri"/>
                          <a:ea typeface="Calibri"/>
                          <a:cs typeface="Times New Roman"/>
                        </a:rPr>
                        <a:t>F(3, 683) =   6935.32</a:t>
                      </a:r>
                    </a:p>
                    <a:p>
                      <a:pPr>
                        <a:lnSpc>
                          <a:spcPct val="115000"/>
                        </a:lnSpc>
                        <a:spcAft>
                          <a:spcPts val="0"/>
                        </a:spcAft>
                      </a:pPr>
                      <a:r>
                        <a:rPr lang="el-GR" sz="1600" dirty="0">
                          <a:latin typeface="Calibri"/>
                          <a:ea typeface="Calibri"/>
                          <a:cs typeface="Times New Roman"/>
                        </a:rPr>
                        <a:t>Prob &gt; F =      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l-GR" sz="1600" dirty="0">
                          <a:latin typeface="Calibri"/>
                          <a:ea typeface="Calibri"/>
                          <a:cs typeface="Times New Roman"/>
                        </a:rPr>
                        <a:t>F(3, 642) =    979.92</a:t>
                      </a:r>
                    </a:p>
                    <a:p>
                      <a:pPr>
                        <a:lnSpc>
                          <a:spcPct val="115000"/>
                        </a:lnSpc>
                        <a:spcAft>
                          <a:spcPts val="0"/>
                        </a:spcAft>
                      </a:pPr>
                      <a:r>
                        <a:rPr lang="el-GR" sz="1600" dirty="0">
                          <a:latin typeface="Calibri"/>
                          <a:ea typeface="Calibri"/>
                          <a:cs typeface="Times New Roman"/>
                        </a:rPr>
                        <a:t>Prob &gt; F =      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2" name="Rectangle 6"/>
          <p:cNvSpPr>
            <a:spLocks noGrp="1" noChangeArrowheads="1"/>
          </p:cNvSpPr>
          <p:nvPr>
            <p:ph type="body" idx="1"/>
          </p:nvPr>
        </p:nvSpPr>
        <p:spPr>
          <a:xfrm>
            <a:off x="0" y="0"/>
            <a:ext cx="9124950" cy="6858000"/>
          </a:xfrm>
        </p:spPr>
        <p:txBody>
          <a:bodyPr/>
          <a:lstStyle/>
          <a:p>
            <a:pPr algn="ctr" eaLnBrk="1" hangingPunct="1">
              <a:lnSpc>
                <a:spcPct val="90000"/>
              </a:lnSpc>
              <a:buFont typeface="Wingdings" pitchFamily="2" charset="2"/>
              <a:buNone/>
              <a:defRPr/>
            </a:pPr>
            <a:endParaRPr lang="en-GB" sz="2200" b="1" dirty="0" smtClean="0">
              <a:cs typeface="Times New Roman" pitchFamily="18" charset="0"/>
            </a:endParaRPr>
          </a:p>
          <a:p>
            <a:pPr algn="ctr" eaLnBrk="1" hangingPunct="1">
              <a:lnSpc>
                <a:spcPct val="90000"/>
              </a:lnSpc>
              <a:buFont typeface="Wingdings" pitchFamily="2" charset="2"/>
              <a:buNone/>
              <a:defRPr/>
            </a:pPr>
            <a:r>
              <a:rPr lang="en-GB" sz="2200" b="1" dirty="0" smtClean="0">
                <a:cs typeface="Times New Roman" pitchFamily="18" charset="0"/>
              </a:rPr>
              <a:t>Table 4: Multiple MRA (General-to-Specific)</a:t>
            </a:r>
            <a:endParaRPr lang="en-GB" sz="2400" b="1" dirty="0" smtClean="0">
              <a:cs typeface="Times New Roman" pitchFamily="18" charset="0"/>
            </a:endParaRPr>
          </a:p>
          <a:p>
            <a:pPr algn="ctr" eaLnBrk="1" hangingPunct="1">
              <a:lnSpc>
                <a:spcPct val="90000"/>
              </a:lnSpc>
              <a:buFont typeface="Wingdings" pitchFamily="2" charset="2"/>
              <a:buNone/>
              <a:defRPr/>
            </a:pPr>
            <a:endParaRPr lang="en-GB" sz="2400" dirty="0" smtClean="0"/>
          </a:p>
          <a:p>
            <a:pPr algn="just" eaLnBrk="1" hangingPunct="1">
              <a:lnSpc>
                <a:spcPct val="90000"/>
              </a:lnSpc>
              <a:buFont typeface="Wingdings" pitchFamily="2" charset="2"/>
              <a:buNone/>
              <a:defRPr/>
            </a:pPr>
            <a:endParaRPr lang="en-US" sz="2350" dirty="0" smtClean="0">
              <a:effectLst>
                <a:outerShdw blurRad="38100" dist="38100" dir="2700000" algn="tl">
                  <a:srgbClr val="000000">
                    <a:alpha val="43137"/>
                  </a:srgbClr>
                </a:outerShdw>
              </a:effectLst>
            </a:endParaRPr>
          </a:p>
        </p:txBody>
      </p:sp>
      <p:graphicFrame>
        <p:nvGraphicFramePr>
          <p:cNvPr id="6" name="5 - Πίνακας"/>
          <p:cNvGraphicFramePr>
            <a:graphicFrameLocks noGrp="1"/>
          </p:cNvGraphicFramePr>
          <p:nvPr/>
        </p:nvGraphicFramePr>
        <p:xfrm>
          <a:off x="0" y="728663"/>
          <a:ext cx="9143999" cy="6129299"/>
        </p:xfrm>
        <a:graphic>
          <a:graphicData uri="http://schemas.openxmlformats.org/drawingml/2006/table">
            <a:tbl>
              <a:tblPr/>
              <a:tblGrid>
                <a:gridCol w="1213805"/>
                <a:gridCol w="1331269"/>
                <a:gridCol w="1291246"/>
                <a:gridCol w="1449605"/>
                <a:gridCol w="1307778"/>
                <a:gridCol w="1282544"/>
                <a:gridCol w="1267752"/>
              </a:tblGrid>
              <a:tr h="255387">
                <a:tc>
                  <a:txBody>
                    <a:bodyPr/>
                    <a:lstStyle/>
                    <a:p>
                      <a:pPr algn="ctr">
                        <a:lnSpc>
                          <a:spcPct val="100000"/>
                        </a:lnSpc>
                        <a:spcAft>
                          <a:spcPts val="0"/>
                        </a:spcAft>
                      </a:pPr>
                      <a:r>
                        <a:rPr lang="el-GR" sz="1600" dirty="0" err="1">
                          <a:solidFill>
                            <a:srgbClr val="FFFF00"/>
                          </a:solidFill>
                          <a:latin typeface="Calibri"/>
                          <a:ea typeface="Calibri"/>
                          <a:cs typeface="Times New Roman"/>
                        </a:rPr>
                        <a:t>Moderator</a:t>
                      </a:r>
                      <a:r>
                        <a:rPr lang="en-US" sz="1600" dirty="0">
                          <a:solidFill>
                            <a:srgbClr val="FFFF00"/>
                          </a:solidFill>
                          <a:latin typeface="Calibri"/>
                          <a:ea typeface="Calibri"/>
                          <a:cs typeface="Times New Roman"/>
                        </a:rPr>
                        <a:t>s</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l-GR" sz="1600" dirty="0">
                          <a:solidFill>
                            <a:srgbClr val="FFFF00"/>
                          </a:solidFill>
                          <a:latin typeface="Calibri"/>
                          <a:ea typeface="Calibri"/>
                          <a:cs typeface="Times New Roman"/>
                        </a:rPr>
                        <a:t>OLS</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l-GR" sz="1600" dirty="0">
                          <a:solidFill>
                            <a:srgbClr val="FFFF00"/>
                          </a:solidFill>
                          <a:latin typeface="Calibri"/>
                          <a:ea typeface="Calibri"/>
                          <a:cs typeface="Times New Roman"/>
                        </a:rPr>
                        <a:t>OLS-</a:t>
                      </a:r>
                      <a:r>
                        <a:rPr lang="el-GR" sz="1600" dirty="0" err="1">
                          <a:solidFill>
                            <a:srgbClr val="FFFF00"/>
                          </a:solidFill>
                          <a:latin typeface="Calibri"/>
                          <a:ea typeface="Calibri"/>
                          <a:cs typeface="Times New Roman"/>
                        </a:rPr>
                        <a:t>cluster</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l-GR" sz="1600" dirty="0">
                          <a:solidFill>
                            <a:srgbClr val="FFFF00"/>
                          </a:solidFill>
                          <a:latin typeface="Calibri"/>
                          <a:ea typeface="Calibri"/>
                          <a:cs typeface="Times New Roman"/>
                        </a:rPr>
                        <a:t>RE</a:t>
                      </a:r>
                      <a:r>
                        <a:rPr lang="en-US" sz="1600" dirty="0">
                          <a:solidFill>
                            <a:srgbClr val="FFFF00"/>
                          </a:solidFill>
                          <a:latin typeface="Calibri"/>
                          <a:ea typeface="Calibri"/>
                          <a:cs typeface="Times New Roman"/>
                        </a:rPr>
                        <a:t>ML</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600" dirty="0">
                          <a:solidFill>
                            <a:srgbClr val="FFFF00"/>
                          </a:solidFill>
                          <a:latin typeface="Calibri"/>
                          <a:ea typeface="Calibri"/>
                          <a:cs typeface="Times New Roman"/>
                        </a:rPr>
                        <a:t>FE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600" dirty="0">
                          <a:solidFill>
                            <a:srgbClr val="FFFF00"/>
                          </a:solidFill>
                          <a:latin typeface="Calibri"/>
                          <a:ea typeface="Calibri"/>
                          <a:cs typeface="Times New Roman"/>
                        </a:rPr>
                        <a:t>WLS</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600" dirty="0">
                          <a:solidFill>
                            <a:srgbClr val="FFFF00"/>
                          </a:solidFill>
                          <a:latin typeface="Calibri"/>
                          <a:ea typeface="Calibri"/>
                          <a:cs typeface="Times New Roman"/>
                        </a:rPr>
                        <a:t>FE-WLS</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dirty="0" err="1">
                          <a:solidFill>
                            <a:srgbClr val="FFFF00"/>
                          </a:solidFill>
                          <a:latin typeface="Calibri"/>
                          <a:ea typeface="Calibri"/>
                          <a:cs typeface="Times New Roman"/>
                        </a:rPr>
                        <a:t>invse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-4.</a:t>
                      </a:r>
                      <a:r>
                        <a:rPr lang="en-US" sz="1600">
                          <a:latin typeface="Calibri"/>
                          <a:ea typeface="Calibri"/>
                          <a:cs typeface="Times New Roman"/>
                        </a:rPr>
                        <a:t>9548</a:t>
                      </a:r>
                      <a:r>
                        <a:rPr lang="el-GR" sz="1600">
                          <a:latin typeface="Calibri"/>
                          <a:ea typeface="Calibri"/>
                          <a:cs typeface="Times New Roman"/>
                        </a:rPr>
                        <a:t>85</a:t>
                      </a:r>
                    </a:p>
                    <a:p>
                      <a:pPr>
                        <a:lnSpc>
                          <a:spcPct val="100000"/>
                        </a:lnSpc>
                        <a:spcAft>
                          <a:spcPts val="0"/>
                        </a:spcAft>
                      </a:pPr>
                      <a:r>
                        <a:rPr lang="el-GR" sz="1600">
                          <a:latin typeface="Calibri"/>
                          <a:ea typeface="Calibri"/>
                          <a:cs typeface="Times New Roman"/>
                        </a:rPr>
                        <a:t>(5.81282)</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-4.</a:t>
                      </a:r>
                      <a:r>
                        <a:rPr lang="en-US" sz="1600" dirty="0">
                          <a:latin typeface="Calibri"/>
                          <a:ea typeface="Calibri"/>
                          <a:cs typeface="Times New Roman"/>
                        </a:rPr>
                        <a:t>75</a:t>
                      </a:r>
                      <a:r>
                        <a:rPr lang="el-GR" sz="1600" dirty="0">
                          <a:latin typeface="Calibri"/>
                          <a:ea typeface="Calibri"/>
                          <a:cs typeface="Times New Roman"/>
                        </a:rPr>
                        <a:t>473***</a:t>
                      </a:r>
                    </a:p>
                    <a:p>
                      <a:pPr>
                        <a:lnSpc>
                          <a:spcPct val="100000"/>
                        </a:lnSpc>
                        <a:spcAft>
                          <a:spcPts val="0"/>
                        </a:spcAft>
                      </a:pPr>
                      <a:r>
                        <a:rPr lang="el-GR" sz="1600" dirty="0">
                          <a:latin typeface="Calibri"/>
                          <a:ea typeface="Calibri"/>
                          <a:cs typeface="Times New Roman"/>
                        </a:rPr>
                        <a:t>(1.131392)</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-38.</a:t>
                      </a:r>
                      <a:r>
                        <a:rPr lang="en-US" sz="1600">
                          <a:latin typeface="Calibri"/>
                          <a:ea typeface="Calibri"/>
                          <a:cs typeface="Times New Roman"/>
                        </a:rPr>
                        <a:t>67</a:t>
                      </a:r>
                      <a:r>
                        <a:rPr lang="el-GR" sz="1600">
                          <a:latin typeface="Calibri"/>
                          <a:ea typeface="Calibri"/>
                          <a:cs typeface="Times New Roman"/>
                        </a:rPr>
                        <a:t>527***</a:t>
                      </a:r>
                    </a:p>
                    <a:p>
                      <a:pPr>
                        <a:lnSpc>
                          <a:spcPct val="100000"/>
                        </a:lnSpc>
                        <a:spcAft>
                          <a:spcPts val="0"/>
                        </a:spcAft>
                      </a:pPr>
                      <a:r>
                        <a:rPr lang="el-GR" sz="1600">
                          <a:latin typeface="Calibri"/>
                          <a:ea typeface="Calibri"/>
                          <a:cs typeface="Times New Roman"/>
                        </a:rPr>
                        <a:t>(11.03288)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-6.</a:t>
                      </a:r>
                      <a:r>
                        <a:rPr lang="en-US" sz="1600">
                          <a:latin typeface="Calibri"/>
                          <a:ea typeface="Calibri"/>
                          <a:cs typeface="Times New Roman"/>
                        </a:rPr>
                        <a:t>521</a:t>
                      </a:r>
                      <a:r>
                        <a:rPr lang="el-GR" sz="1600">
                          <a:latin typeface="Calibri"/>
                          <a:ea typeface="Calibri"/>
                          <a:cs typeface="Times New Roman"/>
                        </a:rPr>
                        <a:t>372***</a:t>
                      </a:r>
                    </a:p>
                    <a:p>
                      <a:pPr>
                        <a:lnSpc>
                          <a:spcPct val="100000"/>
                        </a:lnSpc>
                        <a:spcAft>
                          <a:spcPts val="0"/>
                        </a:spcAft>
                      </a:pPr>
                      <a:r>
                        <a:rPr lang="el-GR" sz="1600">
                          <a:latin typeface="Calibri"/>
                          <a:ea typeface="Calibri"/>
                          <a:cs typeface="Times New Roman"/>
                        </a:rPr>
                        <a:t>(2.00681)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-14</a:t>
                      </a:r>
                      <a:r>
                        <a:rPr lang="en-US" sz="1600">
                          <a:latin typeface="Calibri"/>
                          <a:ea typeface="Calibri"/>
                          <a:cs typeface="Times New Roman"/>
                        </a:rPr>
                        <a:t>4</a:t>
                      </a:r>
                      <a:r>
                        <a:rPr lang="el-GR" sz="1600">
                          <a:latin typeface="Calibri"/>
                          <a:ea typeface="Calibri"/>
                          <a:cs typeface="Times New Roman"/>
                        </a:rPr>
                        <a:t>.</a:t>
                      </a:r>
                      <a:r>
                        <a:rPr lang="en-US" sz="1600">
                          <a:latin typeface="Calibri"/>
                          <a:ea typeface="Calibri"/>
                          <a:cs typeface="Times New Roman"/>
                        </a:rPr>
                        <a:t>245</a:t>
                      </a:r>
                      <a:r>
                        <a:rPr lang="el-GR" sz="1600">
                          <a:latin typeface="Calibri"/>
                          <a:ea typeface="Calibri"/>
                          <a:cs typeface="Times New Roman"/>
                        </a:rPr>
                        <a:t>***</a:t>
                      </a:r>
                    </a:p>
                    <a:p>
                      <a:pPr>
                        <a:lnSpc>
                          <a:spcPct val="100000"/>
                        </a:lnSpc>
                        <a:spcAft>
                          <a:spcPts val="0"/>
                        </a:spcAft>
                      </a:pPr>
                      <a:r>
                        <a:rPr lang="el-GR" sz="1600">
                          <a:latin typeface="Calibri"/>
                          <a:ea typeface="Calibri"/>
                          <a:cs typeface="Times New Roman"/>
                        </a:rPr>
                        <a:t>(26.11726)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-16</a:t>
                      </a:r>
                      <a:r>
                        <a:rPr lang="en-US" sz="1600" dirty="0">
                          <a:latin typeface="Calibri"/>
                          <a:ea typeface="Calibri"/>
                          <a:cs typeface="Times New Roman"/>
                        </a:rPr>
                        <a:t>2</a:t>
                      </a:r>
                      <a:r>
                        <a:rPr lang="el-GR" sz="1600" dirty="0">
                          <a:latin typeface="Calibri"/>
                          <a:ea typeface="Calibri"/>
                          <a:cs typeface="Times New Roman"/>
                        </a:rPr>
                        <a:t>.</a:t>
                      </a:r>
                      <a:r>
                        <a:rPr lang="en-US" sz="1600" dirty="0">
                          <a:latin typeface="Calibri"/>
                          <a:ea typeface="Calibri"/>
                          <a:cs typeface="Times New Roman"/>
                        </a:rPr>
                        <a:t>258</a:t>
                      </a:r>
                      <a:r>
                        <a:rPr lang="el-GR" sz="1600" dirty="0">
                          <a:latin typeface="Calibri"/>
                          <a:ea typeface="Calibri"/>
                          <a:cs typeface="Times New Roman"/>
                        </a:rPr>
                        <a:t>1**</a:t>
                      </a:r>
                    </a:p>
                    <a:p>
                      <a:pPr>
                        <a:lnSpc>
                          <a:spcPct val="100000"/>
                        </a:lnSpc>
                        <a:spcAft>
                          <a:spcPts val="0"/>
                        </a:spcAft>
                      </a:pPr>
                      <a:r>
                        <a:rPr lang="el-GR" sz="1600" dirty="0">
                          <a:latin typeface="Calibri"/>
                          <a:ea typeface="Calibri"/>
                          <a:cs typeface="Times New Roman"/>
                        </a:rPr>
                        <a:t>(69.41389)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dirty="0" err="1">
                          <a:solidFill>
                            <a:srgbClr val="FFFF00"/>
                          </a:solidFill>
                          <a:latin typeface="Calibri"/>
                          <a:ea typeface="Calibri"/>
                          <a:cs typeface="Times New Roman"/>
                        </a:rPr>
                        <a:t>lifexpectancyse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a:t>
                      </a:r>
                      <a:r>
                        <a:rPr lang="en-US" sz="1600">
                          <a:latin typeface="Calibri"/>
                          <a:ea typeface="Calibri"/>
                          <a:cs typeface="Times New Roman"/>
                        </a:rPr>
                        <a:t>57</a:t>
                      </a:r>
                      <a:r>
                        <a:rPr lang="el-GR" sz="1600">
                          <a:latin typeface="Calibri"/>
                          <a:ea typeface="Calibri"/>
                          <a:cs typeface="Times New Roman"/>
                        </a:rPr>
                        <a:t>28103***</a:t>
                      </a:r>
                    </a:p>
                    <a:p>
                      <a:pPr>
                        <a:lnSpc>
                          <a:spcPct val="100000"/>
                        </a:lnSpc>
                        <a:spcAft>
                          <a:spcPts val="0"/>
                        </a:spcAft>
                      </a:pPr>
                      <a:r>
                        <a:rPr lang="el-GR" sz="1600">
                          <a:latin typeface="Calibri"/>
                          <a:ea typeface="Calibri"/>
                          <a:cs typeface="Times New Roman"/>
                        </a:rPr>
                        <a:t>(0.0</a:t>
                      </a:r>
                      <a:r>
                        <a:rPr lang="en-US" sz="1600">
                          <a:latin typeface="Calibri"/>
                          <a:ea typeface="Calibri"/>
                          <a:cs typeface="Times New Roman"/>
                        </a:rPr>
                        <a:t>25</a:t>
                      </a:r>
                      <a:r>
                        <a:rPr lang="el-GR" sz="1600">
                          <a:latin typeface="Calibri"/>
                          <a:ea typeface="Calibri"/>
                          <a:cs typeface="Times New Roman"/>
                        </a:rPr>
                        <a:t>954)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0.5</a:t>
                      </a:r>
                      <a:r>
                        <a:rPr lang="en-US" sz="1600">
                          <a:latin typeface="Calibri"/>
                          <a:ea typeface="Calibri"/>
                          <a:cs typeface="Times New Roman"/>
                        </a:rPr>
                        <a:t>246</a:t>
                      </a:r>
                      <a:r>
                        <a:rPr lang="el-GR" sz="1600">
                          <a:latin typeface="Calibri"/>
                          <a:ea typeface="Calibri"/>
                          <a:cs typeface="Times New Roman"/>
                        </a:rPr>
                        <a:t>986***</a:t>
                      </a:r>
                    </a:p>
                    <a:p>
                      <a:pPr>
                        <a:lnSpc>
                          <a:spcPct val="100000"/>
                        </a:lnSpc>
                        <a:spcAft>
                          <a:spcPts val="0"/>
                        </a:spcAft>
                      </a:pPr>
                      <a:r>
                        <a:rPr lang="el-GR" sz="1600">
                          <a:latin typeface="Calibri"/>
                          <a:ea typeface="Calibri"/>
                          <a:cs typeface="Times New Roman"/>
                        </a:rPr>
                        <a:t>(0.1119178)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0.3</a:t>
                      </a:r>
                      <a:r>
                        <a:rPr lang="en-US" sz="1600">
                          <a:latin typeface="Calibri"/>
                          <a:ea typeface="Calibri"/>
                          <a:cs typeface="Times New Roman"/>
                        </a:rPr>
                        <a:t>785</a:t>
                      </a:r>
                      <a:r>
                        <a:rPr lang="el-GR" sz="1600">
                          <a:latin typeface="Calibri"/>
                          <a:ea typeface="Calibri"/>
                          <a:cs typeface="Times New Roman"/>
                        </a:rPr>
                        <a:t>084***</a:t>
                      </a:r>
                    </a:p>
                    <a:p>
                      <a:pPr>
                        <a:lnSpc>
                          <a:spcPct val="100000"/>
                        </a:lnSpc>
                        <a:spcAft>
                          <a:spcPts val="0"/>
                        </a:spcAft>
                      </a:pPr>
                      <a:r>
                        <a:rPr lang="el-GR" sz="1600">
                          <a:latin typeface="Calibri"/>
                          <a:ea typeface="Calibri"/>
                          <a:cs typeface="Times New Roman"/>
                        </a:rPr>
                        <a:t>(0.0482</a:t>
                      </a:r>
                      <a:r>
                        <a:rPr lang="en-US" sz="1600">
                          <a:latin typeface="Calibri"/>
                          <a:ea typeface="Calibri"/>
                          <a:cs typeface="Times New Roman"/>
                        </a:rPr>
                        <a:t>87</a:t>
                      </a:r>
                      <a:r>
                        <a:rPr lang="el-GR" sz="1600">
                          <a:latin typeface="Calibri"/>
                          <a:ea typeface="Calibri"/>
                          <a:cs typeface="Times New Roman"/>
                        </a:rPr>
                        <a:t>2)</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a:t>
                      </a:r>
                      <a:r>
                        <a:rPr lang="en-US" sz="1600">
                          <a:latin typeface="Calibri"/>
                          <a:ea typeface="Calibri"/>
                          <a:cs typeface="Times New Roman"/>
                        </a:rPr>
                        <a:t>524</a:t>
                      </a:r>
                      <a:r>
                        <a:rPr lang="el-GR" sz="1600">
                          <a:latin typeface="Calibri"/>
                          <a:ea typeface="Calibri"/>
                          <a:cs typeface="Times New Roman"/>
                        </a:rPr>
                        <a:t>8614**</a:t>
                      </a:r>
                    </a:p>
                    <a:p>
                      <a:pPr>
                        <a:lnSpc>
                          <a:spcPct val="100000"/>
                        </a:lnSpc>
                        <a:spcAft>
                          <a:spcPts val="0"/>
                        </a:spcAft>
                      </a:pPr>
                      <a:r>
                        <a:rPr lang="el-GR" sz="1600">
                          <a:latin typeface="Calibri"/>
                          <a:ea typeface="Calibri"/>
                          <a:cs typeface="Times New Roman"/>
                        </a:rPr>
                        <a:t>(0.2292944)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a:t>
                      </a:r>
                      <a:r>
                        <a:rPr lang="en-US" sz="1600">
                          <a:latin typeface="Calibri"/>
                          <a:ea typeface="Calibri"/>
                          <a:cs typeface="Times New Roman"/>
                        </a:rPr>
                        <a:t>256</a:t>
                      </a:r>
                      <a:r>
                        <a:rPr lang="el-GR" sz="1600">
                          <a:latin typeface="Calibri"/>
                          <a:ea typeface="Calibri"/>
                          <a:cs typeface="Times New Roman"/>
                        </a:rPr>
                        <a:t>9807***</a:t>
                      </a:r>
                    </a:p>
                    <a:p>
                      <a:pPr>
                        <a:lnSpc>
                          <a:spcPct val="100000"/>
                        </a:lnSpc>
                        <a:spcAft>
                          <a:spcPts val="0"/>
                        </a:spcAft>
                      </a:pPr>
                      <a:r>
                        <a:rPr lang="el-GR" sz="1600">
                          <a:latin typeface="Calibri"/>
                          <a:ea typeface="Calibri"/>
                          <a:cs typeface="Times New Roman"/>
                        </a:rPr>
                        <a:t>(0.0</a:t>
                      </a:r>
                      <a:r>
                        <a:rPr lang="en-US" sz="1600">
                          <a:latin typeface="Calibri"/>
                          <a:ea typeface="Calibri"/>
                          <a:cs typeface="Times New Roman"/>
                        </a:rPr>
                        <a:t>24</a:t>
                      </a:r>
                      <a:r>
                        <a:rPr lang="el-GR" sz="1600">
                          <a:latin typeface="Calibri"/>
                          <a:ea typeface="Calibri"/>
                          <a:cs typeface="Times New Roman"/>
                        </a:rPr>
                        <a:t>15730)</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a:t>
                      </a:r>
                      <a:r>
                        <a:rPr lang="en-US" sz="1600">
                          <a:latin typeface="Calibri"/>
                          <a:ea typeface="Calibri"/>
                          <a:cs typeface="Times New Roman"/>
                        </a:rPr>
                        <a:t>875</a:t>
                      </a:r>
                      <a:r>
                        <a:rPr lang="el-GR" sz="1600">
                          <a:latin typeface="Calibri"/>
                          <a:ea typeface="Calibri"/>
                          <a:cs typeface="Times New Roman"/>
                        </a:rPr>
                        <a:t>89**</a:t>
                      </a:r>
                    </a:p>
                    <a:p>
                      <a:pPr>
                        <a:lnSpc>
                          <a:spcPct val="100000"/>
                        </a:lnSpc>
                        <a:spcAft>
                          <a:spcPts val="0"/>
                        </a:spcAft>
                      </a:pPr>
                      <a:r>
                        <a:rPr lang="el-GR" sz="1600">
                          <a:latin typeface="Calibri"/>
                          <a:ea typeface="Calibri"/>
                          <a:cs typeface="Times New Roman"/>
                        </a:rPr>
                        <a:t>(0.00</a:t>
                      </a:r>
                      <a:r>
                        <a:rPr lang="en-US" sz="1600">
                          <a:latin typeface="Calibri"/>
                          <a:ea typeface="Calibri"/>
                          <a:cs typeface="Times New Roman"/>
                        </a:rPr>
                        <a:t>35</a:t>
                      </a:r>
                      <a:r>
                        <a:rPr lang="el-GR" sz="1600">
                          <a:latin typeface="Calibri"/>
                          <a:ea typeface="Calibri"/>
                          <a:cs typeface="Times New Roman"/>
                        </a:rPr>
                        <a:t>193)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dirty="0" err="1">
                          <a:solidFill>
                            <a:srgbClr val="FFFF00"/>
                          </a:solidFill>
                          <a:latin typeface="Calibri"/>
                          <a:ea typeface="Calibri"/>
                          <a:cs typeface="Times New Roman"/>
                        </a:rPr>
                        <a:t>asrse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a:t>
                      </a:r>
                      <a:r>
                        <a:rPr lang="en-US" sz="1600">
                          <a:latin typeface="Calibri"/>
                          <a:ea typeface="Calibri"/>
                          <a:cs typeface="Times New Roman"/>
                        </a:rPr>
                        <a:t>60</a:t>
                      </a:r>
                      <a:r>
                        <a:rPr lang="el-GR" sz="1600">
                          <a:latin typeface="Calibri"/>
                          <a:ea typeface="Calibri"/>
                          <a:cs typeface="Times New Roman"/>
                        </a:rPr>
                        <a:t>04023***</a:t>
                      </a:r>
                    </a:p>
                    <a:p>
                      <a:pPr>
                        <a:lnSpc>
                          <a:spcPct val="100000"/>
                        </a:lnSpc>
                        <a:spcAft>
                          <a:spcPts val="0"/>
                        </a:spcAft>
                      </a:pPr>
                      <a:r>
                        <a:rPr lang="el-GR" sz="1600">
                          <a:latin typeface="Calibri"/>
                          <a:ea typeface="Calibri"/>
                          <a:cs typeface="Times New Roman"/>
                        </a:rPr>
                        <a:t>(0.0</a:t>
                      </a:r>
                      <a:r>
                        <a:rPr lang="en-US" sz="1600">
                          <a:latin typeface="Calibri"/>
                          <a:ea typeface="Calibri"/>
                          <a:cs typeface="Times New Roman"/>
                        </a:rPr>
                        <a:t>35</a:t>
                      </a:r>
                      <a:r>
                        <a:rPr lang="el-GR" sz="1600">
                          <a:latin typeface="Calibri"/>
                          <a:ea typeface="Calibri"/>
                          <a:cs typeface="Times New Roman"/>
                        </a:rPr>
                        <a:t>4863)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0.6</a:t>
                      </a:r>
                      <a:r>
                        <a:rPr lang="en-US" sz="1600">
                          <a:latin typeface="Calibri"/>
                          <a:ea typeface="Calibri"/>
                          <a:cs typeface="Times New Roman"/>
                        </a:rPr>
                        <a:t>87</a:t>
                      </a:r>
                      <a:r>
                        <a:rPr lang="el-GR" sz="1600">
                          <a:latin typeface="Calibri"/>
                          <a:ea typeface="Calibri"/>
                          <a:cs typeface="Times New Roman"/>
                        </a:rPr>
                        <a:t>6609***</a:t>
                      </a:r>
                    </a:p>
                    <a:p>
                      <a:pPr>
                        <a:lnSpc>
                          <a:spcPct val="100000"/>
                        </a:lnSpc>
                        <a:spcAft>
                          <a:spcPts val="0"/>
                        </a:spcAft>
                      </a:pPr>
                      <a:r>
                        <a:rPr lang="el-GR" sz="1600">
                          <a:latin typeface="Calibri"/>
                          <a:ea typeface="Calibri"/>
                          <a:cs typeface="Times New Roman"/>
                        </a:rPr>
                        <a:t>(0.1</a:t>
                      </a:r>
                      <a:r>
                        <a:rPr lang="en-US" sz="1600">
                          <a:latin typeface="Calibri"/>
                          <a:ea typeface="Calibri"/>
                          <a:cs typeface="Times New Roman"/>
                        </a:rPr>
                        <a:t>24</a:t>
                      </a:r>
                      <a:r>
                        <a:rPr lang="el-GR" sz="1600">
                          <a:latin typeface="Calibri"/>
                          <a:ea typeface="Calibri"/>
                          <a:cs typeface="Times New Roman"/>
                        </a:rPr>
                        <a:t>8938)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0.4</a:t>
                      </a:r>
                      <a:r>
                        <a:rPr lang="en-US" sz="1600">
                          <a:latin typeface="Calibri"/>
                          <a:ea typeface="Calibri"/>
                          <a:cs typeface="Times New Roman"/>
                        </a:rPr>
                        <a:t>85</a:t>
                      </a:r>
                      <a:r>
                        <a:rPr lang="el-GR" sz="1600">
                          <a:latin typeface="Calibri"/>
                          <a:ea typeface="Calibri"/>
                          <a:cs typeface="Times New Roman"/>
                        </a:rPr>
                        <a:t>7136***</a:t>
                      </a:r>
                    </a:p>
                    <a:p>
                      <a:pPr>
                        <a:lnSpc>
                          <a:spcPct val="100000"/>
                        </a:lnSpc>
                        <a:spcAft>
                          <a:spcPts val="0"/>
                        </a:spcAft>
                      </a:pPr>
                      <a:r>
                        <a:rPr lang="el-GR" sz="1600">
                          <a:latin typeface="Calibri"/>
                          <a:ea typeface="Calibri"/>
                          <a:cs typeface="Times New Roman"/>
                        </a:rPr>
                        <a:t>(0.0</a:t>
                      </a:r>
                      <a:r>
                        <a:rPr lang="en-US" sz="1600">
                          <a:latin typeface="Calibri"/>
                          <a:ea typeface="Calibri"/>
                          <a:cs typeface="Times New Roman"/>
                        </a:rPr>
                        <a:t>81</a:t>
                      </a:r>
                      <a:r>
                        <a:rPr lang="el-GR" sz="1600">
                          <a:latin typeface="Calibri"/>
                          <a:ea typeface="Calibri"/>
                          <a:cs typeface="Times New Roman"/>
                        </a:rPr>
                        <a:t>8584)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0.46</a:t>
                      </a:r>
                      <a:r>
                        <a:rPr lang="en-US" sz="1600">
                          <a:latin typeface="Calibri"/>
                          <a:ea typeface="Calibri"/>
                          <a:cs typeface="Times New Roman"/>
                        </a:rPr>
                        <a:t>78</a:t>
                      </a:r>
                      <a:r>
                        <a:rPr lang="el-GR" sz="1600">
                          <a:latin typeface="Calibri"/>
                          <a:ea typeface="Calibri"/>
                          <a:cs typeface="Times New Roman"/>
                        </a:rPr>
                        <a:t>013**</a:t>
                      </a:r>
                    </a:p>
                    <a:p>
                      <a:pPr>
                        <a:lnSpc>
                          <a:spcPct val="100000"/>
                        </a:lnSpc>
                        <a:spcAft>
                          <a:spcPts val="0"/>
                        </a:spcAft>
                      </a:pPr>
                      <a:r>
                        <a:rPr lang="el-GR" sz="1600">
                          <a:latin typeface="Calibri"/>
                          <a:ea typeface="Calibri"/>
                          <a:cs typeface="Times New Roman"/>
                        </a:rPr>
                        <a:t>(0.02</a:t>
                      </a:r>
                      <a:r>
                        <a:rPr lang="en-US" sz="1600">
                          <a:latin typeface="Calibri"/>
                          <a:ea typeface="Calibri"/>
                          <a:cs typeface="Times New Roman"/>
                        </a:rPr>
                        <a:t>25</a:t>
                      </a:r>
                      <a:r>
                        <a:rPr lang="el-GR" sz="1600">
                          <a:latin typeface="Calibri"/>
                          <a:ea typeface="Calibri"/>
                          <a:cs typeface="Times New Roman"/>
                        </a:rPr>
                        <a:t>3665)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0.28</a:t>
                      </a:r>
                      <a:r>
                        <a:rPr lang="en-US" sz="1600">
                          <a:latin typeface="Calibri"/>
                          <a:ea typeface="Calibri"/>
                          <a:cs typeface="Times New Roman"/>
                        </a:rPr>
                        <a:t>78</a:t>
                      </a:r>
                      <a:r>
                        <a:rPr lang="el-GR" sz="1600">
                          <a:latin typeface="Calibri"/>
                          <a:ea typeface="Calibri"/>
                          <a:cs typeface="Times New Roman"/>
                        </a:rPr>
                        <a:t>495***</a:t>
                      </a:r>
                    </a:p>
                    <a:p>
                      <a:pPr>
                        <a:lnSpc>
                          <a:spcPct val="100000"/>
                        </a:lnSpc>
                        <a:spcAft>
                          <a:spcPts val="0"/>
                        </a:spcAft>
                      </a:pPr>
                      <a:r>
                        <a:rPr lang="el-GR" sz="1600">
                          <a:latin typeface="Calibri"/>
                          <a:ea typeface="Calibri"/>
                          <a:cs typeface="Times New Roman"/>
                        </a:rPr>
                        <a:t>(0.10</a:t>
                      </a:r>
                      <a:r>
                        <a:rPr lang="en-US" sz="1600">
                          <a:latin typeface="Calibri"/>
                          <a:ea typeface="Calibri"/>
                          <a:cs typeface="Times New Roman"/>
                        </a:rPr>
                        <a:t>45</a:t>
                      </a:r>
                      <a:r>
                        <a:rPr lang="el-GR" sz="1600">
                          <a:latin typeface="Calibri"/>
                          <a:ea typeface="Calibri"/>
                          <a:cs typeface="Times New Roman"/>
                        </a:rPr>
                        <a:t>601)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a:solidFill>
                            <a:srgbClr val="FFFF00"/>
                          </a:solidFill>
                          <a:latin typeface="Calibri"/>
                          <a:ea typeface="Calibri"/>
                          <a:cs typeface="Times New Roman"/>
                        </a:rPr>
                        <a:t>mortalityse</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0.4</a:t>
                      </a:r>
                      <a:r>
                        <a:rPr lang="en-US" sz="1600">
                          <a:latin typeface="Calibri"/>
                          <a:ea typeface="Calibri"/>
                          <a:cs typeface="Times New Roman"/>
                        </a:rPr>
                        <a:t>78</a:t>
                      </a:r>
                      <a:r>
                        <a:rPr lang="el-GR" sz="1600">
                          <a:latin typeface="Calibri"/>
                          <a:ea typeface="Calibri"/>
                          <a:cs typeface="Times New Roman"/>
                        </a:rPr>
                        <a:t>6432***</a:t>
                      </a:r>
                    </a:p>
                    <a:p>
                      <a:pPr>
                        <a:lnSpc>
                          <a:spcPct val="100000"/>
                        </a:lnSpc>
                        <a:spcAft>
                          <a:spcPts val="0"/>
                        </a:spcAft>
                      </a:pPr>
                      <a:r>
                        <a:rPr lang="el-GR" sz="1600">
                          <a:latin typeface="Calibri"/>
                          <a:ea typeface="Calibri"/>
                          <a:cs typeface="Times New Roman"/>
                        </a:rPr>
                        <a:t>(0.03</a:t>
                      </a:r>
                      <a:r>
                        <a:rPr lang="en-US" sz="1600">
                          <a:latin typeface="Calibri"/>
                          <a:ea typeface="Calibri"/>
                          <a:cs typeface="Times New Roman"/>
                        </a:rPr>
                        <a:t>78</a:t>
                      </a:r>
                      <a:r>
                        <a:rPr lang="el-GR" sz="1600">
                          <a:latin typeface="Calibri"/>
                          <a:ea typeface="Calibri"/>
                          <a:cs typeface="Times New Roman"/>
                        </a:rPr>
                        <a:t>257)</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0.51</a:t>
                      </a:r>
                      <a:r>
                        <a:rPr lang="en-US" sz="1600">
                          <a:latin typeface="Calibri"/>
                          <a:ea typeface="Calibri"/>
                          <a:cs typeface="Times New Roman"/>
                        </a:rPr>
                        <a:t>74</a:t>
                      </a:r>
                      <a:r>
                        <a:rPr lang="el-GR" sz="1600">
                          <a:latin typeface="Calibri"/>
                          <a:ea typeface="Calibri"/>
                          <a:cs typeface="Times New Roman"/>
                        </a:rPr>
                        <a:t>235***</a:t>
                      </a:r>
                    </a:p>
                    <a:p>
                      <a:pPr>
                        <a:lnSpc>
                          <a:spcPct val="100000"/>
                        </a:lnSpc>
                        <a:spcAft>
                          <a:spcPts val="0"/>
                        </a:spcAft>
                      </a:pPr>
                      <a:r>
                        <a:rPr lang="el-GR" sz="1600">
                          <a:latin typeface="Calibri"/>
                          <a:ea typeface="Calibri"/>
                          <a:cs typeface="Times New Roman"/>
                        </a:rPr>
                        <a:t>(0.11</a:t>
                      </a:r>
                      <a:r>
                        <a:rPr lang="en-US" sz="1600">
                          <a:latin typeface="Calibri"/>
                          <a:ea typeface="Calibri"/>
                          <a:cs typeface="Times New Roman"/>
                        </a:rPr>
                        <a:t>25</a:t>
                      </a:r>
                      <a:r>
                        <a:rPr lang="el-GR" sz="1600">
                          <a:latin typeface="Calibri"/>
                          <a:ea typeface="Calibri"/>
                          <a:cs typeface="Times New Roman"/>
                        </a:rPr>
                        <a:t>756)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0.38</a:t>
                      </a:r>
                      <a:r>
                        <a:rPr lang="en-US" sz="1600">
                          <a:latin typeface="Calibri"/>
                          <a:ea typeface="Calibri"/>
                          <a:cs typeface="Times New Roman"/>
                        </a:rPr>
                        <a:t>25</a:t>
                      </a:r>
                      <a:r>
                        <a:rPr lang="el-GR" sz="1600">
                          <a:latin typeface="Calibri"/>
                          <a:ea typeface="Calibri"/>
                          <a:cs typeface="Times New Roman"/>
                        </a:rPr>
                        <a:t>56***</a:t>
                      </a:r>
                    </a:p>
                    <a:p>
                      <a:pPr>
                        <a:lnSpc>
                          <a:spcPct val="100000"/>
                        </a:lnSpc>
                        <a:spcAft>
                          <a:spcPts val="0"/>
                        </a:spcAft>
                      </a:pPr>
                      <a:r>
                        <a:rPr lang="el-GR" sz="1600">
                          <a:latin typeface="Calibri"/>
                          <a:ea typeface="Calibri"/>
                          <a:cs typeface="Times New Roman"/>
                        </a:rPr>
                        <a:t>(0.0483</a:t>
                      </a:r>
                      <a:r>
                        <a:rPr lang="en-US" sz="1600">
                          <a:latin typeface="Calibri"/>
                          <a:ea typeface="Calibri"/>
                          <a:cs typeface="Times New Roman"/>
                        </a:rPr>
                        <a:t>54</a:t>
                      </a:r>
                      <a:r>
                        <a:rPr lang="el-GR" sz="1600">
                          <a:latin typeface="Calibri"/>
                          <a:ea typeface="Calibri"/>
                          <a:cs typeface="Times New Roman"/>
                        </a:rPr>
                        <a:t>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0.43</a:t>
                      </a:r>
                      <a:r>
                        <a:rPr lang="en-US" sz="1600">
                          <a:latin typeface="Calibri"/>
                          <a:ea typeface="Calibri"/>
                          <a:cs typeface="Times New Roman"/>
                        </a:rPr>
                        <a:t>87</a:t>
                      </a:r>
                      <a:r>
                        <a:rPr lang="el-GR" sz="1600">
                          <a:latin typeface="Calibri"/>
                          <a:ea typeface="Calibri"/>
                          <a:cs typeface="Times New Roman"/>
                        </a:rPr>
                        <a:t>827*</a:t>
                      </a:r>
                    </a:p>
                    <a:p>
                      <a:pPr>
                        <a:lnSpc>
                          <a:spcPct val="100000"/>
                        </a:lnSpc>
                        <a:spcAft>
                          <a:spcPts val="0"/>
                        </a:spcAft>
                      </a:pPr>
                      <a:r>
                        <a:rPr lang="el-GR" sz="1600">
                          <a:latin typeface="Calibri"/>
                          <a:ea typeface="Calibri"/>
                          <a:cs typeface="Times New Roman"/>
                        </a:rPr>
                        <a:t>(0.23</a:t>
                      </a:r>
                      <a:r>
                        <a:rPr lang="en-US" sz="1600">
                          <a:latin typeface="Calibri"/>
                          <a:ea typeface="Calibri"/>
                          <a:cs typeface="Times New Roman"/>
                        </a:rPr>
                        <a:t>21</a:t>
                      </a:r>
                      <a:r>
                        <a:rPr lang="el-GR" sz="1600">
                          <a:latin typeface="Calibri"/>
                          <a:ea typeface="Calibri"/>
                          <a:cs typeface="Times New Roman"/>
                        </a:rPr>
                        <a:t>043)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0.26</a:t>
                      </a:r>
                      <a:r>
                        <a:rPr lang="en-US" sz="1600">
                          <a:latin typeface="Calibri"/>
                          <a:ea typeface="Calibri"/>
                          <a:cs typeface="Times New Roman"/>
                        </a:rPr>
                        <a:t>52</a:t>
                      </a:r>
                      <a:r>
                        <a:rPr lang="el-GR" sz="1600">
                          <a:latin typeface="Calibri"/>
                          <a:ea typeface="Calibri"/>
                          <a:cs typeface="Times New Roman"/>
                        </a:rPr>
                        <a:t>95***</a:t>
                      </a:r>
                    </a:p>
                    <a:p>
                      <a:pPr>
                        <a:lnSpc>
                          <a:spcPct val="100000"/>
                        </a:lnSpc>
                        <a:spcAft>
                          <a:spcPts val="0"/>
                        </a:spcAft>
                      </a:pPr>
                      <a:r>
                        <a:rPr lang="el-GR" sz="1600">
                          <a:latin typeface="Calibri"/>
                          <a:ea typeface="Calibri"/>
                          <a:cs typeface="Times New Roman"/>
                        </a:rPr>
                        <a:t>(0.05</a:t>
                      </a:r>
                      <a:r>
                        <a:rPr lang="en-US" sz="1600">
                          <a:latin typeface="Calibri"/>
                          <a:ea typeface="Calibri"/>
                          <a:cs typeface="Times New Roman"/>
                        </a:rPr>
                        <a:t>58</a:t>
                      </a:r>
                      <a:r>
                        <a:rPr lang="el-GR" sz="1600">
                          <a:latin typeface="Calibri"/>
                          <a:ea typeface="Calibri"/>
                          <a:cs typeface="Times New Roman"/>
                        </a:rPr>
                        <a:t>326)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0.004</a:t>
                      </a:r>
                      <a:r>
                        <a:rPr lang="en-US" sz="1600">
                          <a:latin typeface="Calibri"/>
                          <a:ea typeface="Calibri"/>
                          <a:cs typeface="Times New Roman"/>
                        </a:rPr>
                        <a:t>78</a:t>
                      </a:r>
                      <a:r>
                        <a:rPr lang="el-GR" sz="1600">
                          <a:latin typeface="Calibri"/>
                          <a:ea typeface="Calibri"/>
                          <a:cs typeface="Times New Roman"/>
                        </a:rPr>
                        <a:t>96***</a:t>
                      </a:r>
                    </a:p>
                    <a:p>
                      <a:pPr>
                        <a:lnSpc>
                          <a:spcPct val="100000"/>
                        </a:lnSpc>
                        <a:spcAft>
                          <a:spcPts val="0"/>
                        </a:spcAft>
                      </a:pPr>
                      <a:r>
                        <a:rPr lang="el-GR" sz="1600">
                          <a:latin typeface="Calibri"/>
                          <a:ea typeface="Calibri"/>
                          <a:cs typeface="Times New Roman"/>
                        </a:rPr>
                        <a:t>(0.001</a:t>
                      </a:r>
                      <a:r>
                        <a:rPr lang="en-US" sz="1600">
                          <a:latin typeface="Calibri"/>
                          <a:ea typeface="Calibri"/>
                          <a:cs typeface="Times New Roman"/>
                        </a:rPr>
                        <a:t>25</a:t>
                      </a:r>
                      <a:r>
                        <a:rPr lang="el-GR" sz="1600">
                          <a:latin typeface="Calibri"/>
                          <a:ea typeface="Calibri"/>
                          <a:cs typeface="Times New Roman"/>
                        </a:rPr>
                        <a:t>25)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dirty="0" err="1">
                          <a:solidFill>
                            <a:srgbClr val="FFFF00"/>
                          </a:solidFill>
                          <a:latin typeface="Calibri"/>
                          <a:ea typeface="Calibri"/>
                          <a:cs typeface="Times New Roman"/>
                        </a:rPr>
                        <a:t>healthexpendse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0.45</a:t>
                      </a:r>
                      <a:r>
                        <a:rPr lang="en-US" sz="1600">
                          <a:latin typeface="Calibri"/>
                          <a:ea typeface="Calibri"/>
                          <a:cs typeface="Times New Roman"/>
                        </a:rPr>
                        <a:t>54</a:t>
                      </a:r>
                      <a:r>
                        <a:rPr lang="el-GR" sz="1600">
                          <a:latin typeface="Calibri"/>
                          <a:ea typeface="Calibri"/>
                          <a:cs typeface="Times New Roman"/>
                        </a:rPr>
                        <a:t>834***</a:t>
                      </a:r>
                    </a:p>
                    <a:p>
                      <a:pPr>
                        <a:lnSpc>
                          <a:spcPct val="100000"/>
                        </a:lnSpc>
                        <a:spcAft>
                          <a:spcPts val="0"/>
                        </a:spcAft>
                      </a:pPr>
                      <a:r>
                        <a:rPr lang="el-GR" sz="1600">
                          <a:latin typeface="Calibri"/>
                          <a:ea typeface="Calibri"/>
                          <a:cs typeface="Times New Roman"/>
                        </a:rPr>
                        <a:t>(0.0360014)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0.51</a:t>
                      </a:r>
                      <a:r>
                        <a:rPr lang="en-US" sz="1600">
                          <a:latin typeface="Calibri"/>
                          <a:ea typeface="Calibri"/>
                          <a:cs typeface="Times New Roman"/>
                        </a:rPr>
                        <a:t>85</a:t>
                      </a:r>
                      <a:r>
                        <a:rPr lang="el-GR" sz="1600">
                          <a:latin typeface="Calibri"/>
                          <a:ea typeface="Calibri"/>
                          <a:cs typeface="Times New Roman"/>
                        </a:rPr>
                        <a:t>342***</a:t>
                      </a:r>
                    </a:p>
                    <a:p>
                      <a:pPr>
                        <a:lnSpc>
                          <a:spcPct val="100000"/>
                        </a:lnSpc>
                        <a:spcAft>
                          <a:spcPts val="0"/>
                        </a:spcAft>
                      </a:pPr>
                      <a:r>
                        <a:rPr lang="el-GR" sz="1600">
                          <a:latin typeface="Calibri"/>
                          <a:ea typeface="Calibri"/>
                          <a:cs typeface="Times New Roman"/>
                        </a:rPr>
                        <a:t>(0.1134509)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600">
                          <a:latin typeface="Calibri"/>
                          <a:ea typeface="Calibri"/>
                          <a:cs typeface="Times New Roman"/>
                        </a:rPr>
                        <a:t>0</a:t>
                      </a:r>
                      <a:r>
                        <a:rPr lang="el-GR" sz="1600">
                          <a:latin typeface="Calibri"/>
                          <a:ea typeface="Calibri"/>
                          <a:cs typeface="Times New Roman"/>
                        </a:rPr>
                        <a:t>.3</a:t>
                      </a:r>
                      <a:r>
                        <a:rPr lang="en-US" sz="1600">
                          <a:latin typeface="Calibri"/>
                          <a:ea typeface="Calibri"/>
                          <a:cs typeface="Times New Roman"/>
                        </a:rPr>
                        <a:t>75</a:t>
                      </a:r>
                      <a:r>
                        <a:rPr lang="el-GR" sz="1600">
                          <a:latin typeface="Calibri"/>
                          <a:ea typeface="Calibri"/>
                          <a:cs typeface="Times New Roman"/>
                        </a:rPr>
                        <a:t>58***</a:t>
                      </a:r>
                    </a:p>
                    <a:p>
                      <a:pPr>
                        <a:lnSpc>
                          <a:spcPct val="100000"/>
                        </a:lnSpc>
                        <a:spcAft>
                          <a:spcPts val="0"/>
                        </a:spcAft>
                      </a:pPr>
                      <a:r>
                        <a:rPr lang="el-GR" sz="1600">
                          <a:latin typeface="Calibri"/>
                          <a:ea typeface="Calibri"/>
                          <a:cs typeface="Times New Roman"/>
                        </a:rPr>
                        <a:t>(0.0482951)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0.435</a:t>
                      </a:r>
                      <a:r>
                        <a:rPr lang="en-US" sz="1600">
                          <a:latin typeface="Calibri"/>
                          <a:ea typeface="Calibri"/>
                          <a:cs typeface="Times New Roman"/>
                        </a:rPr>
                        <a:t>58</a:t>
                      </a:r>
                      <a:r>
                        <a:rPr lang="el-GR" sz="1600">
                          <a:latin typeface="Calibri"/>
                          <a:ea typeface="Calibri"/>
                          <a:cs typeface="Times New Roman"/>
                        </a:rPr>
                        <a:t>75*</a:t>
                      </a:r>
                    </a:p>
                    <a:p>
                      <a:pPr>
                        <a:lnSpc>
                          <a:spcPct val="100000"/>
                        </a:lnSpc>
                        <a:spcAft>
                          <a:spcPts val="0"/>
                        </a:spcAft>
                      </a:pPr>
                      <a:r>
                        <a:rPr lang="el-GR" sz="1600">
                          <a:latin typeface="Calibri"/>
                          <a:ea typeface="Calibri"/>
                          <a:cs typeface="Times New Roman"/>
                        </a:rPr>
                        <a:t>(0.2311656)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0.25</a:t>
                      </a:r>
                      <a:r>
                        <a:rPr lang="en-US" sz="1600">
                          <a:latin typeface="Calibri"/>
                          <a:ea typeface="Calibri"/>
                          <a:cs typeface="Times New Roman"/>
                        </a:rPr>
                        <a:t>52</a:t>
                      </a:r>
                      <a:r>
                        <a:rPr lang="el-GR" sz="1600">
                          <a:latin typeface="Calibri"/>
                          <a:ea typeface="Calibri"/>
                          <a:cs typeface="Times New Roman"/>
                        </a:rPr>
                        <a:t>161***</a:t>
                      </a:r>
                    </a:p>
                    <a:p>
                      <a:pPr>
                        <a:lnSpc>
                          <a:spcPct val="100000"/>
                        </a:lnSpc>
                        <a:spcAft>
                          <a:spcPts val="0"/>
                        </a:spcAft>
                      </a:pPr>
                      <a:r>
                        <a:rPr lang="el-GR" sz="1600">
                          <a:latin typeface="Calibri"/>
                          <a:ea typeface="Calibri"/>
                          <a:cs typeface="Times New Roman"/>
                        </a:rPr>
                        <a:t>(0.050</a:t>
                      </a:r>
                      <a:r>
                        <a:rPr lang="en-US" sz="1600">
                          <a:latin typeface="Calibri"/>
                          <a:ea typeface="Calibri"/>
                          <a:cs typeface="Times New Roman"/>
                        </a:rPr>
                        <a:t>58</a:t>
                      </a:r>
                      <a:r>
                        <a:rPr lang="el-GR" sz="1600">
                          <a:latin typeface="Calibri"/>
                          <a:ea typeface="Calibri"/>
                          <a:cs typeface="Times New Roman"/>
                        </a:rPr>
                        <a:t>99)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dirty="0" err="1">
                          <a:solidFill>
                            <a:srgbClr val="FFFF00"/>
                          </a:solidFill>
                          <a:latin typeface="Calibri"/>
                          <a:ea typeface="Calibri"/>
                          <a:cs typeface="Times New Roman"/>
                        </a:rPr>
                        <a:t>pcapitalse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0.11</a:t>
                      </a:r>
                      <a:r>
                        <a:rPr lang="en-US" sz="1600">
                          <a:latin typeface="Calibri"/>
                          <a:ea typeface="Calibri"/>
                          <a:cs typeface="Times New Roman"/>
                        </a:rPr>
                        <a:t>87</a:t>
                      </a:r>
                      <a:r>
                        <a:rPr lang="el-GR" sz="1600">
                          <a:latin typeface="Calibri"/>
                          <a:ea typeface="Calibri"/>
                          <a:cs typeface="Times New Roman"/>
                        </a:rPr>
                        <a:t>521**</a:t>
                      </a:r>
                    </a:p>
                    <a:p>
                      <a:pPr>
                        <a:lnSpc>
                          <a:spcPct val="100000"/>
                        </a:lnSpc>
                        <a:spcAft>
                          <a:spcPts val="0"/>
                        </a:spcAft>
                      </a:pPr>
                      <a:r>
                        <a:rPr lang="el-GR" sz="1600">
                          <a:latin typeface="Calibri"/>
                          <a:ea typeface="Calibri"/>
                          <a:cs typeface="Times New Roman"/>
                        </a:rPr>
                        <a:t>(0.059</a:t>
                      </a:r>
                      <a:r>
                        <a:rPr lang="en-US" sz="1600">
                          <a:latin typeface="Calibri"/>
                          <a:ea typeface="Calibri"/>
                          <a:cs typeface="Times New Roman"/>
                        </a:rPr>
                        <a:t>78</a:t>
                      </a:r>
                      <a:r>
                        <a:rPr lang="el-GR" sz="1600">
                          <a:latin typeface="Calibri"/>
                          <a:ea typeface="Calibri"/>
                          <a:cs typeface="Times New Roman"/>
                        </a:rPr>
                        <a:t>31)  </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dirty="0" err="1">
                          <a:solidFill>
                            <a:srgbClr val="FFFF00"/>
                          </a:solidFill>
                          <a:latin typeface="Calibri"/>
                          <a:ea typeface="Calibri"/>
                          <a:cs typeface="Times New Roman"/>
                        </a:rPr>
                        <a:t>politicalse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-0.0962391*</a:t>
                      </a:r>
                    </a:p>
                    <a:p>
                      <a:pPr>
                        <a:lnSpc>
                          <a:spcPct val="100000"/>
                        </a:lnSpc>
                        <a:spcAft>
                          <a:spcPts val="0"/>
                        </a:spcAft>
                      </a:pPr>
                      <a:r>
                        <a:rPr lang="el-GR" sz="1600">
                          <a:latin typeface="Calibri"/>
                          <a:ea typeface="Calibri"/>
                          <a:cs typeface="Times New Roman"/>
                        </a:rPr>
                        <a:t>(0.0580775)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-0.0725786*</a:t>
                      </a:r>
                    </a:p>
                    <a:p>
                      <a:pPr>
                        <a:lnSpc>
                          <a:spcPct val="100000"/>
                        </a:lnSpc>
                        <a:spcAft>
                          <a:spcPts val="0"/>
                        </a:spcAft>
                      </a:pPr>
                      <a:r>
                        <a:rPr lang="el-GR" sz="1600">
                          <a:latin typeface="Calibri"/>
                          <a:ea typeface="Calibri"/>
                          <a:cs typeface="Times New Roman"/>
                        </a:rPr>
                        <a:t>(0.0413745)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-0.1140728**</a:t>
                      </a:r>
                    </a:p>
                    <a:p>
                      <a:pPr>
                        <a:lnSpc>
                          <a:spcPct val="100000"/>
                        </a:lnSpc>
                        <a:spcAft>
                          <a:spcPts val="0"/>
                        </a:spcAft>
                      </a:pPr>
                      <a:r>
                        <a:rPr lang="el-GR" sz="1600">
                          <a:latin typeface="Calibri"/>
                          <a:ea typeface="Calibri"/>
                          <a:cs typeface="Times New Roman"/>
                        </a:rPr>
                        <a:t>(0.0553672)</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dirty="0" err="1">
                          <a:solidFill>
                            <a:srgbClr val="FFFF00"/>
                          </a:solidFill>
                          <a:latin typeface="Calibri"/>
                          <a:ea typeface="Calibri"/>
                          <a:cs typeface="Times New Roman"/>
                        </a:rPr>
                        <a:t>fiscalse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0.1527059***</a:t>
                      </a:r>
                    </a:p>
                    <a:p>
                      <a:pPr>
                        <a:lnSpc>
                          <a:spcPct val="100000"/>
                        </a:lnSpc>
                        <a:spcAft>
                          <a:spcPts val="0"/>
                        </a:spcAft>
                      </a:pPr>
                      <a:r>
                        <a:rPr lang="el-GR" sz="1600">
                          <a:latin typeface="Calibri"/>
                          <a:ea typeface="Calibri"/>
                          <a:cs typeface="Times New Roman"/>
                        </a:rPr>
                        <a:t>(0.0437664)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0.0814832*</a:t>
                      </a:r>
                    </a:p>
                    <a:p>
                      <a:pPr>
                        <a:lnSpc>
                          <a:spcPct val="100000"/>
                        </a:lnSpc>
                        <a:spcAft>
                          <a:spcPts val="0"/>
                        </a:spcAft>
                      </a:pPr>
                      <a:r>
                        <a:rPr lang="el-GR" sz="1600">
                          <a:latin typeface="Calibri"/>
                          <a:ea typeface="Calibri"/>
                          <a:cs typeface="Times New Roman"/>
                        </a:rPr>
                        <a:t>(0.0420769)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55387">
                <a:tc>
                  <a:txBody>
                    <a:bodyPr/>
                    <a:lstStyle/>
                    <a:p>
                      <a:pPr>
                        <a:lnSpc>
                          <a:spcPct val="100000"/>
                        </a:lnSpc>
                        <a:spcAft>
                          <a:spcPts val="0"/>
                        </a:spcAft>
                      </a:pPr>
                      <a:r>
                        <a:rPr lang="el-GR" sz="1600" dirty="0" err="1">
                          <a:solidFill>
                            <a:srgbClr val="FFFF00"/>
                          </a:solidFill>
                          <a:latin typeface="Calibri"/>
                          <a:ea typeface="Calibri"/>
                          <a:cs typeface="Times New Roman"/>
                        </a:rPr>
                        <a:t>demogse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dirty="0" err="1">
                          <a:solidFill>
                            <a:srgbClr val="FFFF00"/>
                          </a:solidFill>
                          <a:latin typeface="Calibri"/>
                          <a:ea typeface="Calibri"/>
                          <a:cs typeface="Times New Roman"/>
                        </a:rPr>
                        <a:t>pcgdpse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0.1109274***</a:t>
                      </a:r>
                    </a:p>
                    <a:p>
                      <a:pPr>
                        <a:lnSpc>
                          <a:spcPct val="100000"/>
                        </a:lnSpc>
                        <a:spcAft>
                          <a:spcPts val="0"/>
                        </a:spcAft>
                      </a:pPr>
                      <a:r>
                        <a:rPr lang="el-GR" sz="1600">
                          <a:latin typeface="Calibri"/>
                          <a:ea typeface="Calibri"/>
                          <a:cs typeface="Times New Roman"/>
                        </a:rPr>
                        <a:t>(0.0300665)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0.1543276**</a:t>
                      </a:r>
                    </a:p>
                    <a:p>
                      <a:pPr>
                        <a:lnSpc>
                          <a:spcPct val="100000"/>
                        </a:lnSpc>
                        <a:spcAft>
                          <a:spcPts val="0"/>
                        </a:spcAft>
                      </a:pPr>
                      <a:r>
                        <a:rPr lang="el-GR" sz="1600">
                          <a:latin typeface="Calibri"/>
                          <a:ea typeface="Calibri"/>
                          <a:cs typeface="Times New Roman"/>
                        </a:rPr>
                        <a:t>(0.0564921)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0.0634092*</a:t>
                      </a:r>
                    </a:p>
                    <a:p>
                      <a:pPr>
                        <a:lnSpc>
                          <a:spcPct val="100000"/>
                        </a:lnSpc>
                        <a:spcAft>
                          <a:spcPts val="0"/>
                        </a:spcAft>
                      </a:pPr>
                      <a:r>
                        <a:rPr lang="el-GR" sz="1600">
                          <a:latin typeface="Calibri"/>
                          <a:ea typeface="Calibri"/>
                          <a:cs typeface="Times New Roman"/>
                        </a:rPr>
                        <a:t>(0.0351573)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0.059688**</a:t>
                      </a:r>
                    </a:p>
                    <a:p>
                      <a:pPr>
                        <a:lnSpc>
                          <a:spcPct val="100000"/>
                        </a:lnSpc>
                        <a:spcAft>
                          <a:spcPts val="0"/>
                        </a:spcAft>
                      </a:pPr>
                      <a:r>
                        <a:rPr lang="el-GR" sz="1600">
                          <a:latin typeface="Calibri"/>
                          <a:ea typeface="Calibri"/>
                          <a:cs typeface="Times New Roman"/>
                        </a:rPr>
                        <a:t>(0.024953)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dirty="0" err="1">
                          <a:solidFill>
                            <a:srgbClr val="FFFF00"/>
                          </a:solidFill>
                          <a:latin typeface="Calibri"/>
                          <a:ea typeface="Calibri"/>
                          <a:cs typeface="Times New Roman"/>
                        </a:rPr>
                        <a:t>openessse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0.0168764*</a:t>
                      </a:r>
                    </a:p>
                    <a:p>
                      <a:pPr>
                        <a:lnSpc>
                          <a:spcPct val="100000"/>
                        </a:lnSpc>
                        <a:spcAft>
                          <a:spcPts val="0"/>
                        </a:spcAft>
                      </a:pPr>
                      <a:r>
                        <a:rPr lang="el-GR" sz="1600">
                          <a:latin typeface="Calibri"/>
                          <a:ea typeface="Calibri"/>
                          <a:cs typeface="Times New Roman"/>
                        </a:rPr>
                        <a:t>(0.0090839)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10775">
                <a:tc>
                  <a:txBody>
                    <a:bodyPr/>
                    <a:lstStyle/>
                    <a:p>
                      <a:pPr>
                        <a:lnSpc>
                          <a:spcPct val="100000"/>
                        </a:lnSpc>
                        <a:spcAft>
                          <a:spcPts val="0"/>
                        </a:spcAft>
                      </a:pPr>
                      <a:r>
                        <a:rPr lang="el-GR" sz="1600" dirty="0" err="1">
                          <a:solidFill>
                            <a:srgbClr val="FFFF00"/>
                          </a:solidFill>
                          <a:latin typeface="Calibri"/>
                          <a:ea typeface="Calibri"/>
                          <a:cs typeface="Times New Roman"/>
                        </a:rPr>
                        <a:t>schoolingse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-0.00661672**</a:t>
                      </a:r>
                    </a:p>
                    <a:p>
                      <a:pPr>
                        <a:lnSpc>
                          <a:spcPct val="100000"/>
                        </a:lnSpc>
                        <a:spcAft>
                          <a:spcPts val="0"/>
                        </a:spcAft>
                      </a:pPr>
                      <a:r>
                        <a:rPr lang="el-GR" sz="1600">
                          <a:latin typeface="Calibri"/>
                          <a:ea typeface="Calibri"/>
                          <a:cs typeface="Times New Roman"/>
                        </a:rPr>
                        <a:t>(0.0333537)</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-0.01704737***</a:t>
                      </a:r>
                    </a:p>
                    <a:p>
                      <a:pPr>
                        <a:lnSpc>
                          <a:spcPct val="100000"/>
                        </a:lnSpc>
                        <a:spcAft>
                          <a:spcPts val="0"/>
                        </a:spcAft>
                      </a:pPr>
                      <a:r>
                        <a:rPr lang="el-GR" sz="1600" dirty="0">
                          <a:latin typeface="Calibri"/>
                          <a:ea typeface="Calibri"/>
                          <a:cs typeface="Times New Roman"/>
                        </a:rPr>
                        <a:t>(0.0435144)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a:t>
                      </a:r>
                      <a:r>
                        <a:rPr lang="el-GR" sz="1600" dirty="0" smtClean="0">
                          <a:latin typeface="Calibri"/>
                          <a:ea typeface="Calibri"/>
                          <a:cs typeface="Times New Roman"/>
                        </a:rPr>
                        <a:t>0.014747</a:t>
                      </a:r>
                      <a:r>
                        <a:rPr lang="en-US" sz="1600" dirty="0" smtClean="0">
                          <a:latin typeface="Calibri"/>
                          <a:ea typeface="Calibri"/>
                          <a:cs typeface="Times New Roman"/>
                        </a:rPr>
                        <a:t>5</a:t>
                      </a:r>
                      <a:r>
                        <a:rPr lang="el-GR" sz="1600" dirty="0" smtClean="0">
                          <a:latin typeface="Calibri"/>
                          <a:ea typeface="Calibri"/>
                          <a:cs typeface="Times New Roman"/>
                        </a:rPr>
                        <a:t>**</a:t>
                      </a:r>
                      <a:endParaRPr lang="el-GR" sz="1600" dirty="0">
                        <a:latin typeface="Calibri"/>
                        <a:ea typeface="Calibri"/>
                        <a:cs typeface="Times New Roman"/>
                      </a:endParaRPr>
                    </a:p>
                    <a:p>
                      <a:pPr>
                        <a:lnSpc>
                          <a:spcPct val="100000"/>
                        </a:lnSpc>
                        <a:spcAft>
                          <a:spcPts val="0"/>
                        </a:spcAft>
                      </a:pPr>
                      <a:r>
                        <a:rPr lang="el-GR" sz="1600" dirty="0">
                          <a:latin typeface="Calibri"/>
                          <a:ea typeface="Calibri"/>
                          <a:cs typeface="Times New Roman"/>
                        </a:rPr>
                        <a:t>(0.0720169)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a:t>
                      </a:r>
                      <a:r>
                        <a:rPr lang="el-GR" sz="1600" dirty="0" smtClean="0">
                          <a:latin typeface="Calibri"/>
                          <a:ea typeface="Calibri"/>
                          <a:cs typeface="Times New Roman"/>
                        </a:rPr>
                        <a:t>0.15793</a:t>
                      </a:r>
                      <a:r>
                        <a:rPr lang="en-US" sz="1600" dirty="0" smtClean="0">
                          <a:latin typeface="Calibri"/>
                          <a:ea typeface="Calibri"/>
                          <a:cs typeface="Times New Roman"/>
                        </a:rPr>
                        <a:t>2</a:t>
                      </a:r>
                      <a:r>
                        <a:rPr lang="el-GR" sz="1600" dirty="0" smtClean="0">
                          <a:latin typeface="Calibri"/>
                          <a:ea typeface="Calibri"/>
                          <a:cs typeface="Times New Roman"/>
                        </a:rPr>
                        <a:t>***</a:t>
                      </a:r>
                      <a:endParaRPr lang="el-GR" sz="1600" dirty="0">
                        <a:latin typeface="Calibri"/>
                        <a:ea typeface="Calibri"/>
                        <a:cs typeface="Times New Roman"/>
                      </a:endParaRPr>
                    </a:p>
                    <a:p>
                      <a:pPr>
                        <a:lnSpc>
                          <a:spcPct val="100000"/>
                        </a:lnSpc>
                        <a:spcAft>
                          <a:spcPts val="0"/>
                        </a:spcAft>
                      </a:pPr>
                      <a:r>
                        <a:rPr lang="el-GR" sz="1600" dirty="0">
                          <a:latin typeface="Calibri"/>
                          <a:ea typeface="Calibri"/>
                          <a:cs typeface="Times New Roman"/>
                        </a:rPr>
                        <a:t>(0.0420475)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a:t>
                      </a:r>
                      <a:r>
                        <a:rPr lang="el-GR" sz="1600" dirty="0" smtClean="0">
                          <a:latin typeface="Calibri"/>
                          <a:ea typeface="Calibri"/>
                          <a:cs typeface="Times New Roman"/>
                        </a:rPr>
                        <a:t>0.20794</a:t>
                      </a:r>
                      <a:r>
                        <a:rPr lang="en-US" sz="1600" dirty="0" smtClean="0">
                          <a:latin typeface="Calibri"/>
                          <a:ea typeface="Calibri"/>
                          <a:cs typeface="Times New Roman"/>
                        </a:rPr>
                        <a:t>1</a:t>
                      </a:r>
                      <a:r>
                        <a:rPr lang="el-GR" sz="1600" dirty="0" smtClean="0">
                          <a:latin typeface="Calibri"/>
                          <a:ea typeface="Calibri"/>
                          <a:cs typeface="Times New Roman"/>
                        </a:rPr>
                        <a:t>***</a:t>
                      </a:r>
                      <a:endParaRPr lang="el-GR" sz="1600" dirty="0">
                        <a:latin typeface="Calibri"/>
                        <a:ea typeface="Calibri"/>
                        <a:cs typeface="Times New Roman"/>
                      </a:endParaRPr>
                    </a:p>
                    <a:p>
                      <a:pPr>
                        <a:lnSpc>
                          <a:spcPct val="100000"/>
                        </a:lnSpc>
                        <a:spcAft>
                          <a:spcPts val="0"/>
                        </a:spcAft>
                      </a:pPr>
                      <a:r>
                        <a:rPr lang="el-GR" sz="1600" dirty="0">
                          <a:latin typeface="Calibri"/>
                          <a:ea typeface="Calibri"/>
                          <a:cs typeface="Times New Roman"/>
                        </a:rPr>
                        <a:t>(0.0581286)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2" name="Rectangle 6"/>
          <p:cNvSpPr>
            <a:spLocks noGrp="1" noChangeArrowheads="1"/>
          </p:cNvSpPr>
          <p:nvPr>
            <p:ph type="body" idx="1"/>
          </p:nvPr>
        </p:nvSpPr>
        <p:spPr>
          <a:xfrm>
            <a:off x="0" y="0"/>
            <a:ext cx="9124950" cy="6858000"/>
          </a:xfrm>
        </p:spPr>
        <p:txBody>
          <a:bodyPr/>
          <a:lstStyle/>
          <a:p>
            <a:pPr algn="ctr" eaLnBrk="1" hangingPunct="1">
              <a:lnSpc>
                <a:spcPct val="90000"/>
              </a:lnSpc>
              <a:buFont typeface="Wingdings" pitchFamily="2" charset="2"/>
              <a:buNone/>
              <a:defRPr/>
            </a:pPr>
            <a:endParaRPr lang="en-GB" sz="2400" dirty="0" smtClean="0"/>
          </a:p>
          <a:p>
            <a:pPr algn="just" eaLnBrk="1" hangingPunct="1">
              <a:lnSpc>
                <a:spcPct val="90000"/>
              </a:lnSpc>
              <a:buFont typeface="Wingdings" pitchFamily="2" charset="2"/>
              <a:buNone/>
              <a:defRPr/>
            </a:pPr>
            <a:endParaRPr lang="en-US" sz="2350" dirty="0" smtClean="0">
              <a:effectLst>
                <a:outerShdw blurRad="38100" dist="38100" dir="2700000" algn="tl">
                  <a:srgbClr val="000000">
                    <a:alpha val="43137"/>
                  </a:srgbClr>
                </a:outerShdw>
              </a:effectLst>
            </a:endParaRPr>
          </a:p>
        </p:txBody>
      </p:sp>
      <p:graphicFrame>
        <p:nvGraphicFramePr>
          <p:cNvPr id="4" name="3 - Πίνακας"/>
          <p:cNvGraphicFramePr>
            <a:graphicFrameLocks noGrp="1"/>
          </p:cNvGraphicFramePr>
          <p:nvPr/>
        </p:nvGraphicFramePr>
        <p:xfrm>
          <a:off x="0" y="0"/>
          <a:ext cx="9143999" cy="6857999"/>
        </p:xfrm>
        <a:graphic>
          <a:graphicData uri="http://schemas.openxmlformats.org/drawingml/2006/table">
            <a:tbl>
              <a:tblPr/>
              <a:tblGrid>
                <a:gridCol w="1213805"/>
                <a:gridCol w="1331269"/>
                <a:gridCol w="1291246"/>
                <a:gridCol w="1449605"/>
                <a:gridCol w="1307778"/>
                <a:gridCol w="1282544"/>
                <a:gridCol w="1267752"/>
              </a:tblGrid>
              <a:tr h="244929">
                <a:tc>
                  <a:txBody>
                    <a:bodyPr/>
                    <a:lstStyle/>
                    <a:p>
                      <a:pPr algn="ctr">
                        <a:lnSpc>
                          <a:spcPct val="100000"/>
                        </a:lnSpc>
                        <a:spcAft>
                          <a:spcPts val="0"/>
                        </a:spcAft>
                      </a:pPr>
                      <a:r>
                        <a:rPr lang="el-GR" sz="1600" dirty="0" err="1">
                          <a:solidFill>
                            <a:srgbClr val="FFFF00"/>
                          </a:solidFill>
                          <a:latin typeface="Calibri"/>
                          <a:ea typeface="Calibri"/>
                          <a:cs typeface="Times New Roman"/>
                        </a:rPr>
                        <a:t>Moderator</a:t>
                      </a:r>
                      <a:r>
                        <a:rPr lang="en-US" sz="1600" dirty="0">
                          <a:solidFill>
                            <a:srgbClr val="FFFF00"/>
                          </a:solidFill>
                          <a:latin typeface="Calibri"/>
                          <a:ea typeface="Calibri"/>
                          <a:cs typeface="Times New Roman"/>
                        </a:rPr>
                        <a:t>s</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l-GR" sz="1600" dirty="0">
                          <a:solidFill>
                            <a:srgbClr val="FFFF00"/>
                          </a:solidFill>
                          <a:latin typeface="Calibri"/>
                          <a:ea typeface="Calibri"/>
                          <a:cs typeface="Times New Roman"/>
                        </a:rPr>
                        <a:t>OLS</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l-GR" sz="1600">
                          <a:solidFill>
                            <a:srgbClr val="FFFF00"/>
                          </a:solidFill>
                          <a:latin typeface="Calibri"/>
                          <a:ea typeface="Calibri"/>
                          <a:cs typeface="Times New Roman"/>
                        </a:rPr>
                        <a:t>OLS-cluster</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l-GR" sz="1600" dirty="0">
                          <a:solidFill>
                            <a:srgbClr val="FFFF00"/>
                          </a:solidFill>
                          <a:latin typeface="Calibri"/>
                          <a:ea typeface="Calibri"/>
                          <a:cs typeface="Times New Roman"/>
                        </a:rPr>
                        <a:t>RE</a:t>
                      </a:r>
                      <a:r>
                        <a:rPr lang="en-US" sz="1600" dirty="0">
                          <a:solidFill>
                            <a:srgbClr val="FFFF00"/>
                          </a:solidFill>
                          <a:latin typeface="Calibri"/>
                          <a:ea typeface="Calibri"/>
                          <a:cs typeface="Times New Roman"/>
                        </a:rPr>
                        <a:t>ML</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600" dirty="0">
                          <a:solidFill>
                            <a:srgbClr val="FFFF00"/>
                          </a:solidFill>
                          <a:latin typeface="Calibri"/>
                          <a:ea typeface="Calibri"/>
                          <a:cs typeface="Times New Roman"/>
                        </a:rPr>
                        <a:t>FE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600" dirty="0">
                          <a:solidFill>
                            <a:srgbClr val="FFFF00"/>
                          </a:solidFill>
                          <a:latin typeface="Calibri"/>
                          <a:ea typeface="Calibri"/>
                          <a:cs typeface="Times New Roman"/>
                        </a:rPr>
                        <a:t>WLS</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spcAft>
                          <a:spcPts val="0"/>
                        </a:spcAft>
                      </a:pPr>
                      <a:r>
                        <a:rPr lang="en-US" sz="1600" dirty="0">
                          <a:solidFill>
                            <a:srgbClr val="FFFF00"/>
                          </a:solidFill>
                          <a:latin typeface="Calibri"/>
                          <a:ea typeface="Calibri"/>
                          <a:cs typeface="Times New Roman"/>
                        </a:rPr>
                        <a:t>FE-WLS</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loghealthse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0.0853329***</a:t>
                      </a:r>
                    </a:p>
                    <a:p>
                      <a:pPr>
                        <a:lnSpc>
                          <a:spcPct val="100000"/>
                        </a:lnSpc>
                        <a:spcAft>
                          <a:spcPts val="0"/>
                        </a:spcAft>
                      </a:pPr>
                      <a:r>
                        <a:rPr lang="el-GR" sz="1600" dirty="0">
                          <a:latin typeface="Calibri"/>
                          <a:ea typeface="Calibri"/>
                          <a:cs typeface="Times New Roman"/>
                        </a:rPr>
                        <a:t>(0.0288474)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0.3804074***</a:t>
                      </a:r>
                    </a:p>
                    <a:p>
                      <a:pPr>
                        <a:lnSpc>
                          <a:spcPct val="100000"/>
                        </a:lnSpc>
                        <a:spcAft>
                          <a:spcPts val="0"/>
                        </a:spcAft>
                      </a:pPr>
                      <a:r>
                        <a:rPr lang="el-GR" sz="1600">
                          <a:latin typeface="Calibri"/>
                          <a:ea typeface="Calibri"/>
                          <a:cs typeface="Times New Roman"/>
                        </a:rPr>
                        <a:t>(0.0496019)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0.2622761**</a:t>
                      </a:r>
                    </a:p>
                    <a:p>
                      <a:pPr>
                        <a:lnSpc>
                          <a:spcPct val="100000"/>
                        </a:lnSpc>
                        <a:spcAft>
                          <a:spcPts val="0"/>
                        </a:spcAft>
                      </a:pPr>
                      <a:r>
                        <a:rPr lang="el-GR" sz="1600">
                          <a:latin typeface="Calibri"/>
                          <a:ea typeface="Calibri"/>
                          <a:cs typeface="Times New Roman"/>
                        </a:rPr>
                        <a:t>(0.1263145)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0.6536539***</a:t>
                      </a:r>
                    </a:p>
                    <a:p>
                      <a:pPr>
                        <a:lnSpc>
                          <a:spcPct val="100000"/>
                        </a:lnSpc>
                        <a:spcAft>
                          <a:spcPts val="0"/>
                        </a:spcAft>
                      </a:pPr>
                      <a:r>
                        <a:rPr lang="el-GR" sz="1600">
                          <a:latin typeface="Calibri"/>
                          <a:ea typeface="Calibri"/>
                          <a:cs typeface="Times New Roman"/>
                        </a:rPr>
                        <a:t>(0.0522448)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0.6496928***</a:t>
                      </a:r>
                    </a:p>
                    <a:p>
                      <a:pPr>
                        <a:lnSpc>
                          <a:spcPct val="100000"/>
                        </a:lnSpc>
                        <a:spcAft>
                          <a:spcPts val="0"/>
                        </a:spcAft>
                      </a:pPr>
                      <a:r>
                        <a:rPr lang="el-GR" sz="1600">
                          <a:latin typeface="Calibri"/>
                          <a:ea typeface="Calibri"/>
                          <a:cs typeface="Times New Roman"/>
                        </a:rPr>
                        <a:t>(0.0997399)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loggdpse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0.0566082**</a:t>
                      </a:r>
                    </a:p>
                    <a:p>
                      <a:pPr>
                        <a:lnSpc>
                          <a:spcPct val="100000"/>
                        </a:lnSpc>
                        <a:spcAft>
                          <a:spcPts val="0"/>
                        </a:spcAft>
                      </a:pPr>
                      <a:r>
                        <a:rPr lang="el-GR" sz="1600">
                          <a:latin typeface="Calibri"/>
                          <a:ea typeface="Calibri"/>
                          <a:cs typeface="Times New Roman"/>
                        </a:rPr>
                        <a:t>(0.0265359)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600">
                          <a:latin typeface="Calibri"/>
                          <a:ea typeface="Calibri"/>
                          <a:cs typeface="Times New Roman"/>
                        </a:rPr>
                        <a:t>0</a:t>
                      </a:r>
                      <a:r>
                        <a:rPr lang="el-GR" sz="1600">
                          <a:latin typeface="Calibri"/>
                          <a:ea typeface="Calibri"/>
                          <a:cs typeface="Times New Roman"/>
                        </a:rPr>
                        <a:t>.0840303*</a:t>
                      </a:r>
                    </a:p>
                    <a:p>
                      <a:pPr>
                        <a:lnSpc>
                          <a:spcPct val="100000"/>
                        </a:lnSpc>
                        <a:spcAft>
                          <a:spcPts val="0"/>
                        </a:spcAft>
                      </a:pPr>
                      <a:r>
                        <a:rPr lang="el-GR" sz="1600">
                          <a:latin typeface="Calibri"/>
                          <a:ea typeface="Calibri"/>
                          <a:cs typeface="Times New Roman"/>
                        </a:rPr>
                        <a:t>(0.043673)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-0.0567871*</a:t>
                      </a:r>
                    </a:p>
                    <a:p>
                      <a:pPr>
                        <a:lnSpc>
                          <a:spcPct val="100000"/>
                        </a:lnSpc>
                        <a:spcAft>
                          <a:spcPts val="0"/>
                        </a:spcAft>
                      </a:pPr>
                      <a:r>
                        <a:rPr lang="el-GR" sz="1600">
                          <a:latin typeface="Calibri"/>
                          <a:ea typeface="Calibri"/>
                          <a:cs typeface="Times New Roman"/>
                        </a:rPr>
                        <a:t>(0.031742)</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-0.0559627*</a:t>
                      </a:r>
                    </a:p>
                    <a:p>
                      <a:pPr>
                        <a:lnSpc>
                          <a:spcPct val="100000"/>
                        </a:lnSpc>
                        <a:spcAft>
                          <a:spcPts val="0"/>
                        </a:spcAft>
                      </a:pPr>
                      <a:r>
                        <a:rPr lang="el-GR" sz="1600">
                          <a:latin typeface="Calibri"/>
                          <a:ea typeface="Calibri"/>
                          <a:cs typeface="Times New Roman"/>
                        </a:rPr>
                        <a:t>(0.031624)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publicse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-0.218693***</a:t>
                      </a:r>
                    </a:p>
                    <a:p>
                      <a:pPr>
                        <a:lnSpc>
                          <a:spcPct val="100000"/>
                        </a:lnSpc>
                        <a:spcAft>
                          <a:spcPts val="0"/>
                        </a:spcAft>
                      </a:pPr>
                      <a:r>
                        <a:rPr lang="el-GR" sz="1600">
                          <a:latin typeface="Calibri"/>
                          <a:ea typeface="Calibri"/>
                          <a:cs typeface="Times New Roman"/>
                        </a:rPr>
                        <a:t>(0.053403)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-0.130664**</a:t>
                      </a:r>
                    </a:p>
                    <a:p>
                      <a:pPr>
                        <a:lnSpc>
                          <a:spcPct val="100000"/>
                        </a:lnSpc>
                        <a:spcAft>
                          <a:spcPts val="0"/>
                        </a:spcAft>
                      </a:pPr>
                      <a:r>
                        <a:rPr lang="el-GR" sz="1600">
                          <a:latin typeface="Calibri"/>
                          <a:ea typeface="Calibri"/>
                          <a:cs typeface="Times New Roman"/>
                        </a:rPr>
                        <a:t>(0.0598798)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-1.285459***</a:t>
                      </a:r>
                    </a:p>
                    <a:p>
                      <a:pPr>
                        <a:lnSpc>
                          <a:spcPct val="100000"/>
                        </a:lnSpc>
                        <a:spcAft>
                          <a:spcPts val="0"/>
                        </a:spcAft>
                      </a:pPr>
                      <a:r>
                        <a:rPr lang="el-GR" sz="1600">
                          <a:latin typeface="Calibri"/>
                          <a:ea typeface="Calibri"/>
                          <a:cs typeface="Times New Roman"/>
                        </a:rPr>
                        <a:t>(0.1025633)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-1.487794***</a:t>
                      </a:r>
                    </a:p>
                    <a:p>
                      <a:pPr>
                        <a:lnSpc>
                          <a:spcPct val="100000"/>
                        </a:lnSpc>
                        <a:spcAft>
                          <a:spcPts val="0"/>
                        </a:spcAft>
                      </a:pPr>
                      <a:r>
                        <a:rPr lang="el-GR" sz="1600">
                          <a:latin typeface="Calibri"/>
                          <a:ea typeface="Calibri"/>
                          <a:cs typeface="Times New Roman"/>
                        </a:rPr>
                        <a:t>(0.3016201)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earlyyearse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0.0017318***</a:t>
                      </a:r>
                    </a:p>
                    <a:p>
                      <a:pPr>
                        <a:lnSpc>
                          <a:spcPct val="100000"/>
                        </a:lnSpc>
                        <a:spcAft>
                          <a:spcPts val="0"/>
                        </a:spcAft>
                      </a:pPr>
                      <a:r>
                        <a:rPr lang="el-GR" sz="1600">
                          <a:latin typeface="Calibri"/>
                          <a:ea typeface="Calibri"/>
                          <a:cs typeface="Times New Roman"/>
                        </a:rPr>
                        <a:t>(0.0003361)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0.0023478***</a:t>
                      </a:r>
                    </a:p>
                    <a:p>
                      <a:pPr>
                        <a:lnSpc>
                          <a:spcPct val="100000"/>
                        </a:lnSpc>
                        <a:spcAft>
                          <a:spcPts val="0"/>
                        </a:spcAft>
                      </a:pPr>
                      <a:r>
                        <a:rPr lang="el-GR" sz="1600">
                          <a:latin typeface="Calibri"/>
                          <a:ea typeface="Calibri"/>
                          <a:cs typeface="Times New Roman"/>
                        </a:rPr>
                        <a:t>(0.0005704)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0.0020655**</a:t>
                      </a:r>
                    </a:p>
                    <a:p>
                      <a:pPr>
                        <a:lnSpc>
                          <a:spcPct val="100000"/>
                        </a:lnSpc>
                        <a:spcAft>
                          <a:spcPts val="0"/>
                        </a:spcAft>
                      </a:pPr>
                      <a:r>
                        <a:rPr lang="el-GR" sz="1600">
                          <a:latin typeface="Calibri"/>
                          <a:ea typeface="Calibri"/>
                          <a:cs typeface="Times New Roman"/>
                        </a:rPr>
                        <a:t>(0.00086)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0.0034352***</a:t>
                      </a:r>
                    </a:p>
                    <a:p>
                      <a:pPr>
                        <a:lnSpc>
                          <a:spcPct val="100000"/>
                        </a:lnSpc>
                        <a:spcAft>
                          <a:spcPts val="0"/>
                        </a:spcAft>
                      </a:pPr>
                      <a:r>
                        <a:rPr lang="el-GR" sz="1600">
                          <a:latin typeface="Calibri"/>
                          <a:ea typeface="Calibri"/>
                          <a:cs typeface="Times New Roman"/>
                        </a:rPr>
                        <a:t>(0.0009158)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0.0050321***</a:t>
                      </a:r>
                    </a:p>
                    <a:p>
                      <a:pPr>
                        <a:lnSpc>
                          <a:spcPct val="100000"/>
                        </a:lnSpc>
                        <a:spcAft>
                          <a:spcPts val="0"/>
                        </a:spcAft>
                      </a:pPr>
                      <a:r>
                        <a:rPr lang="el-GR" sz="1600">
                          <a:latin typeface="Calibri"/>
                          <a:ea typeface="Calibri"/>
                          <a:cs typeface="Times New Roman"/>
                        </a:rPr>
                        <a:t>(0.0010224)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0.0066438***</a:t>
                      </a:r>
                    </a:p>
                    <a:p>
                      <a:pPr>
                        <a:lnSpc>
                          <a:spcPct val="100000"/>
                        </a:lnSpc>
                        <a:spcAft>
                          <a:spcPts val="0"/>
                        </a:spcAft>
                      </a:pPr>
                      <a:r>
                        <a:rPr lang="el-GR" sz="1600">
                          <a:latin typeface="Calibri"/>
                          <a:ea typeface="Calibri"/>
                          <a:cs typeface="Times New Roman"/>
                        </a:rPr>
                        <a:t>(0.0017439)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lastyearse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-0.0098592**</a:t>
                      </a:r>
                    </a:p>
                    <a:p>
                      <a:pPr>
                        <a:lnSpc>
                          <a:spcPct val="100000"/>
                        </a:lnSpc>
                        <a:spcAft>
                          <a:spcPts val="0"/>
                        </a:spcAft>
                      </a:pPr>
                      <a:r>
                        <a:rPr lang="el-GR" sz="1600">
                          <a:latin typeface="Calibri"/>
                          <a:ea typeface="Calibri"/>
                          <a:cs typeface="Times New Roman"/>
                        </a:rPr>
                        <a:t>(0.0039211)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obsse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0.0005302***</a:t>
                      </a:r>
                    </a:p>
                    <a:p>
                      <a:pPr>
                        <a:lnSpc>
                          <a:spcPct val="100000"/>
                        </a:lnSpc>
                        <a:spcAft>
                          <a:spcPts val="0"/>
                        </a:spcAft>
                      </a:pPr>
                      <a:r>
                        <a:rPr lang="el-GR" sz="1600">
                          <a:latin typeface="Calibri"/>
                          <a:ea typeface="Calibri"/>
                          <a:cs typeface="Times New Roman"/>
                        </a:rPr>
                        <a:t>(0.0000812)</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0.0004833***</a:t>
                      </a:r>
                    </a:p>
                    <a:p>
                      <a:pPr>
                        <a:lnSpc>
                          <a:spcPct val="100000"/>
                        </a:lnSpc>
                        <a:spcAft>
                          <a:spcPts val="0"/>
                        </a:spcAft>
                      </a:pPr>
                      <a:r>
                        <a:rPr lang="el-GR" sz="1600">
                          <a:latin typeface="Calibri"/>
                          <a:ea typeface="Calibri"/>
                          <a:cs typeface="Times New Roman"/>
                        </a:rPr>
                        <a:t>(0.0000625)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0.000717***</a:t>
                      </a:r>
                    </a:p>
                    <a:p>
                      <a:pPr>
                        <a:lnSpc>
                          <a:spcPct val="100000"/>
                        </a:lnSpc>
                        <a:spcAft>
                          <a:spcPts val="0"/>
                        </a:spcAft>
                      </a:pPr>
                      <a:r>
                        <a:rPr lang="el-GR" sz="1600">
                          <a:latin typeface="Calibri"/>
                          <a:ea typeface="Calibri"/>
                          <a:cs typeface="Times New Roman"/>
                        </a:rPr>
                        <a:t>(0.0000836)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0.0005416***</a:t>
                      </a:r>
                    </a:p>
                    <a:p>
                      <a:pPr>
                        <a:lnSpc>
                          <a:spcPct val="100000"/>
                        </a:lnSpc>
                        <a:spcAft>
                          <a:spcPts val="0"/>
                        </a:spcAft>
                      </a:pPr>
                      <a:r>
                        <a:rPr lang="el-GR" sz="1600">
                          <a:latin typeface="Calibri"/>
                          <a:ea typeface="Calibri"/>
                          <a:cs typeface="Times New Roman"/>
                        </a:rPr>
                        <a:t>(0.0000815)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n-US" sz="1600" dirty="0" smtClean="0">
                          <a:solidFill>
                            <a:srgbClr val="FFFF00"/>
                          </a:solidFill>
                          <a:latin typeface="Calibri"/>
                          <a:ea typeface="Calibri"/>
                          <a:cs typeface="Times New Roman"/>
                        </a:rPr>
                        <a:t>I</a:t>
                      </a:r>
                      <a:r>
                        <a:rPr lang="el-GR" sz="1600" dirty="0" err="1" smtClean="0">
                          <a:solidFill>
                            <a:srgbClr val="FFFF00"/>
                          </a:solidFill>
                          <a:latin typeface="Calibri"/>
                          <a:ea typeface="Calibri"/>
                          <a:cs typeface="Times New Roman"/>
                        </a:rPr>
                        <a:t>ndependent</a:t>
                      </a:r>
                      <a:endParaRPr lang="en-US" sz="1600" dirty="0" smtClean="0">
                        <a:solidFill>
                          <a:srgbClr val="FFFF00"/>
                        </a:solidFill>
                        <a:latin typeface="Calibri"/>
                        <a:ea typeface="Calibri"/>
                        <a:cs typeface="Times New Roman"/>
                      </a:endParaRPr>
                    </a:p>
                    <a:p>
                      <a:pPr>
                        <a:lnSpc>
                          <a:spcPct val="100000"/>
                        </a:lnSpc>
                        <a:spcAft>
                          <a:spcPts val="0"/>
                        </a:spcAft>
                      </a:pPr>
                      <a:r>
                        <a:rPr lang="el-GR" sz="1600" dirty="0" err="1" smtClean="0">
                          <a:solidFill>
                            <a:srgbClr val="FFFF00"/>
                          </a:solidFill>
                          <a:latin typeface="Calibri"/>
                          <a:ea typeface="Calibri"/>
                          <a:cs typeface="Times New Roman"/>
                        </a:rPr>
                        <a:t>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0.0281693***</a:t>
                      </a:r>
                    </a:p>
                    <a:p>
                      <a:pPr>
                        <a:lnSpc>
                          <a:spcPct val="100000"/>
                        </a:lnSpc>
                        <a:spcAft>
                          <a:spcPts val="0"/>
                        </a:spcAft>
                      </a:pPr>
                      <a:r>
                        <a:rPr lang="el-GR" sz="1600">
                          <a:latin typeface="Calibri"/>
                          <a:ea typeface="Calibri"/>
                          <a:cs typeface="Times New Roman"/>
                        </a:rPr>
                        <a:t>(0.0043363)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0.020515***</a:t>
                      </a:r>
                    </a:p>
                    <a:p>
                      <a:pPr>
                        <a:lnSpc>
                          <a:spcPct val="100000"/>
                        </a:lnSpc>
                        <a:spcAft>
                          <a:spcPts val="0"/>
                        </a:spcAft>
                      </a:pPr>
                      <a:r>
                        <a:rPr lang="el-GR" sz="1600">
                          <a:latin typeface="Calibri"/>
                          <a:ea typeface="Calibri"/>
                          <a:cs typeface="Times New Roman"/>
                        </a:rPr>
                        <a:t>(0.0052838)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0.0268547*</a:t>
                      </a:r>
                    </a:p>
                    <a:p>
                      <a:pPr>
                        <a:lnSpc>
                          <a:spcPct val="100000"/>
                        </a:lnSpc>
                        <a:spcAft>
                          <a:spcPts val="0"/>
                        </a:spcAft>
                      </a:pPr>
                      <a:r>
                        <a:rPr lang="el-GR" sz="1600">
                          <a:latin typeface="Calibri"/>
                          <a:ea typeface="Calibri"/>
                          <a:cs typeface="Times New Roman"/>
                        </a:rPr>
                        <a:t>(0.0148301)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0.0145058**</a:t>
                      </a:r>
                    </a:p>
                    <a:p>
                      <a:pPr>
                        <a:lnSpc>
                          <a:spcPct val="100000"/>
                        </a:lnSpc>
                        <a:spcAft>
                          <a:spcPts val="0"/>
                        </a:spcAft>
                      </a:pPr>
                      <a:r>
                        <a:rPr lang="el-GR" sz="1600">
                          <a:latin typeface="Calibri"/>
                          <a:ea typeface="Calibri"/>
                          <a:cs typeface="Times New Roman"/>
                        </a:rPr>
                        <a:t>(0.0057576)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0.0208934*</a:t>
                      </a:r>
                    </a:p>
                    <a:p>
                      <a:pPr>
                        <a:lnSpc>
                          <a:spcPct val="100000"/>
                        </a:lnSpc>
                        <a:spcAft>
                          <a:spcPts val="0"/>
                        </a:spcAft>
                      </a:pPr>
                      <a:r>
                        <a:rPr lang="el-GR" sz="1600">
                          <a:latin typeface="Calibri"/>
                          <a:ea typeface="Calibri"/>
                          <a:cs typeface="Times New Roman"/>
                        </a:rPr>
                        <a:t>(0.0104596)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olsse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0.0881661***</a:t>
                      </a:r>
                    </a:p>
                    <a:p>
                      <a:pPr>
                        <a:lnSpc>
                          <a:spcPct val="100000"/>
                        </a:lnSpc>
                        <a:spcAft>
                          <a:spcPts val="0"/>
                        </a:spcAft>
                      </a:pPr>
                      <a:r>
                        <a:rPr lang="el-GR" sz="1600">
                          <a:latin typeface="Calibri"/>
                          <a:ea typeface="Calibri"/>
                          <a:cs typeface="Times New Roman"/>
                        </a:rPr>
                        <a:t>(0.0260463)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0.1123361***</a:t>
                      </a:r>
                    </a:p>
                    <a:p>
                      <a:pPr>
                        <a:lnSpc>
                          <a:spcPct val="100000"/>
                        </a:lnSpc>
                        <a:spcAft>
                          <a:spcPts val="0"/>
                        </a:spcAft>
                      </a:pPr>
                      <a:r>
                        <a:rPr lang="el-GR" sz="1600">
                          <a:latin typeface="Calibri"/>
                          <a:ea typeface="Calibri"/>
                          <a:cs typeface="Times New Roman"/>
                        </a:rPr>
                        <a:t>(0.0272101)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600">
                          <a:latin typeface="Calibri"/>
                          <a:ea typeface="Calibri"/>
                          <a:cs typeface="Times New Roman"/>
                        </a:rPr>
                        <a:t>0</a:t>
                      </a:r>
                      <a:r>
                        <a:rPr lang="el-GR" sz="1600">
                          <a:latin typeface="Calibri"/>
                          <a:ea typeface="Calibri"/>
                          <a:cs typeface="Times New Roman"/>
                        </a:rPr>
                        <a:t>.1251389***</a:t>
                      </a:r>
                    </a:p>
                    <a:p>
                      <a:pPr>
                        <a:lnSpc>
                          <a:spcPct val="100000"/>
                        </a:lnSpc>
                        <a:spcAft>
                          <a:spcPts val="0"/>
                        </a:spcAft>
                      </a:pPr>
                      <a:r>
                        <a:rPr lang="el-GR" sz="1600">
                          <a:latin typeface="Calibri"/>
                          <a:ea typeface="Calibri"/>
                          <a:cs typeface="Times New Roman"/>
                        </a:rPr>
                        <a:t>(0.0242303)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n-US" sz="1600" dirty="0" smtClean="0">
                          <a:latin typeface="Calibri"/>
                          <a:ea typeface="Calibri"/>
                          <a:cs typeface="Times New Roman"/>
                        </a:rPr>
                        <a:t>0</a:t>
                      </a:r>
                      <a:r>
                        <a:rPr lang="el-GR" sz="1600" dirty="0" smtClean="0">
                          <a:latin typeface="Calibri"/>
                          <a:ea typeface="Calibri"/>
                          <a:cs typeface="Times New Roman"/>
                        </a:rPr>
                        <a:t>.1498104</a:t>
                      </a:r>
                      <a:r>
                        <a:rPr lang="el-GR" sz="1600" dirty="0">
                          <a:latin typeface="Calibri"/>
                          <a:ea typeface="Calibri"/>
                          <a:cs typeface="Times New Roman"/>
                        </a:rPr>
                        <a:t>**</a:t>
                      </a:r>
                    </a:p>
                    <a:p>
                      <a:pPr>
                        <a:lnSpc>
                          <a:spcPct val="100000"/>
                        </a:lnSpc>
                        <a:spcAft>
                          <a:spcPts val="0"/>
                        </a:spcAft>
                      </a:pPr>
                      <a:r>
                        <a:rPr lang="el-GR" sz="1600" dirty="0">
                          <a:latin typeface="Calibri"/>
                          <a:ea typeface="Calibri"/>
                          <a:cs typeface="Times New Roman"/>
                        </a:rPr>
                        <a:t>(0.0560428)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ivse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0.0797895***</a:t>
                      </a:r>
                    </a:p>
                    <a:p>
                      <a:pPr>
                        <a:lnSpc>
                          <a:spcPct val="100000"/>
                        </a:lnSpc>
                        <a:spcAft>
                          <a:spcPts val="0"/>
                        </a:spcAft>
                      </a:pPr>
                      <a:r>
                        <a:rPr lang="el-GR" sz="1600">
                          <a:latin typeface="Calibri"/>
                          <a:ea typeface="Calibri"/>
                          <a:cs typeface="Times New Roman"/>
                        </a:rPr>
                        <a:t>(0.0258407)</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0.0772722***</a:t>
                      </a:r>
                    </a:p>
                    <a:p>
                      <a:pPr>
                        <a:lnSpc>
                          <a:spcPct val="100000"/>
                        </a:lnSpc>
                        <a:spcAft>
                          <a:spcPts val="0"/>
                        </a:spcAft>
                      </a:pPr>
                      <a:r>
                        <a:rPr lang="el-GR" sz="1600">
                          <a:latin typeface="Calibri"/>
                          <a:ea typeface="Calibri"/>
                          <a:cs typeface="Times New Roman"/>
                        </a:rPr>
                        <a:t>(0.0270671)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0.0871327***</a:t>
                      </a:r>
                    </a:p>
                    <a:p>
                      <a:pPr>
                        <a:lnSpc>
                          <a:spcPct val="100000"/>
                        </a:lnSpc>
                        <a:spcAft>
                          <a:spcPts val="0"/>
                        </a:spcAft>
                      </a:pPr>
                      <a:r>
                        <a:rPr lang="el-GR" sz="1600">
                          <a:latin typeface="Calibri"/>
                          <a:ea typeface="Calibri"/>
                          <a:cs typeface="Times New Roman"/>
                        </a:rPr>
                        <a:t>(0.0257016)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0.1161138**</a:t>
                      </a:r>
                    </a:p>
                    <a:p>
                      <a:pPr>
                        <a:lnSpc>
                          <a:spcPct val="100000"/>
                        </a:lnSpc>
                        <a:spcAft>
                          <a:spcPts val="0"/>
                        </a:spcAft>
                      </a:pPr>
                      <a:r>
                        <a:rPr lang="el-GR" sz="1600">
                          <a:latin typeface="Calibri"/>
                          <a:ea typeface="Calibri"/>
                          <a:cs typeface="Times New Roman"/>
                        </a:rPr>
                        <a:t>(0.0522497)</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panelse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-0.0870967***</a:t>
                      </a:r>
                    </a:p>
                    <a:p>
                      <a:pPr>
                        <a:lnSpc>
                          <a:spcPct val="100000"/>
                        </a:lnSpc>
                        <a:spcAft>
                          <a:spcPts val="0"/>
                        </a:spcAft>
                      </a:pPr>
                      <a:r>
                        <a:rPr lang="el-GR" sz="1600">
                          <a:latin typeface="Calibri"/>
                          <a:ea typeface="Calibri"/>
                          <a:cs typeface="Times New Roman"/>
                        </a:rPr>
                        <a:t>(0.0262189)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a:t>
                      </a:r>
                      <a:r>
                        <a:rPr lang="el-GR" sz="1600" dirty="0" smtClean="0">
                          <a:latin typeface="Calibri"/>
                          <a:ea typeface="Calibri"/>
                          <a:cs typeface="Times New Roman"/>
                        </a:rPr>
                        <a:t>0.102632***</a:t>
                      </a:r>
                      <a:endParaRPr lang="el-GR" sz="1600" dirty="0">
                        <a:latin typeface="Calibri"/>
                        <a:ea typeface="Calibri"/>
                        <a:cs typeface="Times New Roman"/>
                      </a:endParaRPr>
                    </a:p>
                    <a:p>
                      <a:pPr>
                        <a:lnSpc>
                          <a:spcPct val="100000"/>
                        </a:lnSpc>
                        <a:spcAft>
                          <a:spcPts val="0"/>
                        </a:spcAft>
                      </a:pPr>
                      <a:r>
                        <a:rPr lang="el-GR" sz="1600" dirty="0">
                          <a:latin typeface="Calibri"/>
                          <a:ea typeface="Calibri"/>
                          <a:cs typeface="Times New Roman"/>
                        </a:rPr>
                        <a:t>(0.0320081)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0.0639528*</a:t>
                      </a:r>
                    </a:p>
                    <a:p>
                      <a:pPr>
                        <a:lnSpc>
                          <a:spcPct val="100000"/>
                        </a:lnSpc>
                        <a:spcAft>
                          <a:spcPts val="0"/>
                        </a:spcAft>
                      </a:pPr>
                      <a:r>
                        <a:rPr lang="el-GR" sz="1600">
                          <a:latin typeface="Calibri"/>
                          <a:ea typeface="Calibri"/>
                          <a:cs typeface="Times New Roman"/>
                        </a:rPr>
                        <a:t>(0.0365299)</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0.1726486***</a:t>
                      </a:r>
                    </a:p>
                    <a:p>
                      <a:pPr>
                        <a:lnSpc>
                          <a:spcPct val="100000"/>
                        </a:lnSpc>
                        <a:spcAft>
                          <a:spcPts val="0"/>
                        </a:spcAft>
                      </a:pPr>
                      <a:r>
                        <a:rPr lang="el-GR" sz="1600">
                          <a:latin typeface="Calibri"/>
                          <a:ea typeface="Calibri"/>
                          <a:cs typeface="Times New Roman"/>
                        </a:rPr>
                        <a:t>(0.0354127)</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0.1701726***</a:t>
                      </a:r>
                    </a:p>
                    <a:p>
                      <a:pPr>
                        <a:lnSpc>
                          <a:spcPct val="100000"/>
                        </a:lnSpc>
                        <a:spcAft>
                          <a:spcPts val="0"/>
                        </a:spcAft>
                      </a:pPr>
                      <a:r>
                        <a:rPr lang="el-GR" sz="1600">
                          <a:latin typeface="Calibri"/>
                          <a:ea typeface="Calibri"/>
                          <a:cs typeface="Times New Roman"/>
                        </a:rPr>
                        <a:t>(0.0530974)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oecdse</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-0.0962151*</a:t>
                      </a:r>
                    </a:p>
                    <a:p>
                      <a:pPr>
                        <a:lnSpc>
                          <a:spcPct val="100000"/>
                        </a:lnSpc>
                        <a:spcAft>
                          <a:spcPts val="0"/>
                        </a:spcAft>
                      </a:pPr>
                      <a:r>
                        <a:rPr lang="el-GR" sz="1600">
                          <a:latin typeface="Calibri"/>
                          <a:ea typeface="Calibri"/>
                          <a:cs typeface="Times New Roman"/>
                        </a:rPr>
                        <a:t>(0.0508852)</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obs</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-0.035752***</a:t>
                      </a:r>
                    </a:p>
                    <a:p>
                      <a:pPr>
                        <a:lnSpc>
                          <a:spcPct val="100000"/>
                        </a:lnSpc>
                        <a:spcAft>
                          <a:spcPts val="0"/>
                        </a:spcAft>
                      </a:pPr>
                      <a:r>
                        <a:rPr lang="el-GR" sz="1600">
                          <a:latin typeface="Calibri"/>
                          <a:ea typeface="Calibri"/>
                          <a:cs typeface="Times New Roman"/>
                        </a:rPr>
                        <a:t>(0.0042325)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a:t>
                      </a:r>
                      <a:r>
                        <a:rPr lang="el-GR" sz="1600" dirty="0" smtClean="0">
                          <a:latin typeface="Calibri"/>
                          <a:ea typeface="Calibri"/>
                          <a:cs typeface="Times New Roman"/>
                        </a:rPr>
                        <a:t>0.03747</a:t>
                      </a:r>
                      <a:r>
                        <a:rPr lang="en-US" sz="1600" dirty="0" smtClean="0">
                          <a:latin typeface="Calibri"/>
                          <a:ea typeface="Calibri"/>
                          <a:cs typeface="Times New Roman"/>
                        </a:rPr>
                        <a:t>6</a:t>
                      </a:r>
                      <a:r>
                        <a:rPr lang="el-GR" sz="1600" dirty="0" smtClean="0">
                          <a:latin typeface="Calibri"/>
                          <a:ea typeface="Calibri"/>
                          <a:cs typeface="Times New Roman"/>
                        </a:rPr>
                        <a:t>***</a:t>
                      </a:r>
                      <a:endParaRPr lang="el-GR" sz="1600" dirty="0">
                        <a:latin typeface="Calibri"/>
                        <a:ea typeface="Calibri"/>
                        <a:cs typeface="Times New Roman"/>
                      </a:endParaRPr>
                    </a:p>
                    <a:p>
                      <a:pPr>
                        <a:lnSpc>
                          <a:spcPct val="100000"/>
                        </a:lnSpc>
                        <a:spcAft>
                          <a:spcPts val="0"/>
                        </a:spcAft>
                      </a:pPr>
                      <a:r>
                        <a:rPr lang="el-GR" sz="1600" dirty="0">
                          <a:latin typeface="Calibri"/>
                          <a:ea typeface="Calibri"/>
                          <a:cs typeface="Times New Roman"/>
                        </a:rPr>
                        <a:t>(0.0036561)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-0.0448501***</a:t>
                      </a:r>
                    </a:p>
                    <a:p>
                      <a:pPr>
                        <a:lnSpc>
                          <a:spcPct val="100000"/>
                        </a:lnSpc>
                        <a:spcAft>
                          <a:spcPts val="0"/>
                        </a:spcAft>
                      </a:pPr>
                      <a:r>
                        <a:rPr lang="el-GR" sz="1600">
                          <a:latin typeface="Calibri"/>
                          <a:ea typeface="Calibri"/>
                          <a:cs typeface="Times New Roman"/>
                        </a:rPr>
                        <a:t>(0.0038293)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a:t>
                      </a:r>
                      <a:r>
                        <a:rPr lang="el-GR" sz="1600" dirty="0" smtClean="0">
                          <a:latin typeface="Calibri"/>
                          <a:ea typeface="Calibri"/>
                          <a:cs typeface="Times New Roman"/>
                        </a:rPr>
                        <a:t>0.03527</a:t>
                      </a:r>
                      <a:r>
                        <a:rPr lang="en-US" sz="1600" dirty="0" smtClean="0">
                          <a:latin typeface="Calibri"/>
                          <a:ea typeface="Calibri"/>
                          <a:cs typeface="Times New Roman"/>
                        </a:rPr>
                        <a:t>2</a:t>
                      </a:r>
                      <a:r>
                        <a:rPr lang="el-GR" sz="1600" dirty="0" smtClean="0">
                          <a:latin typeface="Calibri"/>
                          <a:ea typeface="Calibri"/>
                          <a:cs typeface="Times New Roman"/>
                        </a:rPr>
                        <a:t>***</a:t>
                      </a:r>
                      <a:endParaRPr lang="el-GR" sz="1600" dirty="0">
                        <a:latin typeface="Calibri"/>
                        <a:ea typeface="Calibri"/>
                        <a:cs typeface="Times New Roman"/>
                      </a:endParaRPr>
                    </a:p>
                    <a:p>
                      <a:pPr>
                        <a:lnSpc>
                          <a:spcPct val="100000"/>
                        </a:lnSpc>
                        <a:spcAft>
                          <a:spcPts val="0"/>
                        </a:spcAft>
                      </a:pPr>
                      <a:r>
                        <a:rPr lang="el-GR" sz="1600" dirty="0">
                          <a:latin typeface="Calibri"/>
                          <a:ea typeface="Calibri"/>
                          <a:cs typeface="Times New Roman"/>
                        </a:rPr>
                        <a:t>(0.0070162)  </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a:t>
                      </a:r>
                      <a:r>
                        <a:rPr lang="el-GR" sz="1600" dirty="0" smtClean="0">
                          <a:latin typeface="Calibri"/>
                          <a:ea typeface="Calibri"/>
                          <a:cs typeface="Times New Roman"/>
                        </a:rPr>
                        <a:t>0.004252***</a:t>
                      </a:r>
                      <a:endParaRPr lang="el-GR" sz="1600" dirty="0">
                        <a:latin typeface="Calibri"/>
                        <a:ea typeface="Calibri"/>
                        <a:cs typeface="Times New Roman"/>
                      </a:endParaRPr>
                    </a:p>
                    <a:p>
                      <a:pPr>
                        <a:lnSpc>
                          <a:spcPct val="100000"/>
                        </a:lnSpc>
                        <a:spcAft>
                          <a:spcPts val="0"/>
                        </a:spcAft>
                      </a:pPr>
                      <a:r>
                        <a:rPr lang="el-GR" sz="1600" dirty="0">
                          <a:latin typeface="Calibri"/>
                          <a:ea typeface="Calibri"/>
                          <a:cs typeface="Times New Roman"/>
                        </a:rPr>
                        <a:t>(0.0015215)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endParaRPr lang="el-GR" sz="160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89857">
                <a:tc>
                  <a:txBody>
                    <a:bodyPr/>
                    <a:lstStyle/>
                    <a:p>
                      <a:pPr>
                        <a:lnSpc>
                          <a:spcPct val="100000"/>
                        </a:lnSpc>
                        <a:spcAft>
                          <a:spcPts val="0"/>
                        </a:spcAft>
                      </a:pPr>
                      <a:r>
                        <a:rPr lang="el-GR" sz="1600" dirty="0" err="1">
                          <a:solidFill>
                            <a:srgbClr val="FFFF00"/>
                          </a:solidFill>
                          <a:latin typeface="Calibri"/>
                          <a:ea typeface="Calibri"/>
                          <a:cs typeface="Times New Roman"/>
                        </a:rPr>
                        <a:t>constant</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-2.820381***</a:t>
                      </a:r>
                    </a:p>
                    <a:p>
                      <a:pPr>
                        <a:lnSpc>
                          <a:spcPct val="100000"/>
                        </a:lnSpc>
                        <a:spcAft>
                          <a:spcPts val="0"/>
                        </a:spcAft>
                      </a:pPr>
                      <a:r>
                        <a:rPr lang="el-GR" sz="1600">
                          <a:latin typeface="Calibri"/>
                          <a:ea typeface="Calibri"/>
                          <a:cs typeface="Times New Roman"/>
                        </a:rPr>
                        <a:t>(0.3331904)</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-2.711719***</a:t>
                      </a:r>
                    </a:p>
                    <a:p>
                      <a:pPr>
                        <a:lnSpc>
                          <a:spcPct val="100000"/>
                        </a:lnSpc>
                        <a:spcAft>
                          <a:spcPts val="0"/>
                        </a:spcAft>
                      </a:pPr>
                      <a:r>
                        <a:rPr lang="el-GR" sz="1600">
                          <a:latin typeface="Calibri"/>
                          <a:ea typeface="Calibri"/>
                          <a:cs typeface="Times New Roman"/>
                        </a:rPr>
                        <a:t>(0.7327533)</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-2.13143***</a:t>
                      </a:r>
                    </a:p>
                    <a:p>
                      <a:pPr>
                        <a:lnSpc>
                          <a:spcPct val="100000"/>
                        </a:lnSpc>
                        <a:spcAft>
                          <a:spcPts val="0"/>
                        </a:spcAft>
                      </a:pPr>
                      <a:r>
                        <a:rPr lang="el-GR" sz="1600">
                          <a:latin typeface="Calibri"/>
                          <a:ea typeface="Calibri"/>
                          <a:cs typeface="Times New Roman"/>
                        </a:rPr>
                        <a:t>(0.5409898)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-2.419682**</a:t>
                      </a:r>
                    </a:p>
                    <a:p>
                      <a:pPr>
                        <a:lnSpc>
                          <a:spcPct val="100000"/>
                        </a:lnSpc>
                        <a:spcAft>
                          <a:spcPts val="0"/>
                        </a:spcAft>
                      </a:pPr>
                      <a:r>
                        <a:rPr lang="el-GR" sz="1600">
                          <a:latin typeface="Calibri"/>
                          <a:ea typeface="Calibri"/>
                          <a:cs typeface="Times New Roman"/>
                        </a:rPr>
                        <a:t>(1.158048)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-2.12159***</a:t>
                      </a:r>
                    </a:p>
                    <a:p>
                      <a:pPr>
                        <a:lnSpc>
                          <a:spcPct val="100000"/>
                        </a:lnSpc>
                        <a:spcAft>
                          <a:spcPts val="0"/>
                        </a:spcAft>
                      </a:pPr>
                      <a:r>
                        <a:rPr lang="el-GR" sz="1600">
                          <a:latin typeface="Calibri"/>
                          <a:ea typeface="Calibri"/>
                          <a:cs typeface="Times New Roman"/>
                        </a:rPr>
                        <a:t>(0.5020711)</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-1.295005</a:t>
                      </a:r>
                    </a:p>
                    <a:p>
                      <a:pPr>
                        <a:lnSpc>
                          <a:spcPct val="100000"/>
                        </a:lnSpc>
                        <a:spcAft>
                          <a:spcPts val="0"/>
                        </a:spcAft>
                      </a:pPr>
                      <a:r>
                        <a:rPr lang="el-GR" sz="1600">
                          <a:latin typeface="Calibri"/>
                          <a:ea typeface="Calibri"/>
                          <a:cs typeface="Times New Roman"/>
                        </a:rPr>
                        <a:t>(1.138706)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44929">
                <a:tc>
                  <a:txBody>
                    <a:bodyPr/>
                    <a:lstStyle/>
                    <a:p>
                      <a:pPr>
                        <a:lnSpc>
                          <a:spcPct val="100000"/>
                        </a:lnSpc>
                        <a:spcAft>
                          <a:spcPts val="0"/>
                        </a:spcAft>
                      </a:pPr>
                      <a:r>
                        <a:rPr lang="el-GR" sz="1600" dirty="0">
                          <a:solidFill>
                            <a:srgbClr val="FFFF00"/>
                          </a:solidFill>
                          <a:latin typeface="Calibri"/>
                          <a:ea typeface="Calibri"/>
                          <a:cs typeface="Times New Roman"/>
                        </a:rPr>
                        <a:t>R-</a:t>
                      </a:r>
                      <a:r>
                        <a:rPr lang="el-GR" sz="1600" dirty="0" err="1">
                          <a:solidFill>
                            <a:srgbClr val="FFFF00"/>
                          </a:solidFill>
                          <a:latin typeface="Calibri"/>
                          <a:ea typeface="Calibri"/>
                          <a:cs typeface="Times New Roman"/>
                        </a:rPr>
                        <a:t>squared</a:t>
                      </a:r>
                      <a:endParaRPr lang="el-GR" sz="1600" dirty="0">
                        <a:solidFill>
                          <a:srgbClr val="FFFF00"/>
                        </a:solidFill>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0.95</a:t>
                      </a:r>
                      <a:r>
                        <a:rPr lang="en-US" sz="1600">
                          <a:latin typeface="Calibri"/>
                          <a:ea typeface="Calibri"/>
                          <a:cs typeface="Times New Roman"/>
                        </a:rPr>
                        <a:t>3</a:t>
                      </a:r>
                      <a:r>
                        <a:rPr lang="el-GR" sz="1600">
                          <a:latin typeface="Calibri"/>
                          <a:ea typeface="Calibri"/>
                          <a:cs typeface="Times New Roman"/>
                        </a:rPr>
                        <a:t>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0.95</a:t>
                      </a:r>
                      <a:r>
                        <a:rPr lang="en-US" sz="1600">
                          <a:latin typeface="Calibri"/>
                          <a:ea typeface="Calibri"/>
                          <a:cs typeface="Times New Roman"/>
                        </a:rPr>
                        <a:t>3</a:t>
                      </a:r>
                      <a:r>
                        <a:rPr lang="el-GR" sz="1600">
                          <a:latin typeface="Calibri"/>
                          <a:ea typeface="Calibri"/>
                          <a:cs typeface="Times New Roman"/>
                        </a:rPr>
                        <a:t>5</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95.</a:t>
                      </a:r>
                      <a:r>
                        <a:rPr lang="en-US" sz="1600" dirty="0">
                          <a:latin typeface="Calibri"/>
                          <a:ea typeface="Calibri"/>
                          <a:cs typeface="Times New Roman"/>
                        </a:rPr>
                        <a:t>29</a:t>
                      </a:r>
                      <a:r>
                        <a:rPr lang="el-GR" sz="1600" dirty="0" smtClean="0">
                          <a:latin typeface="Calibri"/>
                          <a:ea typeface="Calibri"/>
                          <a:cs typeface="Times New Roman"/>
                        </a:rPr>
                        <a:t>%</a:t>
                      </a:r>
                      <a:r>
                        <a:rPr lang="en-US" sz="1600" baseline="0" dirty="0" smtClean="0">
                          <a:latin typeface="Calibri"/>
                          <a:ea typeface="Calibri"/>
                          <a:cs typeface="Times New Roman"/>
                        </a:rPr>
                        <a:t> a</a:t>
                      </a:r>
                      <a:r>
                        <a:rPr lang="en-US" sz="1600" dirty="0" smtClean="0">
                          <a:latin typeface="Calibri"/>
                          <a:ea typeface="Calibri"/>
                          <a:cs typeface="Times New Roman"/>
                        </a:rPr>
                        <a:t>djusted</a:t>
                      </a:r>
                      <a:endParaRPr lang="el-GR" sz="1600" dirty="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0.99</a:t>
                      </a:r>
                      <a:r>
                        <a:rPr lang="en-US" sz="1600">
                          <a:latin typeface="Calibri"/>
                          <a:ea typeface="Calibri"/>
                          <a:cs typeface="Times New Roman"/>
                        </a:rPr>
                        <a:t>4</a:t>
                      </a:r>
                      <a:r>
                        <a:rPr lang="el-GR" sz="1600">
                          <a:latin typeface="Calibri"/>
                          <a:ea typeface="Calibri"/>
                          <a:cs typeface="Times New Roman"/>
                        </a:rPr>
                        <a:t>8</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a:latin typeface="Calibri"/>
                          <a:ea typeface="Calibri"/>
                          <a:cs typeface="Times New Roman"/>
                        </a:rPr>
                        <a:t>0.99</a:t>
                      </a:r>
                      <a:r>
                        <a:rPr lang="en-US" sz="1600">
                          <a:latin typeface="Calibri"/>
                          <a:ea typeface="Calibri"/>
                          <a:cs typeface="Times New Roman"/>
                        </a:rPr>
                        <a:t>8</a:t>
                      </a:r>
                      <a:r>
                        <a:rPr lang="el-GR" sz="1600">
                          <a:latin typeface="Calibri"/>
                          <a:ea typeface="Calibri"/>
                          <a:cs typeface="Times New Roman"/>
                        </a:rPr>
                        <a:t>6</a:t>
                      </a: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0"/>
                        </a:spcAft>
                      </a:pPr>
                      <a:r>
                        <a:rPr lang="el-GR" sz="1600" dirty="0">
                          <a:latin typeface="Calibri"/>
                          <a:ea typeface="Calibri"/>
                          <a:cs typeface="Times New Roman"/>
                        </a:rPr>
                        <a:t>0.999</a:t>
                      </a:r>
                      <a:r>
                        <a:rPr lang="en-US" sz="1600" dirty="0">
                          <a:latin typeface="Calibri"/>
                          <a:ea typeface="Calibri"/>
                          <a:cs typeface="Times New Roman"/>
                        </a:rPr>
                        <a:t>9</a:t>
                      </a:r>
                      <a:endParaRPr lang="el-GR" sz="1600" dirty="0">
                        <a:latin typeface="Calibri"/>
                        <a:ea typeface="Calibri"/>
                        <a:cs typeface="Times New Roman"/>
                      </a:endParaRPr>
                    </a:p>
                  </a:txBody>
                  <a:tcPr marL="33200" marR="3320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20483"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
        <p:nvSpPr>
          <p:cNvPr id="100362" name="Rectangle 10"/>
          <p:cNvSpPr>
            <a:spLocks noGrp="1" noChangeArrowheads="1"/>
          </p:cNvSpPr>
          <p:nvPr>
            <p:ph type="body" sz="half" idx="1"/>
          </p:nvPr>
        </p:nvSpPr>
        <p:spPr>
          <a:xfrm>
            <a:off x="0" y="836613"/>
            <a:ext cx="9144000" cy="6021387"/>
          </a:xfrm>
        </p:spPr>
        <p:txBody>
          <a:bodyPr/>
          <a:lstStyle/>
          <a:p>
            <a:pPr algn="just">
              <a:buFont typeface="Wingdings" pitchFamily="2" charset="2"/>
              <a:buNone/>
              <a:defRPr/>
            </a:pPr>
            <a:r>
              <a:rPr lang="en-US" sz="3200" b="1"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rPr>
              <a:t>Meta-regression results – Conclusions (1)</a:t>
            </a:r>
          </a:p>
          <a:p>
            <a:pPr algn="just">
              <a:buFont typeface="Wingdings" pitchFamily="2" charset="2"/>
              <a:buNone/>
              <a:defRPr/>
            </a:pPr>
            <a:endParaRPr lang="en-US" sz="2400" b="1" dirty="0" smtClean="0">
              <a:latin typeface="Lucida Sans (Επικεφαλίδες)"/>
            </a:endParaRPr>
          </a:p>
          <a:p>
            <a:pPr algn="just">
              <a:lnSpc>
                <a:spcPct val="150000"/>
              </a:lnSpc>
              <a:buFont typeface="+mj-lt"/>
              <a:buAutoNum type="arabicPeriod"/>
              <a:defRPr/>
            </a:pPr>
            <a:r>
              <a:rPr lang="en-US" sz="2200" dirty="0" smtClean="0">
                <a:latin typeface="Lucida Sans (Επικεφαλίδες)"/>
              </a:rPr>
              <a:t>We find evidence of downward publication selection bias in the empirical health-economic growth literature.</a:t>
            </a:r>
          </a:p>
          <a:p>
            <a:pPr algn="just">
              <a:lnSpc>
                <a:spcPct val="150000"/>
              </a:lnSpc>
              <a:buFont typeface="+mj-lt"/>
              <a:buAutoNum type="arabicPeriod"/>
              <a:defRPr/>
            </a:pPr>
            <a:endParaRPr lang="en-US" sz="2200" dirty="0" smtClean="0">
              <a:latin typeface="Lucida Sans (Επικεφαλίδες)"/>
            </a:endParaRPr>
          </a:p>
          <a:p>
            <a:pPr algn="just">
              <a:lnSpc>
                <a:spcPct val="150000"/>
              </a:lnSpc>
              <a:buFont typeface="+mj-lt"/>
              <a:buAutoNum type="arabicPeriod"/>
              <a:defRPr/>
            </a:pPr>
            <a:r>
              <a:rPr lang="en-US" sz="2200" dirty="0" smtClean="0">
                <a:latin typeface="Lucida Sans (Επικεφαλίδες)"/>
              </a:rPr>
              <a:t>All methods indicate a positive health effect on growth after correction for publication selection. </a:t>
            </a:r>
          </a:p>
          <a:p>
            <a:pPr algn="just">
              <a:lnSpc>
                <a:spcPct val="150000"/>
              </a:lnSpc>
              <a:buFont typeface="+mj-lt"/>
              <a:buAutoNum type="arabicPeriod"/>
              <a:defRPr/>
            </a:pPr>
            <a:endParaRPr lang="en-US" sz="2200" dirty="0" smtClean="0">
              <a:latin typeface="Lucida Sans (Επικεφαλίδες)"/>
            </a:endParaRPr>
          </a:p>
          <a:p>
            <a:pPr algn="just">
              <a:lnSpc>
                <a:spcPct val="150000"/>
              </a:lnSpc>
              <a:buFont typeface="+mj-lt"/>
              <a:buAutoNum type="arabicPeriod"/>
              <a:defRPr/>
            </a:pPr>
            <a:r>
              <a:rPr lang="en-US" sz="2200" dirty="0" smtClean="0">
                <a:latin typeface="Lucida Sans (Επικεφαλίδες)"/>
              </a:rPr>
              <a:t>Differences across studies can be partially attributed to differences in terms of their characteristics.</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21507"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
        <p:nvSpPr>
          <p:cNvPr id="100362" name="Rectangle 10"/>
          <p:cNvSpPr>
            <a:spLocks noGrp="1" noChangeArrowheads="1"/>
          </p:cNvSpPr>
          <p:nvPr>
            <p:ph type="body" sz="half" idx="1"/>
          </p:nvPr>
        </p:nvSpPr>
        <p:spPr>
          <a:xfrm>
            <a:off x="0" y="836613"/>
            <a:ext cx="9144000" cy="6021387"/>
          </a:xfrm>
        </p:spPr>
        <p:txBody>
          <a:bodyPr/>
          <a:lstStyle/>
          <a:p>
            <a:pPr algn="just">
              <a:buFont typeface="Wingdings" pitchFamily="2" charset="2"/>
              <a:buNone/>
              <a:defRPr/>
            </a:pPr>
            <a:r>
              <a:rPr lang="en-US" sz="3200" b="1"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rPr>
              <a:t>Meta-regression results – Conclusions (2)</a:t>
            </a:r>
          </a:p>
          <a:p>
            <a:pPr algn="just">
              <a:lnSpc>
                <a:spcPct val="150000"/>
              </a:lnSpc>
              <a:buFont typeface="Arial" pitchFamily="34" charset="0"/>
              <a:buChar char="•"/>
              <a:defRPr/>
            </a:pPr>
            <a:r>
              <a:rPr lang="en-US" sz="2200" dirty="0" smtClean="0">
                <a:latin typeface="Lucida Sans (Επικεφαλίδες)"/>
              </a:rPr>
              <a:t>The inclusion of </a:t>
            </a:r>
            <a:r>
              <a:rPr lang="en-US" sz="2200" dirty="0" err="1" smtClean="0">
                <a:latin typeface="Lucida Sans (Επικεφαλίδες)"/>
              </a:rPr>
              <a:t>ols</a:t>
            </a:r>
            <a:r>
              <a:rPr lang="en-US" sz="2200" dirty="0" smtClean="0">
                <a:latin typeface="Lucida Sans (Επικεφαλίδες)"/>
              </a:rPr>
              <a:t>/iv </a:t>
            </a:r>
            <a:r>
              <a:rPr lang="en-US" sz="2200" dirty="0" err="1" smtClean="0">
                <a:latin typeface="Lucida Sans (Επικεφαλίδες)"/>
              </a:rPr>
              <a:t>vs</a:t>
            </a:r>
            <a:r>
              <a:rPr lang="en-US" sz="2200" dirty="0" smtClean="0">
                <a:latin typeface="Lucida Sans (Επικεφαλίδες)"/>
              </a:rPr>
              <a:t> other estimation methods, life expectancy, adult survival rate, </a:t>
            </a:r>
            <a:r>
              <a:rPr lang="en-US" sz="2200" dirty="0" err="1" smtClean="0">
                <a:latin typeface="Lucida Sans (Επικεφαλίδες)"/>
              </a:rPr>
              <a:t>pcgdp</a:t>
            </a:r>
            <a:r>
              <a:rPr lang="en-US" sz="2200" dirty="0" smtClean="0">
                <a:latin typeface="Lucida Sans (Επικεφαλίδες)"/>
              </a:rPr>
              <a:t>, many independent </a:t>
            </a:r>
            <a:r>
              <a:rPr lang="en-US" sz="2200" dirty="0" err="1" smtClean="0">
                <a:latin typeface="Lucida Sans (Επικεφαλίδες)"/>
              </a:rPr>
              <a:t>vars</a:t>
            </a:r>
            <a:r>
              <a:rPr lang="en-US" sz="2200" dirty="0" smtClean="0">
                <a:latin typeface="Lucida Sans (Επικεφαλίδες)"/>
              </a:rPr>
              <a:t>, log(health) and mortality tend to make the estimated impact of health education on growth, corrected for publication bias, positive.</a:t>
            </a:r>
          </a:p>
          <a:p>
            <a:pPr algn="just">
              <a:lnSpc>
                <a:spcPct val="150000"/>
              </a:lnSpc>
              <a:buFont typeface="Arial" pitchFamily="34" charset="0"/>
              <a:buChar char="•"/>
              <a:defRPr/>
            </a:pPr>
            <a:r>
              <a:rPr lang="en-US" sz="2200" dirty="0" smtClean="0">
                <a:latin typeface="Lucida Sans (Επικεφαλίδες)"/>
              </a:rPr>
              <a:t>The use of schooling, publication in academic journals and political variables tend to lower the estimated growth impact of health.</a:t>
            </a:r>
          </a:p>
          <a:p>
            <a:pPr algn="just">
              <a:lnSpc>
                <a:spcPct val="150000"/>
              </a:lnSpc>
              <a:buFont typeface="Arial" pitchFamily="34" charset="0"/>
              <a:buChar char="•"/>
              <a:defRPr/>
            </a:pPr>
            <a:r>
              <a:rPr lang="en-US" sz="2200" dirty="0" smtClean="0">
                <a:latin typeface="Lucida Sans (Επικεφαλίδες)"/>
              </a:rPr>
              <a:t>Thus, the variation in reported estimates is attributed to differences in health measurement and study characteristics (model specification, type of data used, and the quality of research outlets where studies are published, e.g. academic journals vs. working papers).</a:t>
            </a:r>
          </a:p>
          <a:p>
            <a:pPr algn="just">
              <a:lnSpc>
                <a:spcPct val="150000"/>
              </a:lnSpc>
              <a:buFont typeface="Arial" pitchFamily="34" charset="0"/>
              <a:buChar char="•"/>
              <a:defRPr/>
            </a:pPr>
            <a:endParaRPr lang="en-US" sz="2200" dirty="0" smtClean="0">
              <a:latin typeface="Lucida Sans (Επικεφαλίδες)"/>
            </a:endParaRPr>
          </a:p>
          <a:p>
            <a:pPr algn="just">
              <a:lnSpc>
                <a:spcPct val="150000"/>
              </a:lnSpc>
              <a:buFont typeface="Arial" pitchFamily="34" charset="0"/>
              <a:buChar char="•"/>
              <a:defRPr/>
            </a:pPr>
            <a:endParaRPr lang="en-US" sz="2200" dirty="0" smtClean="0">
              <a:latin typeface="Lucida Sans (Επικεφαλίδες)"/>
            </a:endParaRPr>
          </a:p>
          <a:p>
            <a:pPr algn="just" eaLnBrk="1" hangingPunct="1">
              <a:buFont typeface="Wingdings" pitchFamily="2" charset="2"/>
              <a:buNone/>
              <a:defRPr/>
            </a:pPr>
            <a:endParaRPr lang="el-GR" altLang="el-GR" sz="2200" dirty="0" smtClean="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21507"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
        <p:nvSpPr>
          <p:cNvPr id="100362" name="Rectangle 10"/>
          <p:cNvSpPr>
            <a:spLocks noGrp="1" noChangeArrowheads="1"/>
          </p:cNvSpPr>
          <p:nvPr>
            <p:ph type="body" sz="half" idx="1"/>
          </p:nvPr>
        </p:nvSpPr>
        <p:spPr>
          <a:xfrm>
            <a:off x="0" y="836613"/>
            <a:ext cx="9144000" cy="6021387"/>
          </a:xfrm>
        </p:spPr>
        <p:txBody>
          <a:bodyPr/>
          <a:lstStyle/>
          <a:p>
            <a:pPr algn="just">
              <a:buFont typeface="Wingdings" pitchFamily="2" charset="2"/>
              <a:buNone/>
              <a:defRPr/>
            </a:pPr>
            <a:r>
              <a:rPr lang="en-US" sz="3200" b="1" dirty="0" smtClean="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rPr>
              <a:t>Meta-regression results – Conclusions (2)</a:t>
            </a:r>
          </a:p>
          <a:p>
            <a:pPr algn="just">
              <a:lnSpc>
                <a:spcPct val="150000"/>
              </a:lnSpc>
              <a:buFont typeface="Arial" pitchFamily="34" charset="0"/>
              <a:buChar char="•"/>
              <a:defRPr/>
            </a:pPr>
            <a:r>
              <a:rPr lang="en-US" sz="2200" dirty="0" smtClean="0">
                <a:latin typeface="Lucida Sans (Επικεφαλίδες)"/>
              </a:rPr>
              <a:t>The inclusion of </a:t>
            </a:r>
            <a:r>
              <a:rPr lang="en-US" sz="2200" dirty="0" err="1" smtClean="0">
                <a:latin typeface="Lucida Sans (Επικεφαλίδες)"/>
              </a:rPr>
              <a:t>ols</a:t>
            </a:r>
            <a:r>
              <a:rPr lang="en-US" sz="2200" dirty="0" smtClean="0">
                <a:latin typeface="Lucida Sans (Επικεφαλίδες)"/>
              </a:rPr>
              <a:t>/iv </a:t>
            </a:r>
            <a:r>
              <a:rPr lang="en-US" sz="2200" dirty="0" err="1" smtClean="0">
                <a:latin typeface="Lucida Sans (Επικεφαλίδες)"/>
              </a:rPr>
              <a:t>vs</a:t>
            </a:r>
            <a:r>
              <a:rPr lang="en-US" sz="2200" dirty="0" smtClean="0">
                <a:latin typeface="Lucida Sans (Επικεφαλίδες)"/>
              </a:rPr>
              <a:t> other estimation methods, life expectancy, adult survival rate, </a:t>
            </a:r>
            <a:r>
              <a:rPr lang="en-US" sz="2200" dirty="0" err="1" smtClean="0">
                <a:latin typeface="Lucida Sans (Επικεφαλίδες)"/>
              </a:rPr>
              <a:t>pcgdp</a:t>
            </a:r>
            <a:r>
              <a:rPr lang="en-US" sz="2200" dirty="0" smtClean="0">
                <a:latin typeface="Lucida Sans (Επικεφαλίδες)"/>
              </a:rPr>
              <a:t>, many independent </a:t>
            </a:r>
            <a:r>
              <a:rPr lang="en-US" sz="2200" dirty="0" err="1" smtClean="0">
                <a:latin typeface="Lucida Sans (Επικεφαλίδες)"/>
              </a:rPr>
              <a:t>vars</a:t>
            </a:r>
            <a:r>
              <a:rPr lang="en-US" sz="2200" dirty="0" smtClean="0">
                <a:latin typeface="Lucida Sans (Επικεφαλίδες)"/>
              </a:rPr>
              <a:t>, log(health) and mortality tend to make the estimated impact of health education on growth, corrected for publication bias, positive.</a:t>
            </a:r>
          </a:p>
          <a:p>
            <a:pPr algn="just">
              <a:lnSpc>
                <a:spcPct val="150000"/>
              </a:lnSpc>
              <a:buFont typeface="Arial" pitchFamily="34" charset="0"/>
              <a:buChar char="•"/>
              <a:defRPr/>
            </a:pPr>
            <a:r>
              <a:rPr lang="en-US" sz="2200" dirty="0" smtClean="0">
                <a:latin typeface="Lucida Sans (Επικεφαλίδες)"/>
              </a:rPr>
              <a:t>The use of schooling, publication in academic journals and political variables tend to lower the estimated growth impact of health.</a:t>
            </a:r>
          </a:p>
          <a:p>
            <a:pPr algn="just">
              <a:lnSpc>
                <a:spcPct val="150000"/>
              </a:lnSpc>
              <a:buFont typeface="Arial" pitchFamily="34" charset="0"/>
              <a:buChar char="•"/>
              <a:defRPr/>
            </a:pPr>
            <a:r>
              <a:rPr lang="en-US" sz="2200" dirty="0" smtClean="0">
                <a:latin typeface="Lucida Sans (Επικεφαλίδες)"/>
              </a:rPr>
              <a:t>Thus, the variation in reported estimates is attributed to differences in health measurement and study characteristics (model specification, type of data used, and the quality of research outlets where studies are published, e.g. academic journals vs. working papers).</a:t>
            </a:r>
          </a:p>
          <a:p>
            <a:pPr algn="just">
              <a:lnSpc>
                <a:spcPct val="150000"/>
              </a:lnSpc>
              <a:buFont typeface="Arial" pitchFamily="34" charset="0"/>
              <a:buChar char="•"/>
              <a:defRPr/>
            </a:pPr>
            <a:endParaRPr lang="en-US" sz="2200" dirty="0" smtClean="0">
              <a:latin typeface="Lucida Sans (Επικεφαλίδες)"/>
            </a:endParaRPr>
          </a:p>
          <a:p>
            <a:pPr algn="just">
              <a:lnSpc>
                <a:spcPct val="150000"/>
              </a:lnSpc>
              <a:buFont typeface="Arial" pitchFamily="34" charset="0"/>
              <a:buChar char="•"/>
              <a:defRPr/>
            </a:pPr>
            <a:endParaRPr lang="en-US" sz="2200" dirty="0" smtClean="0">
              <a:latin typeface="Lucida Sans (Επικεφαλίδες)"/>
            </a:endParaRPr>
          </a:p>
          <a:p>
            <a:pPr algn="just" eaLnBrk="1" hangingPunct="1">
              <a:buFont typeface="Wingdings" pitchFamily="2" charset="2"/>
              <a:buNone/>
              <a:defRPr/>
            </a:pPr>
            <a:endParaRPr lang="el-GR" altLang="el-GR" sz="2200" dirty="0" smtClean="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p:cNvSpPr>
            <a:spLocks noChangeArrowheads="1"/>
          </p:cNvSpPr>
          <p:nvPr/>
        </p:nvSpPr>
        <p:spPr bwMode="auto">
          <a:xfrm>
            <a:off x="0" y="0"/>
            <a:ext cx="9144000" cy="835025"/>
          </a:xfrm>
          <a:prstGeom prst="rect">
            <a:avLst/>
          </a:prstGeom>
          <a:gradFill rotWithShape="1">
            <a:gsLst>
              <a:gs pos="0">
                <a:srgbClr val="B2BCA8"/>
              </a:gs>
              <a:gs pos="100000">
                <a:schemeClr val="bg1"/>
              </a:gs>
            </a:gsLst>
            <a:lin ang="0" scaled="1"/>
          </a:gradFill>
          <a:ln w="12700" cap="sq">
            <a:noFill/>
            <a:miter lim="800000"/>
            <a:headEnd type="none" w="sm" len="sm"/>
            <a:tailEnd type="none" w="sm" len="sm"/>
          </a:ln>
        </p:spPr>
        <p:txBody>
          <a:bodyPr wrap="none" anchor="ctr"/>
          <a:lstStyle/>
          <a:p>
            <a:endParaRPr lang="el-GR"/>
          </a:p>
        </p:txBody>
      </p:sp>
      <p:sp>
        <p:nvSpPr>
          <p:cNvPr id="21507" name="Rectangle 7"/>
          <p:cNvSpPr>
            <a:spLocks noChangeArrowheads="1"/>
          </p:cNvSpPr>
          <p:nvPr/>
        </p:nvSpPr>
        <p:spPr bwMode="auto">
          <a:xfrm>
            <a:off x="2097088" y="0"/>
            <a:ext cx="6938962" cy="836613"/>
          </a:xfrm>
          <a:prstGeom prst="rect">
            <a:avLst/>
          </a:prstGeom>
          <a:noFill/>
          <a:ln w="9525">
            <a:noFill/>
            <a:miter lim="800000"/>
            <a:headEnd/>
            <a:tailEnd/>
          </a:ln>
        </p:spPr>
        <p:txBody>
          <a:bodyPr anchor="ctr"/>
          <a:lstStyle/>
          <a:p>
            <a:pPr algn="r"/>
            <a:r>
              <a:rPr lang="en-US" sz="1400">
                <a:solidFill>
                  <a:schemeClr val="tx2"/>
                </a:solidFill>
                <a:latin typeface="Arial Black" pitchFamily="34" charset="0"/>
              </a:rPr>
              <a:t>2015 MAER-Net Colloquium</a:t>
            </a:r>
            <a:endParaRPr lang="el-GR" sz="1400">
              <a:solidFill>
                <a:schemeClr val="tx2"/>
              </a:solidFill>
              <a:latin typeface="Arial Black" pitchFamily="34" charset="0"/>
            </a:endParaRPr>
          </a:p>
        </p:txBody>
      </p:sp>
      <p:sp>
        <p:nvSpPr>
          <p:cNvPr id="100362" name="Rectangle 10"/>
          <p:cNvSpPr>
            <a:spLocks noGrp="1" noChangeArrowheads="1"/>
          </p:cNvSpPr>
          <p:nvPr>
            <p:ph type="body" sz="half" idx="1"/>
          </p:nvPr>
        </p:nvSpPr>
        <p:spPr>
          <a:xfrm>
            <a:off x="0" y="836613"/>
            <a:ext cx="9144000" cy="6021387"/>
          </a:xfrm>
        </p:spPr>
        <p:txBody>
          <a:bodyPr/>
          <a:lstStyle/>
          <a:p>
            <a:pPr algn="just">
              <a:lnSpc>
                <a:spcPct val="150000"/>
              </a:lnSpc>
              <a:buFont typeface="Arial" pitchFamily="34" charset="0"/>
              <a:buChar char="•"/>
              <a:defRPr/>
            </a:pPr>
            <a:endParaRPr lang="en-US" sz="2200" dirty="0" smtClean="0">
              <a:latin typeface="Lucida Sans (Επικεφαλίδες)"/>
            </a:endParaRPr>
          </a:p>
          <a:p>
            <a:pPr algn="just">
              <a:lnSpc>
                <a:spcPct val="150000"/>
              </a:lnSpc>
              <a:buFont typeface="Arial" pitchFamily="34" charset="0"/>
              <a:buChar char="•"/>
              <a:defRPr/>
            </a:pPr>
            <a:endParaRPr lang="en-US" sz="2200" dirty="0" smtClean="0">
              <a:latin typeface="Lucida Sans (Επικεφαλίδες)"/>
            </a:endParaRPr>
          </a:p>
          <a:p>
            <a:pPr algn="ctr" eaLnBrk="1" hangingPunct="1">
              <a:buNone/>
              <a:defRPr/>
            </a:pPr>
            <a:endParaRPr lang="en-US" sz="2200" dirty="0" smtClean="0">
              <a:solidFill>
                <a:schemeClr val="tx2"/>
              </a:solidFill>
              <a:latin typeface="Arial Black" pitchFamily="34" charset="0"/>
            </a:endParaRPr>
          </a:p>
          <a:p>
            <a:pPr algn="ctr" eaLnBrk="1" hangingPunct="1">
              <a:buNone/>
              <a:defRPr/>
            </a:pPr>
            <a:endParaRPr lang="en-US" sz="2200" dirty="0" smtClean="0">
              <a:solidFill>
                <a:schemeClr val="tx2"/>
              </a:solidFill>
              <a:latin typeface="Arial Black" pitchFamily="34" charset="0"/>
            </a:endParaRPr>
          </a:p>
          <a:p>
            <a:pPr algn="ctr" eaLnBrk="1" hangingPunct="1">
              <a:buNone/>
              <a:defRPr/>
            </a:pPr>
            <a:endParaRPr lang="en-US" sz="2200" dirty="0" smtClean="0">
              <a:solidFill>
                <a:schemeClr val="tx2"/>
              </a:solidFill>
              <a:latin typeface="Arial Black" pitchFamily="34" charset="0"/>
            </a:endParaRPr>
          </a:p>
          <a:p>
            <a:pPr algn="ctr" eaLnBrk="1" hangingPunct="1">
              <a:buNone/>
              <a:defRPr/>
            </a:pPr>
            <a:r>
              <a:rPr lang="en-US" sz="2200" dirty="0" smtClean="0">
                <a:solidFill>
                  <a:schemeClr val="tx2"/>
                </a:solidFill>
                <a:latin typeface="Arial Black" pitchFamily="34" charset="0"/>
              </a:rPr>
              <a:t>Thank </a:t>
            </a:r>
            <a:r>
              <a:rPr lang="en-US" sz="2200" dirty="0" smtClean="0">
                <a:solidFill>
                  <a:schemeClr val="tx2"/>
                </a:solidFill>
                <a:latin typeface="Arial Black" pitchFamily="34" charset="0"/>
              </a:rPr>
              <a:t>you very much for your attention</a:t>
            </a:r>
            <a:endParaRPr lang="el-GR" sz="2200" dirty="0" smtClean="0">
              <a:solidFill>
                <a:schemeClr val="tx2"/>
              </a:solidFill>
              <a:latin typeface="Arial Black" pitchFamily="34" charset="0"/>
            </a:endParaRPr>
          </a:p>
          <a:p>
            <a:pPr algn="ctr" eaLnBrk="1" hangingPunct="1">
              <a:buFont typeface="Wingdings" pitchFamily="2" charset="2"/>
              <a:buNone/>
              <a:defRPr/>
            </a:pPr>
            <a:endParaRPr lang="el-GR" altLang="el-GR" sz="2200" dirty="0" smtClean="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Digital Dots">
  <a:themeElements>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fontScheme name="Digital Do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chemeClr val="accent1"/>
            </a:gs>
            <a:gs pos="100000">
              <a:schemeClr val="bg1"/>
            </a:gs>
          </a:gsLst>
          <a:lin ang="0" scaled="1"/>
        </a:gra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l-GR"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1">
          <a:gsLst>
            <a:gs pos="0">
              <a:schemeClr val="accent1"/>
            </a:gs>
            <a:gs pos="100000">
              <a:schemeClr val="bg1"/>
            </a:gs>
          </a:gsLst>
          <a:lin ang="0" scaled="1"/>
        </a:gra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l-GR" sz="1800" b="0" i="0" u="none" strike="noStrike" cap="none" normalizeH="0" baseline="0" smtClean="0">
            <a:ln>
              <a:noFill/>
            </a:ln>
            <a:solidFill>
              <a:schemeClr val="tx1"/>
            </a:solidFill>
            <a:effectLst/>
            <a:latin typeface="Arial" charset="0"/>
          </a:defRPr>
        </a:defPPr>
      </a:lstStyle>
    </a:lnDef>
  </a:objectDefaults>
  <a:extraClrSchemeLst>
    <a:extraClrScheme>
      <a:clrScheme name="Digital Dots 1">
        <a:dk1>
          <a:srgbClr val="00008A"/>
        </a:dk1>
        <a:lt1>
          <a:srgbClr val="FFFFFF"/>
        </a:lt1>
        <a:dk2>
          <a:srgbClr val="000099"/>
        </a:dk2>
        <a:lt2>
          <a:srgbClr val="FFFFFF"/>
        </a:lt2>
        <a:accent1>
          <a:srgbClr val="0099FF"/>
        </a:accent1>
        <a:accent2>
          <a:srgbClr val="00007A"/>
        </a:accent2>
        <a:accent3>
          <a:srgbClr val="AAAACA"/>
        </a:accent3>
        <a:accent4>
          <a:srgbClr val="DADADA"/>
        </a:accent4>
        <a:accent5>
          <a:srgbClr val="AACAFF"/>
        </a:accent5>
        <a:accent6>
          <a:srgbClr val="00006E"/>
        </a:accent6>
        <a:hlink>
          <a:srgbClr val="EAEAEA"/>
        </a:hlink>
        <a:folHlink>
          <a:srgbClr val="FFCC00"/>
        </a:folHlink>
      </a:clrScheme>
      <a:clrMap bg1="dk2" tx1="lt1" bg2="dk1" tx2="lt2" accent1="accent1" accent2="accent2" accent3="accent3" accent4="accent4" accent5="accent5" accent6="accent6" hlink="hlink" folHlink="folHlink"/>
    </a:extraClrScheme>
    <a:extraClrScheme>
      <a:clrScheme name="Digital Dots 2">
        <a:dk1>
          <a:srgbClr val="5B5B89"/>
        </a:dk1>
        <a:lt1>
          <a:srgbClr val="FFFFFF"/>
        </a:lt1>
        <a:dk2>
          <a:srgbClr val="666699"/>
        </a:dk2>
        <a:lt2>
          <a:srgbClr val="DFDEF6"/>
        </a:lt2>
        <a:accent1>
          <a:srgbClr val="6666FF"/>
        </a:accent1>
        <a:accent2>
          <a:srgbClr val="52527C"/>
        </a:accent2>
        <a:accent3>
          <a:srgbClr val="B8B8CA"/>
        </a:accent3>
        <a:accent4>
          <a:srgbClr val="DADADA"/>
        </a:accent4>
        <a:accent5>
          <a:srgbClr val="B8B8FF"/>
        </a:accent5>
        <a:accent6>
          <a:srgbClr val="494970"/>
        </a:accent6>
        <a:hlink>
          <a:srgbClr val="9999FF"/>
        </a:hlink>
        <a:folHlink>
          <a:srgbClr val="CCCCFF"/>
        </a:folHlink>
      </a:clrScheme>
      <a:clrMap bg1="dk2" tx1="lt1" bg2="dk1" tx2="lt2" accent1="accent1" accent2="accent2" accent3="accent3" accent4="accent4" accent5="accent5" accent6="accent6" hlink="hlink" folHlink="folHlink"/>
    </a:extraClrScheme>
    <a:extraClrScheme>
      <a:clrScheme name="Digital Dots 3">
        <a:dk1>
          <a:srgbClr val="700000"/>
        </a:dk1>
        <a:lt1>
          <a:srgbClr val="FFFFFF"/>
        </a:lt1>
        <a:dk2>
          <a:srgbClr val="800000"/>
        </a:dk2>
        <a:lt2>
          <a:srgbClr val="FFFFCC"/>
        </a:lt2>
        <a:accent1>
          <a:srgbClr val="BE7960"/>
        </a:accent1>
        <a:accent2>
          <a:srgbClr val="600000"/>
        </a:accent2>
        <a:accent3>
          <a:srgbClr val="C0AAAA"/>
        </a:accent3>
        <a:accent4>
          <a:srgbClr val="DADADA"/>
        </a:accent4>
        <a:accent5>
          <a:srgbClr val="DBBEB6"/>
        </a:accent5>
        <a:accent6>
          <a:srgbClr val="560000"/>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gital Dots 4">
        <a:dk1>
          <a:srgbClr val="000000"/>
        </a:dk1>
        <a:lt1>
          <a:srgbClr val="FDEB9D"/>
        </a:lt1>
        <a:dk2>
          <a:srgbClr val="000000"/>
        </a:dk2>
        <a:lt2>
          <a:srgbClr val="E0CE82"/>
        </a:lt2>
        <a:accent1>
          <a:srgbClr val="EAEAEA"/>
        </a:accent1>
        <a:accent2>
          <a:srgbClr val="C2B476"/>
        </a:accent2>
        <a:accent3>
          <a:srgbClr val="FEF3CC"/>
        </a:accent3>
        <a:accent4>
          <a:srgbClr val="000000"/>
        </a:accent4>
        <a:accent5>
          <a:srgbClr val="F3F3F3"/>
        </a:accent5>
        <a:accent6>
          <a:srgbClr val="B0A36A"/>
        </a:accent6>
        <a:hlink>
          <a:srgbClr val="A47900"/>
        </a:hlink>
        <a:folHlink>
          <a:srgbClr val="8C8900"/>
        </a:folHlink>
      </a:clrScheme>
      <a:clrMap bg1="lt1" tx1="dk1" bg2="lt2" tx2="dk2" accent1="accent1" accent2="accent2" accent3="accent3" accent4="accent4" accent5="accent5" accent6="accent6" hlink="hlink" folHlink="folHlink"/>
    </a:extraClrScheme>
    <a:extraClrScheme>
      <a:clrScheme name="Digital Dots 5">
        <a:dk1>
          <a:srgbClr val="5B5E52"/>
        </a:dk1>
        <a:lt1>
          <a:srgbClr val="FFFFFF"/>
        </a:lt1>
        <a:dk2>
          <a:srgbClr val="686B5D"/>
        </a:dk2>
        <a:lt2>
          <a:srgbClr val="CCD5C7"/>
        </a:lt2>
        <a:accent1>
          <a:srgbClr val="809EA8"/>
        </a:accent1>
        <a:accent2>
          <a:srgbClr val="4F5147"/>
        </a:accent2>
        <a:accent3>
          <a:srgbClr val="B9BAB6"/>
        </a:accent3>
        <a:accent4>
          <a:srgbClr val="DADADA"/>
        </a:accent4>
        <a:accent5>
          <a:srgbClr val="C0CCD1"/>
        </a:accent5>
        <a:accent6>
          <a:srgbClr val="47493F"/>
        </a:accent6>
        <a:hlink>
          <a:srgbClr val="AAA854"/>
        </a:hlink>
        <a:folHlink>
          <a:srgbClr val="E1D09F"/>
        </a:folHlink>
      </a:clrScheme>
      <a:clrMap bg1="dk2" tx1="lt1" bg2="dk1" tx2="lt2" accent1="accent1" accent2="accent2" accent3="accent3" accent4="accent4" accent5="accent5" accent6="accent6" hlink="hlink" folHlink="folHlink"/>
    </a:extraClrScheme>
    <a:extraClrScheme>
      <a:clrScheme name="Digital Dots 6">
        <a:dk1>
          <a:srgbClr val="46532B"/>
        </a:dk1>
        <a:lt1>
          <a:srgbClr val="FFFFFF"/>
        </a:lt1>
        <a:dk2>
          <a:srgbClr val="4E5D31"/>
        </a:dk2>
        <a:lt2>
          <a:srgbClr val="FFFFCC"/>
        </a:lt2>
        <a:accent1>
          <a:srgbClr val="8F8C00"/>
        </a:accent1>
        <a:accent2>
          <a:srgbClr val="424F29"/>
        </a:accent2>
        <a:accent3>
          <a:srgbClr val="B2B6AD"/>
        </a:accent3>
        <a:accent4>
          <a:srgbClr val="DADADA"/>
        </a:accent4>
        <a:accent5>
          <a:srgbClr val="C6C5AA"/>
        </a:accent5>
        <a:accent6>
          <a:srgbClr val="3B4724"/>
        </a:accent6>
        <a:hlink>
          <a:srgbClr val="33CC33"/>
        </a:hlink>
        <a:folHlink>
          <a:srgbClr val="00A1B2"/>
        </a:folHlink>
      </a:clrScheme>
      <a:clrMap bg1="dk2" tx1="lt1" bg2="dk1" tx2="lt2" accent1="accent1" accent2="accent2" accent3="accent3" accent4="accent4" accent5="accent5" accent6="accent6" hlink="hlink" folHlink="folHlink"/>
    </a:extraClrScheme>
    <a:extraClrScheme>
      <a:clrScheme name="Digital Dots 7">
        <a:dk1>
          <a:srgbClr val="007673"/>
        </a:dk1>
        <a:lt1>
          <a:srgbClr val="FFFFFF"/>
        </a:lt1>
        <a:dk2>
          <a:srgbClr val="008080"/>
        </a:dk2>
        <a:lt2>
          <a:srgbClr val="FFFF99"/>
        </a:lt2>
        <a:accent1>
          <a:srgbClr val="33CCCC"/>
        </a:accent1>
        <a:accent2>
          <a:srgbClr val="006462"/>
        </a:accent2>
        <a:accent3>
          <a:srgbClr val="AAC0C0"/>
        </a:accent3>
        <a:accent4>
          <a:srgbClr val="DADADA"/>
        </a:accent4>
        <a:accent5>
          <a:srgbClr val="ADE2E2"/>
        </a:accent5>
        <a:accent6>
          <a:srgbClr val="005A58"/>
        </a:accent6>
        <a:hlink>
          <a:srgbClr val="FFCC00"/>
        </a:hlink>
        <a:folHlink>
          <a:srgbClr val="CC3300"/>
        </a:folHlink>
      </a:clrScheme>
      <a:clrMap bg1="dk2" tx1="lt1" bg2="dk1" tx2="lt2" accent1="accent1" accent2="accent2" accent3="accent3" accent4="accent4" accent5="accent5" accent6="accent6" hlink="hlink" folHlink="folHlink"/>
    </a:extraClrScheme>
    <a:extraClrScheme>
      <a:clrScheme name="Digital Dots 8">
        <a:dk1>
          <a:srgbClr val="000000"/>
        </a:dk1>
        <a:lt1>
          <a:srgbClr val="E6F8F4"/>
        </a:lt1>
        <a:dk2>
          <a:srgbClr val="000000"/>
        </a:dk2>
        <a:lt2>
          <a:srgbClr val="C5DBD6"/>
        </a:lt2>
        <a:accent1>
          <a:srgbClr val="CCFF99"/>
        </a:accent1>
        <a:accent2>
          <a:srgbClr val="ACBAB7"/>
        </a:accent2>
        <a:accent3>
          <a:srgbClr val="F0FBF8"/>
        </a:accent3>
        <a:accent4>
          <a:srgbClr val="000000"/>
        </a:accent4>
        <a:accent5>
          <a:srgbClr val="E2FFCA"/>
        </a:accent5>
        <a:accent6>
          <a:srgbClr val="9BA8A6"/>
        </a:accent6>
        <a:hlink>
          <a:srgbClr val="008080"/>
        </a:hlink>
        <a:folHlink>
          <a:srgbClr val="0066CC"/>
        </a:folHlink>
      </a:clrScheme>
      <a:clrMap bg1="lt1" tx1="dk1" bg2="lt2" tx2="dk2" accent1="accent1" accent2="accent2" accent3="accent3" accent4="accent4" accent5="accent5" accent6="accent6" hlink="hlink" folHlink="folHlink"/>
    </a:extraClrScheme>
    <a:extraClrScheme>
      <a:clrScheme name="Digital Dots 9">
        <a:dk1>
          <a:srgbClr val="000000"/>
        </a:dk1>
        <a:lt1>
          <a:srgbClr val="EAEAEA"/>
        </a:lt1>
        <a:dk2>
          <a:srgbClr val="000000"/>
        </a:dk2>
        <a:lt2>
          <a:srgbClr val="D1D1D1"/>
        </a:lt2>
        <a:accent1>
          <a:srgbClr val="CCECFF"/>
        </a:accent1>
        <a:accent2>
          <a:srgbClr val="B2B2B2"/>
        </a:accent2>
        <a:accent3>
          <a:srgbClr val="F3F3F3"/>
        </a:accent3>
        <a:accent4>
          <a:srgbClr val="000000"/>
        </a:accent4>
        <a:accent5>
          <a:srgbClr val="E2F4FF"/>
        </a:accent5>
        <a:accent6>
          <a:srgbClr val="A1A1A1"/>
        </a:accent6>
        <a:hlink>
          <a:srgbClr val="7200E4"/>
        </a:hlink>
        <a:folHlink>
          <a:srgbClr val="0033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5883</TotalTime>
  <Words>2664</Words>
  <Application>Microsoft Office PowerPoint</Application>
  <PresentationFormat>Προβολή στην οθόνη (4:3)</PresentationFormat>
  <Paragraphs>860</Paragraphs>
  <Slides>21</Slides>
  <Notes>2</Notes>
  <HiddenSlides>0</HiddenSlides>
  <MMClips>0</MMClips>
  <ScaleCrop>false</ScaleCrop>
  <HeadingPairs>
    <vt:vector size="4" baseType="variant">
      <vt:variant>
        <vt:lpstr>Θέμα</vt:lpstr>
      </vt:variant>
      <vt:variant>
        <vt:i4>1</vt:i4>
      </vt:variant>
      <vt:variant>
        <vt:lpstr>Τίτλοι διαφανειών</vt:lpstr>
      </vt:variant>
      <vt:variant>
        <vt:i4>21</vt:i4>
      </vt:variant>
    </vt:vector>
  </HeadingPairs>
  <TitlesOfParts>
    <vt:vector size="22" baseType="lpstr">
      <vt:lpstr>Digital Dots</vt:lpstr>
      <vt:lpstr>HEALTH AND GROWTH: A META-REGRESSION ANALYSIS</vt:lpstr>
      <vt:lpstr>Διαφάνεια 2</vt:lpstr>
      <vt:lpstr>Διαφάνεια 3</vt:lpstr>
      <vt:lpstr>Διαφάνεια 4</vt:lpstr>
      <vt:lpstr>Διαφάνεια 5</vt:lpstr>
      <vt:lpstr>Διαφάνεια 6</vt:lpstr>
      <vt:lpstr>Διαφάνεια 7</vt:lpstr>
      <vt:lpstr>Διαφάνεια 8</vt:lpstr>
      <vt:lpstr>Διαφάνεια 9</vt:lpstr>
      <vt:lpstr>Διαφάνεια 10</vt:lpstr>
      <vt:lpstr>Διαφάνεια 11</vt:lpstr>
      <vt:lpstr>Διαφάνεια 12</vt:lpstr>
      <vt:lpstr>Διαφάνεια 13</vt:lpstr>
      <vt:lpstr>Διαφάνεια 14</vt:lpstr>
      <vt:lpstr>Διαφάνεια 15</vt:lpstr>
      <vt:lpstr>Διαφάνεια 16</vt:lpstr>
      <vt:lpstr>Διαφάνεια 17</vt:lpstr>
      <vt:lpstr>Διαφάνεια 18</vt:lpstr>
      <vt:lpstr>Διαφάνεια 19</vt:lpstr>
      <vt:lpstr>Διαφάνεια 20</vt:lpstr>
      <vt:lpstr>Διαφάνεια 21</vt:lpstr>
    </vt:vector>
  </TitlesOfParts>
  <Company>Philip Scandalides Web Content Services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Συμβουλές για επιτυχημένες παρουσιάσεις στο PowerPoint</dc:title>
  <dc:creator>Philip Scandalides</dc:creator>
  <cp:lastModifiedBy>Γεώργιος Γιώτης</cp:lastModifiedBy>
  <cp:revision>226</cp:revision>
  <dcterms:created xsi:type="dcterms:W3CDTF">2004-05-12T12:24:06Z</dcterms:created>
  <dcterms:modified xsi:type="dcterms:W3CDTF">2015-09-15T09:18:02Z</dcterms:modified>
</cp:coreProperties>
</file>