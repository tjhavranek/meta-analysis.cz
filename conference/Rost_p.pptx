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54" r:id="rId2"/>
    <p:sldId id="362" r:id="rId3"/>
    <p:sldId id="355" r:id="rId4"/>
    <p:sldId id="363" r:id="rId5"/>
    <p:sldId id="356" r:id="rId6"/>
    <p:sldId id="364" r:id="rId7"/>
    <p:sldId id="367" r:id="rId8"/>
    <p:sldId id="365" r:id="rId9"/>
    <p:sldId id="366" r:id="rId10"/>
    <p:sldId id="368" r:id="rId11"/>
    <p:sldId id="370" r:id="rId12"/>
    <p:sldId id="371" r:id="rId13"/>
    <p:sldId id="372" r:id="rId14"/>
    <p:sldId id="374" r:id="rId15"/>
    <p:sldId id="375" r:id="rId16"/>
    <p:sldId id="376" r:id="rId17"/>
    <p:sldId id="377" r:id="rId18"/>
    <p:sldId id="379" r:id="rId19"/>
    <p:sldId id="380" r:id="rId20"/>
    <p:sldId id="381" r:id="rId21"/>
    <p:sldId id="382" r:id="rId22"/>
    <p:sldId id="383" r:id="rId23"/>
    <p:sldId id="384" r:id="rId24"/>
  </p:sldIdLst>
  <p:sldSz cx="9144000" cy="5143500" type="screen16x9"/>
  <p:notesSz cx="6400800" cy="8686800"/>
  <p:defaultTextStyle>
    <a:defPPr>
      <a:defRPr lang="de-CH"/>
    </a:defPPr>
    <a:lvl1pPr algn="l" rtl="0" fontAlgn="base">
      <a:spcBef>
        <a:spcPct val="0"/>
      </a:spcBef>
      <a:spcAft>
        <a:spcPct val="0"/>
      </a:spcAft>
      <a:defRPr sz="1700" kern="1200">
        <a:solidFill>
          <a:schemeClr val="tx1"/>
        </a:solidFill>
        <a:latin typeface="Arial" charset="0"/>
        <a:ea typeface="+mn-ea"/>
        <a:cs typeface="Arial" charset="0"/>
      </a:defRPr>
    </a:lvl1pPr>
    <a:lvl2pPr marL="457200" algn="l" rtl="0" fontAlgn="base">
      <a:spcBef>
        <a:spcPct val="0"/>
      </a:spcBef>
      <a:spcAft>
        <a:spcPct val="0"/>
      </a:spcAft>
      <a:defRPr sz="1700" kern="1200">
        <a:solidFill>
          <a:schemeClr val="tx1"/>
        </a:solidFill>
        <a:latin typeface="Arial" charset="0"/>
        <a:ea typeface="+mn-ea"/>
        <a:cs typeface="Arial" charset="0"/>
      </a:defRPr>
    </a:lvl2pPr>
    <a:lvl3pPr marL="914400" algn="l" rtl="0" fontAlgn="base">
      <a:spcBef>
        <a:spcPct val="0"/>
      </a:spcBef>
      <a:spcAft>
        <a:spcPct val="0"/>
      </a:spcAft>
      <a:defRPr sz="1700" kern="1200">
        <a:solidFill>
          <a:schemeClr val="tx1"/>
        </a:solidFill>
        <a:latin typeface="Arial" charset="0"/>
        <a:ea typeface="+mn-ea"/>
        <a:cs typeface="Arial" charset="0"/>
      </a:defRPr>
    </a:lvl3pPr>
    <a:lvl4pPr marL="1371600" algn="l" rtl="0" fontAlgn="base">
      <a:spcBef>
        <a:spcPct val="0"/>
      </a:spcBef>
      <a:spcAft>
        <a:spcPct val="0"/>
      </a:spcAft>
      <a:defRPr sz="1700" kern="1200">
        <a:solidFill>
          <a:schemeClr val="tx1"/>
        </a:solidFill>
        <a:latin typeface="Arial" charset="0"/>
        <a:ea typeface="+mn-ea"/>
        <a:cs typeface="Arial" charset="0"/>
      </a:defRPr>
    </a:lvl4pPr>
    <a:lvl5pPr marL="1828800" algn="l" rtl="0" fontAlgn="base">
      <a:spcBef>
        <a:spcPct val="0"/>
      </a:spcBef>
      <a:spcAft>
        <a:spcPct val="0"/>
      </a:spcAft>
      <a:defRPr sz="1700" kern="1200">
        <a:solidFill>
          <a:schemeClr val="tx1"/>
        </a:solidFill>
        <a:latin typeface="Arial" charset="0"/>
        <a:ea typeface="+mn-ea"/>
        <a:cs typeface="Arial" charset="0"/>
      </a:defRPr>
    </a:lvl5pPr>
    <a:lvl6pPr marL="2286000" algn="l" defTabSz="914400" rtl="0" eaLnBrk="1" latinLnBrk="0" hangingPunct="1">
      <a:defRPr sz="1700" kern="1200">
        <a:solidFill>
          <a:schemeClr val="tx1"/>
        </a:solidFill>
        <a:latin typeface="Arial" charset="0"/>
        <a:ea typeface="+mn-ea"/>
        <a:cs typeface="Arial" charset="0"/>
      </a:defRPr>
    </a:lvl6pPr>
    <a:lvl7pPr marL="2743200" algn="l" defTabSz="914400" rtl="0" eaLnBrk="1" latinLnBrk="0" hangingPunct="1">
      <a:defRPr sz="1700" kern="1200">
        <a:solidFill>
          <a:schemeClr val="tx1"/>
        </a:solidFill>
        <a:latin typeface="Arial" charset="0"/>
        <a:ea typeface="+mn-ea"/>
        <a:cs typeface="Arial" charset="0"/>
      </a:defRPr>
    </a:lvl7pPr>
    <a:lvl8pPr marL="3200400" algn="l" defTabSz="914400" rtl="0" eaLnBrk="1" latinLnBrk="0" hangingPunct="1">
      <a:defRPr sz="1700" kern="1200">
        <a:solidFill>
          <a:schemeClr val="tx1"/>
        </a:solidFill>
        <a:latin typeface="Arial" charset="0"/>
        <a:ea typeface="+mn-ea"/>
        <a:cs typeface="Arial" charset="0"/>
      </a:defRPr>
    </a:lvl8pPr>
    <a:lvl9pPr marL="3657600" algn="l" defTabSz="914400" rtl="0" eaLnBrk="1" latinLnBrk="0" hangingPunct="1">
      <a:defRPr sz="17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9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54" autoAdjust="0"/>
    <p:restoredTop sz="79543" autoAdjust="0"/>
  </p:normalViewPr>
  <p:slideViewPr>
    <p:cSldViewPr snapToObjects="1" showGuides="1">
      <p:cViewPr>
        <p:scale>
          <a:sx n="75" d="100"/>
          <a:sy n="75" d="100"/>
        </p:scale>
        <p:origin x="-1728" y="-370"/>
      </p:cViewPr>
      <p:guideLst>
        <p:guide orient="horz" pos="599"/>
        <p:guide orient="horz" pos="3083"/>
        <p:guide orient="horz" pos="1042"/>
        <p:guide orient="horz" pos="2879"/>
        <p:guide orient="horz" pos="532"/>
        <p:guide pos="567"/>
        <p:guide pos="519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1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773363" cy="433388"/>
          </a:xfrm>
          <a:prstGeom prst="rect">
            <a:avLst/>
          </a:prstGeom>
          <a:noFill/>
          <a:ln w="9525">
            <a:noFill/>
            <a:miter lim="800000"/>
            <a:headEnd/>
            <a:tailEnd/>
          </a:ln>
          <a:effectLst/>
        </p:spPr>
        <p:txBody>
          <a:bodyPr vert="horz" wrap="square" lIns="86211" tIns="43106" rIns="86211" bIns="43106" numCol="1" anchor="t" anchorCtr="0" compatLnSpc="1">
            <a:prstTxWarp prst="textNoShape">
              <a:avLst/>
            </a:prstTxWarp>
          </a:bodyPr>
          <a:lstStyle>
            <a:lvl1pPr defTabSz="862013">
              <a:defRPr sz="1100"/>
            </a:lvl1pPr>
          </a:lstStyle>
          <a:p>
            <a:endParaRPr lang="de-CH"/>
          </a:p>
        </p:txBody>
      </p:sp>
      <p:sp>
        <p:nvSpPr>
          <p:cNvPr id="5123" name="Rectangle 3"/>
          <p:cNvSpPr>
            <a:spLocks noGrp="1" noChangeArrowheads="1"/>
          </p:cNvSpPr>
          <p:nvPr>
            <p:ph type="dt" idx="1"/>
          </p:nvPr>
        </p:nvSpPr>
        <p:spPr bwMode="auto">
          <a:xfrm>
            <a:off x="3625850" y="0"/>
            <a:ext cx="2773363" cy="433388"/>
          </a:xfrm>
          <a:prstGeom prst="rect">
            <a:avLst/>
          </a:prstGeom>
          <a:noFill/>
          <a:ln w="9525">
            <a:noFill/>
            <a:miter lim="800000"/>
            <a:headEnd/>
            <a:tailEnd/>
          </a:ln>
          <a:effectLst/>
        </p:spPr>
        <p:txBody>
          <a:bodyPr vert="horz" wrap="square" lIns="86211" tIns="43106" rIns="86211" bIns="43106" numCol="1" anchor="t" anchorCtr="0" compatLnSpc="1">
            <a:prstTxWarp prst="textNoShape">
              <a:avLst/>
            </a:prstTxWarp>
          </a:bodyPr>
          <a:lstStyle>
            <a:lvl1pPr algn="r" defTabSz="862013">
              <a:defRPr sz="1100"/>
            </a:lvl1pPr>
          </a:lstStyle>
          <a:p>
            <a:endParaRPr lang="de-CH"/>
          </a:p>
        </p:txBody>
      </p:sp>
      <p:sp>
        <p:nvSpPr>
          <p:cNvPr id="5124" name="Rectangle 4"/>
          <p:cNvSpPr>
            <a:spLocks noGrp="1" noRot="1" noChangeAspect="1" noChangeArrowheads="1" noTextEdit="1"/>
          </p:cNvSpPr>
          <p:nvPr>
            <p:ph type="sldImg" idx="2"/>
          </p:nvPr>
        </p:nvSpPr>
        <p:spPr bwMode="auto">
          <a:xfrm>
            <a:off x="307975" y="652463"/>
            <a:ext cx="5786438" cy="3255962"/>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39763" y="4125913"/>
            <a:ext cx="5121275" cy="3908425"/>
          </a:xfrm>
          <a:prstGeom prst="rect">
            <a:avLst/>
          </a:prstGeom>
          <a:noFill/>
          <a:ln w="9525">
            <a:noFill/>
            <a:miter lim="800000"/>
            <a:headEnd/>
            <a:tailEnd/>
          </a:ln>
          <a:effectLst/>
        </p:spPr>
        <p:txBody>
          <a:bodyPr vert="horz" wrap="square" lIns="86211" tIns="43106" rIns="86211" bIns="43106" numCol="1" anchor="t" anchorCtr="0" compatLnSpc="1">
            <a:prstTxWarp prst="textNoShape">
              <a:avLst/>
            </a:prstTxWarp>
          </a:bodyPr>
          <a:lstStyle/>
          <a:p>
            <a:pPr lvl="0"/>
            <a:r>
              <a:rPr lang="de-CH" smtClean="0"/>
              <a:t>Textmasterformate durch Klicken bearbeiten</a:t>
            </a:r>
          </a:p>
          <a:p>
            <a:pPr lvl="1"/>
            <a:r>
              <a:rPr lang="de-CH" smtClean="0"/>
              <a:t>Zweite Ebene</a:t>
            </a:r>
          </a:p>
          <a:p>
            <a:pPr lvl="2"/>
            <a:r>
              <a:rPr lang="de-CH" smtClean="0"/>
              <a:t>Dritte Ebene</a:t>
            </a:r>
          </a:p>
          <a:p>
            <a:pPr lvl="3"/>
            <a:r>
              <a:rPr lang="de-CH" smtClean="0"/>
              <a:t>Vierte Ebene</a:t>
            </a:r>
          </a:p>
          <a:p>
            <a:pPr lvl="4"/>
            <a:r>
              <a:rPr lang="de-CH" smtClean="0"/>
              <a:t>Fünfte Ebene</a:t>
            </a:r>
          </a:p>
        </p:txBody>
      </p:sp>
      <p:sp>
        <p:nvSpPr>
          <p:cNvPr id="5126" name="Rectangle 6"/>
          <p:cNvSpPr>
            <a:spLocks noGrp="1" noChangeArrowheads="1"/>
          </p:cNvSpPr>
          <p:nvPr>
            <p:ph type="ftr" sz="quarter" idx="4"/>
          </p:nvPr>
        </p:nvSpPr>
        <p:spPr bwMode="auto">
          <a:xfrm>
            <a:off x="0" y="8251825"/>
            <a:ext cx="2773363" cy="433388"/>
          </a:xfrm>
          <a:prstGeom prst="rect">
            <a:avLst/>
          </a:prstGeom>
          <a:noFill/>
          <a:ln w="9525">
            <a:noFill/>
            <a:miter lim="800000"/>
            <a:headEnd/>
            <a:tailEnd/>
          </a:ln>
          <a:effectLst/>
        </p:spPr>
        <p:txBody>
          <a:bodyPr vert="horz" wrap="square" lIns="86211" tIns="43106" rIns="86211" bIns="43106" numCol="1" anchor="b" anchorCtr="0" compatLnSpc="1">
            <a:prstTxWarp prst="textNoShape">
              <a:avLst/>
            </a:prstTxWarp>
          </a:bodyPr>
          <a:lstStyle>
            <a:lvl1pPr defTabSz="862013">
              <a:defRPr sz="1100"/>
            </a:lvl1pPr>
          </a:lstStyle>
          <a:p>
            <a:endParaRPr lang="de-CH"/>
          </a:p>
        </p:txBody>
      </p:sp>
      <p:sp>
        <p:nvSpPr>
          <p:cNvPr id="5127" name="Rectangle 7"/>
          <p:cNvSpPr>
            <a:spLocks noGrp="1" noChangeArrowheads="1"/>
          </p:cNvSpPr>
          <p:nvPr>
            <p:ph type="sldNum" sz="quarter" idx="5"/>
          </p:nvPr>
        </p:nvSpPr>
        <p:spPr bwMode="auto">
          <a:xfrm>
            <a:off x="3625850" y="8251825"/>
            <a:ext cx="2773363" cy="433388"/>
          </a:xfrm>
          <a:prstGeom prst="rect">
            <a:avLst/>
          </a:prstGeom>
          <a:noFill/>
          <a:ln w="9525">
            <a:noFill/>
            <a:miter lim="800000"/>
            <a:headEnd/>
            <a:tailEnd/>
          </a:ln>
          <a:effectLst/>
        </p:spPr>
        <p:txBody>
          <a:bodyPr vert="horz" wrap="square" lIns="86211" tIns="43106" rIns="86211" bIns="43106" numCol="1" anchor="b" anchorCtr="0" compatLnSpc="1">
            <a:prstTxWarp prst="textNoShape">
              <a:avLst/>
            </a:prstTxWarp>
          </a:bodyPr>
          <a:lstStyle>
            <a:lvl1pPr algn="r" defTabSz="862013">
              <a:defRPr sz="1100"/>
            </a:lvl1pPr>
          </a:lstStyle>
          <a:p>
            <a:fld id="{16F90109-4F21-4BBC-B978-135A6ECFD136}" type="slidenum">
              <a:rPr lang="de-CH"/>
              <a:pPr/>
              <a:t>‹Nr.›</a:t>
            </a:fld>
            <a:endParaRPr lang="de-CH"/>
          </a:p>
        </p:txBody>
      </p:sp>
    </p:spTree>
    <p:extLst>
      <p:ext uri="{BB962C8B-B14F-4D97-AF65-F5344CB8AC3E}">
        <p14:creationId xmlns:p14="http://schemas.microsoft.com/office/powerpoint/2010/main" val="13693469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900114" y="1491854"/>
            <a:ext cx="7343775" cy="1151904"/>
          </a:xfrm>
        </p:spPr>
        <p:txBody>
          <a:bodyPr/>
          <a:lstStyle>
            <a:lvl1pPr>
              <a:defRPr sz="3900">
                <a:solidFill>
                  <a:schemeClr val="tx2"/>
                </a:solidFill>
              </a:defRPr>
            </a:lvl1pPr>
          </a:lstStyle>
          <a:p>
            <a:r>
              <a:rPr lang="de-DE" dirty="0" smtClean="0"/>
              <a:t>Titelmasterformat durch Klicken bearbeiten</a:t>
            </a:r>
            <a:endParaRPr lang="de-CH" dirty="0"/>
          </a:p>
        </p:txBody>
      </p:sp>
      <p:sp>
        <p:nvSpPr>
          <p:cNvPr id="4099" name="Rectangle 3"/>
          <p:cNvSpPr>
            <a:spLocks noGrp="1" noChangeArrowheads="1"/>
          </p:cNvSpPr>
          <p:nvPr>
            <p:ph type="subTitle" idx="1"/>
          </p:nvPr>
        </p:nvSpPr>
        <p:spPr>
          <a:xfrm>
            <a:off x="900114" y="2769468"/>
            <a:ext cx="7343775" cy="1314450"/>
          </a:xfrm>
        </p:spPr>
        <p:txBody>
          <a:bodyPr/>
          <a:lstStyle>
            <a:lvl1pPr>
              <a:defRPr/>
            </a:lvl1pPr>
          </a:lstStyle>
          <a:p>
            <a:r>
              <a:rPr lang="de-DE" dirty="0" smtClean="0"/>
              <a:t>Formatvorlage des Untertitelmasters durch Klicken bearbeiten</a:t>
            </a:r>
            <a:endParaRPr lang="de-CH" dirty="0"/>
          </a:p>
        </p:txBody>
      </p:sp>
      <p:sp>
        <p:nvSpPr>
          <p:cNvPr id="4100" name="Rectangle 4"/>
          <p:cNvSpPr>
            <a:spLocks noGrp="1" noChangeArrowheads="1"/>
          </p:cNvSpPr>
          <p:nvPr>
            <p:ph type="dt" sz="half" idx="2"/>
          </p:nvPr>
        </p:nvSpPr>
        <p:spPr>
          <a:xfrm>
            <a:off x="900113" y="4893469"/>
            <a:ext cx="2133600" cy="161925"/>
          </a:xfrm>
        </p:spPr>
        <p:txBody>
          <a:bodyPr/>
          <a:lstStyle>
            <a:lvl1pPr>
              <a:defRPr/>
            </a:lvl1pPr>
          </a:lstStyle>
          <a:p>
            <a:fld id="{A5C78DC6-FE69-4DFE-BA45-3065989F7738}" type="datetime1">
              <a:rPr lang="de-CH"/>
              <a:pPr/>
              <a:t>10.09.2015</a:t>
            </a:fld>
            <a:endParaRPr lang="de-CH" dirty="0"/>
          </a:p>
        </p:txBody>
      </p:sp>
      <p:sp>
        <p:nvSpPr>
          <p:cNvPr id="4102" name="Rectangle 6"/>
          <p:cNvSpPr>
            <a:spLocks noGrp="1" noChangeArrowheads="1"/>
          </p:cNvSpPr>
          <p:nvPr>
            <p:ph type="sldNum" sz="quarter" idx="4"/>
          </p:nvPr>
        </p:nvSpPr>
        <p:spPr>
          <a:xfrm>
            <a:off x="6399214" y="4893469"/>
            <a:ext cx="1844675" cy="161925"/>
          </a:xfrm>
        </p:spPr>
        <p:txBody>
          <a:bodyPr/>
          <a:lstStyle>
            <a:lvl1pPr>
              <a:defRPr/>
            </a:lvl1pPr>
          </a:lstStyle>
          <a:p>
            <a:r>
              <a:rPr lang="de-CH" dirty="0"/>
              <a:t>Seite </a:t>
            </a:r>
            <a:fld id="{095A06C1-A939-4FDB-AEB0-B3358448343A}" type="slidenum">
              <a:rPr lang="de-CH"/>
              <a:pPr/>
              <a:t>‹Nr.›</a:t>
            </a:fld>
            <a:endParaRPr lang="de-CH" dirty="0"/>
          </a:p>
        </p:txBody>
      </p:sp>
      <p:sp>
        <p:nvSpPr>
          <p:cNvPr id="4104" name="Line 8"/>
          <p:cNvSpPr>
            <a:spLocks noChangeShapeType="1"/>
          </p:cNvSpPr>
          <p:nvPr userDrawn="1"/>
        </p:nvSpPr>
        <p:spPr bwMode="auto">
          <a:xfrm>
            <a:off x="0" y="844154"/>
            <a:ext cx="9144000" cy="0"/>
          </a:xfrm>
          <a:prstGeom prst="line">
            <a:avLst/>
          </a:prstGeom>
          <a:noFill/>
          <a:ln w="15875">
            <a:solidFill>
              <a:schemeClr val="accent2"/>
            </a:solidFill>
            <a:round/>
            <a:headEnd/>
            <a:tailEnd/>
          </a:ln>
          <a:effectLst/>
        </p:spPr>
        <p:txBody>
          <a:bodyPr/>
          <a:lstStyle/>
          <a:p>
            <a:endParaRPr lang="de-CH" dirty="0"/>
          </a:p>
        </p:txBody>
      </p:sp>
      <p:pic>
        <p:nvPicPr>
          <p:cNvPr id="8" name="Grafik 7" descr="uzh_logo_e_pos_grau_1mm.tif"/>
          <p:cNvPicPr>
            <a:picLocks noChangeAspect="1"/>
          </p:cNvPicPr>
          <p:nvPr userDrawn="1"/>
        </p:nvPicPr>
        <p:blipFill>
          <a:blip r:embed="rId2" cstate="print"/>
          <a:stretch>
            <a:fillRect/>
          </a:stretch>
        </p:blipFill>
        <p:spPr>
          <a:xfrm>
            <a:off x="168816" y="64726"/>
            <a:ext cx="2026920" cy="684276"/>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apitel">
    <p:spTree>
      <p:nvGrpSpPr>
        <p:cNvPr id="1" name=""/>
        <p:cNvGrpSpPr/>
        <p:nvPr/>
      </p:nvGrpSpPr>
      <p:grpSpPr>
        <a:xfrm>
          <a:off x="0" y="0"/>
          <a:ext cx="0" cy="0"/>
          <a:chOff x="0" y="0"/>
          <a:chExt cx="0" cy="0"/>
        </a:xfrm>
      </p:grpSpPr>
      <p:sp>
        <p:nvSpPr>
          <p:cNvPr id="7" name="Rechteck 6"/>
          <p:cNvSpPr/>
          <p:nvPr userDrawn="1"/>
        </p:nvSpPr>
        <p:spPr bwMode="gray">
          <a:xfrm>
            <a:off x="0" y="844153"/>
            <a:ext cx="9144000" cy="4299347"/>
          </a:xfrm>
          <a:prstGeom prst="rect">
            <a:avLst/>
          </a:prstGeom>
          <a:solidFill>
            <a:schemeClr val="accent3"/>
          </a:solid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CH" sz="1700" b="0" i="0" u="none" strike="noStrike" cap="none" normalizeH="0" baseline="0" dirty="0" smtClean="0">
              <a:ln>
                <a:noFill/>
              </a:ln>
              <a:solidFill>
                <a:schemeClr val="tx1"/>
              </a:solidFill>
              <a:effectLst/>
              <a:latin typeface="Arial" charset="0"/>
              <a:cs typeface="Arial" charset="0"/>
            </a:endParaRPr>
          </a:p>
        </p:txBody>
      </p:sp>
      <p:sp>
        <p:nvSpPr>
          <p:cNvPr id="2" name="Titel 1"/>
          <p:cNvSpPr>
            <a:spLocks noGrp="1"/>
          </p:cNvSpPr>
          <p:nvPr>
            <p:ph type="title"/>
          </p:nvPr>
        </p:nvSpPr>
        <p:spPr bwMode="gray">
          <a:solidFill>
            <a:schemeClr val="accent3"/>
          </a:solidFill>
        </p:spPr>
        <p:txBody>
          <a:bodyPr/>
          <a:lstStyle>
            <a:lvl1pPr>
              <a:defRPr>
                <a:solidFill>
                  <a:schemeClr val="bg1"/>
                </a:solidFill>
              </a:defRPr>
            </a:lvl1pPr>
          </a:lstStyle>
          <a:p>
            <a:r>
              <a:rPr lang="de-DE" smtClean="0"/>
              <a:t>Titelmasterformat durch Klicken bearbeiten</a:t>
            </a:r>
            <a:endParaRPr lang="de-CH"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Inhaltsplatzhalter 2"/>
          <p:cNvSpPr>
            <a:spLocks noGrp="1"/>
          </p:cNvSpPr>
          <p:nvPr>
            <p:ph idx="1"/>
          </p:nvPr>
        </p:nvSpPr>
        <p:spPr>
          <a:xfrm>
            <a:off x="900114" y="1816150"/>
            <a:ext cx="7343775" cy="2915840"/>
          </a:xfrm>
        </p:spPr>
        <p:txBody>
          <a:bodyPr/>
          <a:lstStyle/>
          <a:p>
            <a:pPr lvl="0"/>
            <a:r>
              <a:rPr lang="de-DE" dirty="0" smtClean="0"/>
              <a:t>Textmasterformat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CH" dirty="0"/>
          </a:p>
        </p:txBody>
      </p:sp>
      <p:sp>
        <p:nvSpPr>
          <p:cNvPr id="4" name="Datumsplatzhalter 3"/>
          <p:cNvSpPr>
            <a:spLocks noGrp="1"/>
          </p:cNvSpPr>
          <p:nvPr>
            <p:ph type="dt" sz="half" idx="10"/>
          </p:nvPr>
        </p:nvSpPr>
        <p:spPr/>
        <p:txBody>
          <a:bodyPr/>
          <a:lstStyle>
            <a:lvl1pPr>
              <a:defRPr/>
            </a:lvl1pPr>
          </a:lstStyle>
          <a:p>
            <a:fld id="{55DEFF01-2D73-4C5E-9EFF-7CA45581418C}" type="datetime1">
              <a:rPr lang="de-CH"/>
              <a:pPr/>
              <a:t>10.09.2015</a:t>
            </a:fld>
            <a:endParaRPr lang="de-CH" dirty="0"/>
          </a:p>
        </p:txBody>
      </p:sp>
      <p:sp>
        <p:nvSpPr>
          <p:cNvPr id="6" name="Foliennummernplatzhalter 5"/>
          <p:cNvSpPr>
            <a:spLocks noGrp="1"/>
          </p:cNvSpPr>
          <p:nvPr>
            <p:ph type="sldNum" sz="quarter" idx="12"/>
          </p:nvPr>
        </p:nvSpPr>
        <p:spPr/>
        <p:txBody>
          <a:bodyPr/>
          <a:lstStyle>
            <a:lvl1pPr>
              <a:defRPr/>
            </a:lvl1pPr>
          </a:lstStyle>
          <a:p>
            <a:r>
              <a:rPr lang="de-CH" dirty="0"/>
              <a:t>Seite </a:t>
            </a:r>
            <a:fld id="{298DDF54-96CA-4706-AFE9-54D71408EAE8}" type="slidenum">
              <a:rPr lang="de-CH"/>
              <a:pPr/>
              <a:t>‹Nr.›</a:t>
            </a:fld>
            <a:endParaRPr lang="de-CH"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2sp">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Inhaltsplatzhalter 2"/>
          <p:cNvSpPr>
            <a:spLocks noGrp="1"/>
          </p:cNvSpPr>
          <p:nvPr>
            <p:ph idx="1"/>
          </p:nvPr>
        </p:nvSpPr>
        <p:spPr>
          <a:xfrm>
            <a:off x="900114" y="1653779"/>
            <a:ext cx="3529011" cy="291584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dirty="0"/>
          </a:p>
        </p:txBody>
      </p:sp>
      <p:sp>
        <p:nvSpPr>
          <p:cNvPr id="4" name="Datumsplatzhalter 3"/>
          <p:cNvSpPr>
            <a:spLocks noGrp="1"/>
          </p:cNvSpPr>
          <p:nvPr>
            <p:ph type="dt" sz="half" idx="10"/>
          </p:nvPr>
        </p:nvSpPr>
        <p:spPr/>
        <p:txBody>
          <a:bodyPr/>
          <a:lstStyle>
            <a:lvl1pPr>
              <a:defRPr/>
            </a:lvl1pPr>
          </a:lstStyle>
          <a:p>
            <a:fld id="{55DEFF01-2D73-4C5E-9EFF-7CA45581418C}" type="datetime1">
              <a:rPr lang="de-CH"/>
              <a:pPr/>
              <a:t>10.09.2015</a:t>
            </a:fld>
            <a:endParaRPr lang="de-CH" dirty="0"/>
          </a:p>
        </p:txBody>
      </p:sp>
      <p:sp>
        <p:nvSpPr>
          <p:cNvPr id="5" name="Fußzeilenplatzhalter 4"/>
          <p:cNvSpPr>
            <a:spLocks noGrp="1"/>
          </p:cNvSpPr>
          <p:nvPr>
            <p:ph type="ftr" sz="quarter" idx="11"/>
          </p:nvPr>
        </p:nvSpPr>
        <p:spPr>
          <a:xfrm>
            <a:off x="1908176" y="4893469"/>
            <a:ext cx="5256213" cy="161925"/>
          </a:xfrm>
          <a:prstGeom prst="rect">
            <a:avLst/>
          </a:prstGeom>
        </p:spPr>
        <p:txBody>
          <a:bodyPr/>
          <a:lstStyle>
            <a:lvl1pPr>
              <a:defRPr/>
            </a:lvl1pPr>
          </a:lstStyle>
          <a:p>
            <a:r>
              <a:rPr lang="de-CH" dirty="0" err="1" smtClean="0"/>
              <a:t>TEDxAllianz</a:t>
            </a:r>
            <a:r>
              <a:rPr lang="de-CH" dirty="0" smtClean="0"/>
              <a:t> Zürich, Katja Rost </a:t>
            </a:r>
            <a:endParaRPr lang="de-CH" dirty="0"/>
          </a:p>
        </p:txBody>
      </p:sp>
      <p:sp>
        <p:nvSpPr>
          <p:cNvPr id="6" name="Foliennummernplatzhalter 5"/>
          <p:cNvSpPr>
            <a:spLocks noGrp="1"/>
          </p:cNvSpPr>
          <p:nvPr>
            <p:ph type="sldNum" sz="quarter" idx="12"/>
          </p:nvPr>
        </p:nvSpPr>
        <p:spPr/>
        <p:txBody>
          <a:bodyPr/>
          <a:lstStyle>
            <a:lvl1pPr>
              <a:defRPr/>
            </a:lvl1pPr>
          </a:lstStyle>
          <a:p>
            <a:r>
              <a:rPr lang="de-CH"/>
              <a:t>Seite </a:t>
            </a:r>
            <a:fld id="{298DDF54-96CA-4706-AFE9-54D71408EAE8}" type="slidenum">
              <a:rPr lang="de-CH"/>
              <a:pPr/>
              <a:t>‹Nr.›</a:t>
            </a:fld>
            <a:endParaRPr lang="de-CH"/>
          </a:p>
        </p:txBody>
      </p:sp>
      <p:sp>
        <p:nvSpPr>
          <p:cNvPr id="8" name="Inhaltsplatzhalter 7"/>
          <p:cNvSpPr>
            <a:spLocks noGrp="1"/>
          </p:cNvSpPr>
          <p:nvPr>
            <p:ph sz="quarter" idx="13"/>
          </p:nvPr>
        </p:nvSpPr>
        <p:spPr>
          <a:xfrm>
            <a:off x="4714876" y="1653779"/>
            <a:ext cx="3529012" cy="291584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Text / Bi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Inhaltsplatzhalter 2"/>
          <p:cNvSpPr>
            <a:spLocks noGrp="1"/>
          </p:cNvSpPr>
          <p:nvPr>
            <p:ph idx="1"/>
          </p:nvPr>
        </p:nvSpPr>
        <p:spPr>
          <a:xfrm>
            <a:off x="900114" y="1653779"/>
            <a:ext cx="3529011" cy="291584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dirty="0"/>
          </a:p>
        </p:txBody>
      </p:sp>
      <p:sp>
        <p:nvSpPr>
          <p:cNvPr id="4" name="Datumsplatzhalter 3"/>
          <p:cNvSpPr>
            <a:spLocks noGrp="1"/>
          </p:cNvSpPr>
          <p:nvPr>
            <p:ph type="dt" sz="half" idx="10"/>
          </p:nvPr>
        </p:nvSpPr>
        <p:spPr/>
        <p:txBody>
          <a:bodyPr/>
          <a:lstStyle>
            <a:lvl1pPr>
              <a:defRPr/>
            </a:lvl1pPr>
          </a:lstStyle>
          <a:p>
            <a:fld id="{55DEFF01-2D73-4C5E-9EFF-7CA45581418C}" type="datetime1">
              <a:rPr lang="de-CH"/>
              <a:pPr/>
              <a:t>10.09.2015</a:t>
            </a:fld>
            <a:endParaRPr lang="de-CH"/>
          </a:p>
        </p:txBody>
      </p:sp>
      <p:sp>
        <p:nvSpPr>
          <p:cNvPr id="5" name="Fußzeilenplatzhalter 4"/>
          <p:cNvSpPr>
            <a:spLocks noGrp="1"/>
          </p:cNvSpPr>
          <p:nvPr>
            <p:ph type="ftr" sz="quarter" idx="11"/>
          </p:nvPr>
        </p:nvSpPr>
        <p:spPr>
          <a:xfrm>
            <a:off x="1908176" y="4893469"/>
            <a:ext cx="5256213" cy="161925"/>
          </a:xfrm>
          <a:prstGeom prst="rect">
            <a:avLst/>
          </a:prstGeom>
        </p:spPr>
        <p:txBody>
          <a:bodyPr/>
          <a:lstStyle>
            <a:lvl1pPr>
              <a:defRPr/>
            </a:lvl1pPr>
          </a:lstStyle>
          <a:p>
            <a:r>
              <a:rPr lang="de-CH"/>
              <a:t>Titel der Präsentation, Autor</a:t>
            </a:r>
          </a:p>
        </p:txBody>
      </p:sp>
      <p:sp>
        <p:nvSpPr>
          <p:cNvPr id="6" name="Foliennummernplatzhalter 5"/>
          <p:cNvSpPr>
            <a:spLocks noGrp="1"/>
          </p:cNvSpPr>
          <p:nvPr>
            <p:ph type="sldNum" sz="quarter" idx="12"/>
          </p:nvPr>
        </p:nvSpPr>
        <p:spPr/>
        <p:txBody>
          <a:bodyPr/>
          <a:lstStyle>
            <a:lvl1pPr>
              <a:defRPr/>
            </a:lvl1pPr>
          </a:lstStyle>
          <a:p>
            <a:r>
              <a:rPr lang="de-CH"/>
              <a:t>Seite </a:t>
            </a:r>
            <a:fld id="{298DDF54-96CA-4706-AFE9-54D71408EAE8}" type="slidenum">
              <a:rPr lang="de-CH"/>
              <a:pPr/>
              <a:t>‹Nr.›</a:t>
            </a:fld>
            <a:endParaRPr lang="de-CH"/>
          </a:p>
        </p:txBody>
      </p:sp>
      <p:sp>
        <p:nvSpPr>
          <p:cNvPr id="10" name="Bildplatzhalter 9"/>
          <p:cNvSpPr>
            <a:spLocks noGrp="1"/>
          </p:cNvSpPr>
          <p:nvPr>
            <p:ph type="pic" sz="quarter" idx="13"/>
          </p:nvPr>
        </p:nvSpPr>
        <p:spPr>
          <a:xfrm>
            <a:off x="4716464" y="1653779"/>
            <a:ext cx="3527425" cy="2915840"/>
          </a:xfrm>
        </p:spPr>
        <p:txBody>
          <a:bodyPr/>
          <a:lstStyle/>
          <a:p>
            <a:r>
              <a:rPr lang="de-DE" smtClean="0"/>
              <a:t>Bild durch Klicken auf Symbol hinzufügen</a:t>
            </a:r>
            <a:endParaRPr lang="de-CH"/>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Bild /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Inhaltsplatzhalter 2"/>
          <p:cNvSpPr>
            <a:spLocks noGrp="1"/>
          </p:cNvSpPr>
          <p:nvPr>
            <p:ph idx="1"/>
          </p:nvPr>
        </p:nvSpPr>
        <p:spPr>
          <a:xfrm>
            <a:off x="4716464" y="1653779"/>
            <a:ext cx="3529011" cy="291584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dirty="0"/>
          </a:p>
        </p:txBody>
      </p:sp>
      <p:sp>
        <p:nvSpPr>
          <p:cNvPr id="4" name="Datumsplatzhalter 3"/>
          <p:cNvSpPr>
            <a:spLocks noGrp="1"/>
          </p:cNvSpPr>
          <p:nvPr>
            <p:ph type="dt" sz="half" idx="10"/>
          </p:nvPr>
        </p:nvSpPr>
        <p:spPr/>
        <p:txBody>
          <a:bodyPr/>
          <a:lstStyle>
            <a:lvl1pPr>
              <a:defRPr/>
            </a:lvl1pPr>
          </a:lstStyle>
          <a:p>
            <a:fld id="{55DEFF01-2D73-4C5E-9EFF-7CA45581418C}" type="datetime1">
              <a:rPr lang="de-CH"/>
              <a:pPr/>
              <a:t>10.09.2015</a:t>
            </a:fld>
            <a:endParaRPr lang="de-CH"/>
          </a:p>
        </p:txBody>
      </p:sp>
      <p:sp>
        <p:nvSpPr>
          <p:cNvPr id="5" name="Fußzeilenplatzhalter 4"/>
          <p:cNvSpPr>
            <a:spLocks noGrp="1"/>
          </p:cNvSpPr>
          <p:nvPr>
            <p:ph type="ftr" sz="quarter" idx="11"/>
          </p:nvPr>
        </p:nvSpPr>
        <p:spPr>
          <a:xfrm>
            <a:off x="1908176" y="4893469"/>
            <a:ext cx="5256213" cy="161925"/>
          </a:xfrm>
          <a:prstGeom prst="rect">
            <a:avLst/>
          </a:prstGeom>
        </p:spPr>
        <p:txBody>
          <a:bodyPr/>
          <a:lstStyle>
            <a:lvl1pPr>
              <a:defRPr/>
            </a:lvl1pPr>
          </a:lstStyle>
          <a:p>
            <a:r>
              <a:rPr lang="de-CH" dirty="0" err="1" smtClean="0"/>
              <a:t>TEDxAllianz</a:t>
            </a:r>
            <a:r>
              <a:rPr lang="de-CH" dirty="0" smtClean="0"/>
              <a:t> Zürich, Katja Rost</a:t>
            </a:r>
            <a:endParaRPr lang="de-CH" dirty="0"/>
          </a:p>
        </p:txBody>
      </p:sp>
      <p:sp>
        <p:nvSpPr>
          <p:cNvPr id="6" name="Foliennummernplatzhalter 5"/>
          <p:cNvSpPr>
            <a:spLocks noGrp="1"/>
          </p:cNvSpPr>
          <p:nvPr>
            <p:ph type="sldNum" sz="quarter" idx="12"/>
          </p:nvPr>
        </p:nvSpPr>
        <p:spPr/>
        <p:txBody>
          <a:bodyPr/>
          <a:lstStyle>
            <a:lvl1pPr>
              <a:defRPr/>
            </a:lvl1pPr>
          </a:lstStyle>
          <a:p>
            <a:r>
              <a:rPr lang="de-CH"/>
              <a:t>Seite </a:t>
            </a:r>
            <a:fld id="{298DDF54-96CA-4706-AFE9-54D71408EAE8}" type="slidenum">
              <a:rPr lang="de-CH"/>
              <a:pPr/>
              <a:t>‹Nr.›</a:t>
            </a:fld>
            <a:endParaRPr lang="de-CH"/>
          </a:p>
        </p:txBody>
      </p:sp>
      <p:sp>
        <p:nvSpPr>
          <p:cNvPr id="10" name="Bildplatzhalter 9"/>
          <p:cNvSpPr>
            <a:spLocks noGrp="1"/>
          </p:cNvSpPr>
          <p:nvPr>
            <p:ph type="pic" sz="quarter" idx="13"/>
          </p:nvPr>
        </p:nvSpPr>
        <p:spPr>
          <a:xfrm>
            <a:off x="900114" y="1653779"/>
            <a:ext cx="3527425" cy="2915840"/>
          </a:xfrm>
        </p:spPr>
        <p:txBody>
          <a:bodyPr/>
          <a:lstStyle/>
          <a:p>
            <a:r>
              <a:rPr lang="de-DE" smtClean="0"/>
              <a:t>Bild durch Klicken auf Symbol hinzufügen</a:t>
            </a:r>
            <a:endParaRPr lang="de-CH"/>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00114" y="951310"/>
            <a:ext cx="7343775" cy="377428"/>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r>
              <a:rPr lang="de-CH" dirty="0" smtClean="0"/>
              <a:t>Titelmasterformat durch Klicken bearbeiten</a:t>
            </a:r>
          </a:p>
        </p:txBody>
      </p:sp>
      <p:sp>
        <p:nvSpPr>
          <p:cNvPr id="1027" name="Rectangle 3"/>
          <p:cNvSpPr>
            <a:spLocks noGrp="1" noChangeArrowheads="1"/>
          </p:cNvSpPr>
          <p:nvPr>
            <p:ph type="body" idx="1"/>
          </p:nvPr>
        </p:nvSpPr>
        <p:spPr bwMode="auto">
          <a:xfrm>
            <a:off x="900114" y="1653779"/>
            <a:ext cx="7343775" cy="291584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de-CH" smtClean="0"/>
              <a:t>Textmasterformate durch Klicken bearbeiten</a:t>
            </a:r>
          </a:p>
          <a:p>
            <a:pPr lvl="1"/>
            <a:r>
              <a:rPr lang="de-CH" smtClean="0"/>
              <a:t>Zweite Ebene</a:t>
            </a:r>
          </a:p>
          <a:p>
            <a:pPr lvl="2"/>
            <a:r>
              <a:rPr lang="de-CH" smtClean="0"/>
              <a:t>Dritte Ebene</a:t>
            </a:r>
          </a:p>
          <a:p>
            <a:pPr lvl="3"/>
            <a:r>
              <a:rPr lang="de-CH" smtClean="0"/>
              <a:t>Vierte Ebene</a:t>
            </a:r>
          </a:p>
          <a:p>
            <a:pPr lvl="4"/>
            <a:r>
              <a:rPr lang="de-CH" smtClean="0"/>
              <a:t>Fünfte Ebene</a:t>
            </a:r>
          </a:p>
        </p:txBody>
      </p:sp>
      <p:sp>
        <p:nvSpPr>
          <p:cNvPr id="1028" name="Rectangle 4"/>
          <p:cNvSpPr>
            <a:spLocks noGrp="1" noChangeArrowheads="1"/>
          </p:cNvSpPr>
          <p:nvPr>
            <p:ph type="dt" sz="half" idx="2"/>
          </p:nvPr>
        </p:nvSpPr>
        <p:spPr bwMode="auto">
          <a:xfrm>
            <a:off x="900114" y="4893469"/>
            <a:ext cx="935037" cy="16192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defRPr sz="1000"/>
            </a:lvl1pPr>
          </a:lstStyle>
          <a:p>
            <a:fld id="{87B93BFF-BEE4-46C8-B68B-37845209E9A9}" type="datetime1">
              <a:rPr lang="de-CH"/>
              <a:pPr/>
              <a:t>10.09.2015</a:t>
            </a:fld>
            <a:endParaRPr lang="de-CH" dirty="0"/>
          </a:p>
        </p:txBody>
      </p:sp>
      <p:sp>
        <p:nvSpPr>
          <p:cNvPr id="1030" name="Rectangle 6"/>
          <p:cNvSpPr>
            <a:spLocks noGrp="1" noChangeArrowheads="1"/>
          </p:cNvSpPr>
          <p:nvPr>
            <p:ph type="sldNum" sz="quarter" idx="4"/>
          </p:nvPr>
        </p:nvSpPr>
        <p:spPr bwMode="auto">
          <a:xfrm>
            <a:off x="7451726" y="4893469"/>
            <a:ext cx="792163" cy="16192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a:defRPr sz="1000"/>
            </a:lvl1pPr>
          </a:lstStyle>
          <a:p>
            <a:r>
              <a:rPr lang="de-CH" dirty="0"/>
              <a:t>Seite </a:t>
            </a:r>
            <a:fld id="{45B55F50-8663-4465-A6C3-5F55140633EF}" type="slidenum">
              <a:rPr lang="de-CH"/>
              <a:pPr/>
              <a:t>‹Nr.›</a:t>
            </a:fld>
            <a:endParaRPr lang="de-CH" dirty="0"/>
          </a:p>
        </p:txBody>
      </p:sp>
      <p:sp>
        <p:nvSpPr>
          <p:cNvPr id="1034" name="Line 10"/>
          <p:cNvSpPr>
            <a:spLocks noChangeShapeType="1"/>
          </p:cNvSpPr>
          <p:nvPr/>
        </p:nvSpPr>
        <p:spPr bwMode="auto">
          <a:xfrm>
            <a:off x="0" y="844154"/>
            <a:ext cx="9144000" cy="0"/>
          </a:xfrm>
          <a:prstGeom prst="line">
            <a:avLst/>
          </a:prstGeom>
          <a:noFill/>
          <a:ln w="15875">
            <a:solidFill>
              <a:schemeClr val="accent2"/>
            </a:solidFill>
            <a:round/>
            <a:headEnd/>
            <a:tailEnd/>
          </a:ln>
          <a:effectLst/>
        </p:spPr>
        <p:txBody>
          <a:bodyPr/>
          <a:lstStyle/>
          <a:p>
            <a:endParaRPr lang="de-CH" dirty="0"/>
          </a:p>
        </p:txBody>
      </p:sp>
      <p:pic>
        <p:nvPicPr>
          <p:cNvPr id="8" name="Grafik 7" descr="uzh_logo_e_pos_grau_1mm.tif"/>
          <p:cNvPicPr>
            <a:picLocks noChangeAspect="1"/>
          </p:cNvPicPr>
          <p:nvPr userDrawn="1"/>
        </p:nvPicPr>
        <p:blipFill>
          <a:blip r:embed="rId8" cstate="print"/>
          <a:stretch>
            <a:fillRect/>
          </a:stretch>
        </p:blipFill>
        <p:spPr>
          <a:xfrm>
            <a:off x="168816" y="64726"/>
            <a:ext cx="2026920" cy="68427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Lst>
  <p:timing>
    <p:tnLst>
      <p:par>
        <p:cTn id="1" dur="indefinite" restart="never" nodeType="tmRoot"/>
      </p:par>
    </p:tnLst>
  </p:timing>
  <p:hf hdr="0"/>
  <p:txStyles>
    <p:titleStyle>
      <a:lvl1pPr algn="l" rtl="0" eaLnBrk="1" fontAlgn="base" hangingPunct="1">
        <a:spcBef>
          <a:spcPct val="0"/>
        </a:spcBef>
        <a:spcAft>
          <a:spcPct val="0"/>
        </a:spcAft>
        <a:defRPr sz="2400" b="1">
          <a:solidFill>
            <a:schemeClr val="tx2"/>
          </a:solidFill>
          <a:latin typeface="+mj-lt"/>
          <a:ea typeface="+mj-ea"/>
          <a:cs typeface="+mj-cs"/>
        </a:defRPr>
      </a:lvl1pPr>
      <a:lvl2pPr algn="l" rtl="0" eaLnBrk="1" fontAlgn="base" hangingPunct="1">
        <a:spcBef>
          <a:spcPct val="0"/>
        </a:spcBef>
        <a:spcAft>
          <a:spcPct val="0"/>
        </a:spcAft>
        <a:defRPr sz="2400" b="1">
          <a:solidFill>
            <a:schemeClr val="tx2"/>
          </a:solidFill>
          <a:latin typeface="Arial" charset="0"/>
          <a:cs typeface="Arial" charset="0"/>
        </a:defRPr>
      </a:lvl2pPr>
      <a:lvl3pPr algn="l" rtl="0" eaLnBrk="1" fontAlgn="base" hangingPunct="1">
        <a:spcBef>
          <a:spcPct val="0"/>
        </a:spcBef>
        <a:spcAft>
          <a:spcPct val="0"/>
        </a:spcAft>
        <a:defRPr sz="2400" b="1">
          <a:solidFill>
            <a:schemeClr val="tx2"/>
          </a:solidFill>
          <a:latin typeface="Arial" charset="0"/>
          <a:cs typeface="Arial" charset="0"/>
        </a:defRPr>
      </a:lvl3pPr>
      <a:lvl4pPr algn="l" rtl="0" eaLnBrk="1" fontAlgn="base" hangingPunct="1">
        <a:spcBef>
          <a:spcPct val="0"/>
        </a:spcBef>
        <a:spcAft>
          <a:spcPct val="0"/>
        </a:spcAft>
        <a:defRPr sz="2400" b="1">
          <a:solidFill>
            <a:schemeClr val="tx2"/>
          </a:solidFill>
          <a:latin typeface="Arial" charset="0"/>
          <a:cs typeface="Arial" charset="0"/>
        </a:defRPr>
      </a:lvl4pPr>
      <a:lvl5pPr algn="l" rtl="0" eaLnBrk="1" fontAlgn="base" hangingPunct="1">
        <a:spcBef>
          <a:spcPct val="0"/>
        </a:spcBef>
        <a:spcAft>
          <a:spcPct val="0"/>
        </a:spcAft>
        <a:defRPr sz="2400" b="1">
          <a:solidFill>
            <a:schemeClr val="tx2"/>
          </a:solidFill>
          <a:latin typeface="Arial" charset="0"/>
          <a:cs typeface="Arial" charset="0"/>
        </a:defRPr>
      </a:lvl5pPr>
      <a:lvl6pPr marL="457200" algn="l" rtl="0" eaLnBrk="1" fontAlgn="base" hangingPunct="1">
        <a:spcBef>
          <a:spcPct val="0"/>
        </a:spcBef>
        <a:spcAft>
          <a:spcPct val="0"/>
        </a:spcAft>
        <a:defRPr sz="2400" b="1">
          <a:solidFill>
            <a:schemeClr val="tx2"/>
          </a:solidFill>
          <a:latin typeface="Arial" charset="0"/>
          <a:cs typeface="Arial" charset="0"/>
        </a:defRPr>
      </a:lvl6pPr>
      <a:lvl7pPr marL="914400" algn="l" rtl="0" eaLnBrk="1" fontAlgn="base" hangingPunct="1">
        <a:spcBef>
          <a:spcPct val="0"/>
        </a:spcBef>
        <a:spcAft>
          <a:spcPct val="0"/>
        </a:spcAft>
        <a:defRPr sz="2400" b="1">
          <a:solidFill>
            <a:schemeClr val="tx2"/>
          </a:solidFill>
          <a:latin typeface="Arial" charset="0"/>
          <a:cs typeface="Arial" charset="0"/>
        </a:defRPr>
      </a:lvl7pPr>
      <a:lvl8pPr marL="1371600" algn="l" rtl="0" eaLnBrk="1" fontAlgn="base" hangingPunct="1">
        <a:spcBef>
          <a:spcPct val="0"/>
        </a:spcBef>
        <a:spcAft>
          <a:spcPct val="0"/>
        </a:spcAft>
        <a:defRPr sz="2400" b="1">
          <a:solidFill>
            <a:schemeClr val="tx2"/>
          </a:solidFill>
          <a:latin typeface="Arial" charset="0"/>
          <a:cs typeface="Arial" charset="0"/>
        </a:defRPr>
      </a:lvl8pPr>
      <a:lvl9pPr marL="1828800" algn="l" rtl="0" eaLnBrk="1" fontAlgn="base" hangingPunct="1">
        <a:spcBef>
          <a:spcPct val="0"/>
        </a:spcBef>
        <a:spcAft>
          <a:spcPct val="0"/>
        </a:spcAft>
        <a:defRPr sz="2400" b="1">
          <a:solidFill>
            <a:schemeClr val="tx2"/>
          </a:solidFill>
          <a:latin typeface="Arial" charset="0"/>
          <a:cs typeface="Arial" charset="0"/>
        </a:defRPr>
      </a:lvl9pPr>
    </p:titleStyle>
    <p:bodyStyle>
      <a:lvl1pPr algn="l" rtl="0" eaLnBrk="1" fontAlgn="base" hangingPunct="1">
        <a:spcBef>
          <a:spcPct val="40000"/>
        </a:spcBef>
        <a:spcAft>
          <a:spcPct val="0"/>
        </a:spcAft>
        <a:buFont typeface="Arial" charset="0"/>
        <a:defRPr sz="1700">
          <a:solidFill>
            <a:schemeClr val="tx1"/>
          </a:solidFill>
          <a:latin typeface="+mn-lt"/>
          <a:ea typeface="+mn-ea"/>
          <a:cs typeface="+mn-cs"/>
        </a:defRPr>
      </a:lvl1pPr>
      <a:lvl2pPr marL="346075" indent="-344488" algn="l" rtl="0" eaLnBrk="1" fontAlgn="base" hangingPunct="1">
        <a:spcBef>
          <a:spcPct val="40000"/>
        </a:spcBef>
        <a:spcAft>
          <a:spcPct val="0"/>
        </a:spcAft>
        <a:buFont typeface="Arial" charset="0"/>
        <a:buChar char="–"/>
        <a:defRPr sz="1700">
          <a:solidFill>
            <a:schemeClr val="tx1"/>
          </a:solidFill>
          <a:latin typeface="+mn-lt"/>
          <a:cs typeface="+mn-cs"/>
        </a:defRPr>
      </a:lvl2pPr>
      <a:lvl3pPr marL="714375" indent="-366713" algn="l" rtl="0" eaLnBrk="1" fontAlgn="base" hangingPunct="1">
        <a:spcBef>
          <a:spcPct val="40000"/>
        </a:spcBef>
        <a:spcAft>
          <a:spcPct val="0"/>
        </a:spcAft>
        <a:buFont typeface="Arial" charset="0"/>
        <a:buChar char="–"/>
        <a:defRPr sz="1700">
          <a:solidFill>
            <a:schemeClr val="tx1"/>
          </a:solidFill>
          <a:latin typeface="+mn-lt"/>
          <a:cs typeface="+mn-cs"/>
        </a:defRPr>
      </a:lvl3pPr>
      <a:lvl4pPr marL="1069975" indent="-354013" algn="l" rtl="0" eaLnBrk="1" fontAlgn="base" hangingPunct="1">
        <a:spcBef>
          <a:spcPct val="40000"/>
        </a:spcBef>
        <a:spcAft>
          <a:spcPct val="0"/>
        </a:spcAft>
        <a:buFont typeface="Arial" charset="0"/>
        <a:buChar char="–"/>
        <a:defRPr sz="1700">
          <a:solidFill>
            <a:schemeClr val="tx1"/>
          </a:solidFill>
          <a:latin typeface="+mn-lt"/>
          <a:cs typeface="+mn-cs"/>
        </a:defRPr>
      </a:lvl4pPr>
      <a:lvl5pPr marL="1438275" indent="-366713" algn="l" rtl="0" eaLnBrk="1" fontAlgn="base" hangingPunct="1">
        <a:spcBef>
          <a:spcPct val="40000"/>
        </a:spcBef>
        <a:spcAft>
          <a:spcPct val="0"/>
        </a:spcAft>
        <a:buFont typeface="Arial" charset="0"/>
        <a:buChar char="–"/>
        <a:defRPr sz="1700">
          <a:solidFill>
            <a:schemeClr val="tx1"/>
          </a:solidFill>
          <a:latin typeface="+mn-lt"/>
          <a:cs typeface="+mn-cs"/>
        </a:defRPr>
      </a:lvl5pPr>
      <a:lvl6pPr marL="1895475" indent="-366713" algn="l" rtl="0" eaLnBrk="1" fontAlgn="base" hangingPunct="1">
        <a:spcBef>
          <a:spcPct val="40000"/>
        </a:spcBef>
        <a:spcAft>
          <a:spcPct val="0"/>
        </a:spcAft>
        <a:buFont typeface="Arial" charset="0"/>
        <a:buChar char="–"/>
        <a:defRPr sz="1700">
          <a:solidFill>
            <a:schemeClr val="tx1"/>
          </a:solidFill>
          <a:latin typeface="+mn-lt"/>
          <a:cs typeface="+mn-cs"/>
        </a:defRPr>
      </a:lvl6pPr>
      <a:lvl7pPr marL="2352675" indent="-366713" algn="l" rtl="0" eaLnBrk="1" fontAlgn="base" hangingPunct="1">
        <a:spcBef>
          <a:spcPct val="40000"/>
        </a:spcBef>
        <a:spcAft>
          <a:spcPct val="0"/>
        </a:spcAft>
        <a:buFont typeface="Arial" charset="0"/>
        <a:buChar char="–"/>
        <a:defRPr sz="1700">
          <a:solidFill>
            <a:schemeClr val="tx1"/>
          </a:solidFill>
          <a:latin typeface="+mn-lt"/>
          <a:cs typeface="+mn-cs"/>
        </a:defRPr>
      </a:lvl7pPr>
      <a:lvl8pPr marL="2809875" indent="-366713" algn="l" rtl="0" eaLnBrk="1" fontAlgn="base" hangingPunct="1">
        <a:spcBef>
          <a:spcPct val="40000"/>
        </a:spcBef>
        <a:spcAft>
          <a:spcPct val="0"/>
        </a:spcAft>
        <a:buFont typeface="Arial" charset="0"/>
        <a:buChar char="–"/>
        <a:defRPr sz="1700">
          <a:solidFill>
            <a:schemeClr val="tx1"/>
          </a:solidFill>
          <a:latin typeface="+mn-lt"/>
          <a:cs typeface="+mn-cs"/>
        </a:defRPr>
      </a:lvl8pPr>
      <a:lvl9pPr marL="3267075" indent="-366713" algn="l" rtl="0" eaLnBrk="1" fontAlgn="base" hangingPunct="1">
        <a:spcBef>
          <a:spcPct val="40000"/>
        </a:spcBef>
        <a:spcAft>
          <a:spcPct val="0"/>
        </a:spcAft>
        <a:buFont typeface="Arial" charset="0"/>
        <a:buChar char="–"/>
        <a:defRPr sz="1700">
          <a:solidFill>
            <a:schemeClr val="tx1"/>
          </a:solidFill>
          <a:latin typeface="+mn-lt"/>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00114" y="1995910"/>
            <a:ext cx="7343775" cy="1151904"/>
          </a:xfrm>
        </p:spPr>
        <p:txBody>
          <a:bodyPr/>
          <a:lstStyle/>
          <a:p>
            <a:r>
              <a:rPr lang="de-CH" sz="3200" dirty="0" err="1"/>
              <a:t>Sources</a:t>
            </a:r>
            <a:r>
              <a:rPr lang="de-CH" sz="3200" dirty="0"/>
              <a:t> </a:t>
            </a:r>
            <a:r>
              <a:rPr lang="de-CH" sz="3200" dirty="0" err="1"/>
              <a:t>of</a:t>
            </a:r>
            <a:r>
              <a:rPr lang="de-CH" sz="3200" dirty="0"/>
              <a:t> </a:t>
            </a:r>
            <a:r>
              <a:rPr lang="de-CH" sz="3200" dirty="0" smtClean="0"/>
              <a:t/>
            </a:r>
            <a:br>
              <a:rPr lang="de-CH" sz="3200" dirty="0" smtClean="0"/>
            </a:br>
            <a:r>
              <a:rPr lang="de-CH" sz="3200" dirty="0" smtClean="0"/>
              <a:t>Reporting Bias </a:t>
            </a:r>
            <a:br>
              <a:rPr lang="de-CH" sz="3200" dirty="0" smtClean="0"/>
            </a:br>
            <a:r>
              <a:rPr lang="de-CH" sz="3200" dirty="0" smtClean="0"/>
              <a:t>in </a:t>
            </a:r>
            <a:r>
              <a:rPr lang="de-CH" sz="3200" dirty="0" err="1"/>
              <a:t>Social</a:t>
            </a:r>
            <a:r>
              <a:rPr lang="de-CH" sz="3200" dirty="0"/>
              <a:t> </a:t>
            </a:r>
            <a:r>
              <a:rPr lang="de-CH" sz="3200" dirty="0" err="1"/>
              <a:t>Sciences</a:t>
            </a:r>
            <a:endParaRPr lang="de-CH" sz="3200" dirty="0"/>
          </a:p>
        </p:txBody>
      </p:sp>
      <p:sp>
        <p:nvSpPr>
          <p:cNvPr id="2051" name="Rectangle 3"/>
          <p:cNvSpPr>
            <a:spLocks noGrp="1" noChangeArrowheads="1"/>
          </p:cNvSpPr>
          <p:nvPr>
            <p:ph type="subTitle" idx="1"/>
          </p:nvPr>
        </p:nvSpPr>
        <p:spPr/>
        <p:txBody>
          <a:bodyPr/>
          <a:lstStyle/>
          <a:p>
            <a:endParaRPr lang="de-DE" dirty="0" smtClean="0"/>
          </a:p>
          <a:p>
            <a:endParaRPr lang="de-DE" dirty="0"/>
          </a:p>
          <a:p>
            <a:endParaRPr lang="de-CH" dirty="0" smtClean="0"/>
          </a:p>
          <a:p>
            <a:r>
              <a:rPr lang="de-CH" dirty="0" smtClean="0"/>
              <a:t>Katja Rost</a:t>
            </a:r>
            <a:endParaRPr lang="de-CH" dirty="0"/>
          </a:p>
        </p:txBody>
      </p:sp>
      <p:pic>
        <p:nvPicPr>
          <p:cNvPr id="10" name="Picture 2" descr="http://www.scienceblogs.de/medlog/Forscher1.gif"/>
          <p:cNvPicPr>
            <a:picLocks noChangeAspect="1" noChangeArrowheads="1"/>
          </p:cNvPicPr>
          <p:nvPr/>
        </p:nvPicPr>
        <p:blipFill>
          <a:blip r:embed="rId2" cstate="print"/>
          <a:srcRect/>
          <a:stretch>
            <a:fillRect/>
          </a:stretch>
        </p:blipFill>
        <p:spPr bwMode="auto">
          <a:xfrm>
            <a:off x="5762496" y="339502"/>
            <a:ext cx="3384376" cy="4706746"/>
          </a:xfrm>
          <a:prstGeom prst="rect">
            <a:avLst/>
          </a:prstGeom>
          <a:noFill/>
        </p:spPr>
      </p:pic>
      <p:pic>
        <p:nvPicPr>
          <p:cNvPr id="11" name="Picture 4" descr="http://media.4teachers.de/images/thumbs/image_thumb.3968.jpg"/>
          <p:cNvPicPr>
            <a:picLocks noChangeAspect="1" noChangeArrowheads="1"/>
          </p:cNvPicPr>
          <p:nvPr/>
        </p:nvPicPr>
        <p:blipFill>
          <a:blip r:embed="rId3" cstate="print"/>
          <a:srcRect/>
          <a:stretch>
            <a:fillRect/>
          </a:stretch>
        </p:blipFill>
        <p:spPr bwMode="auto">
          <a:xfrm>
            <a:off x="3275856" y="175980"/>
            <a:ext cx="2111593" cy="1819930"/>
          </a:xfrm>
          <a:prstGeom prst="rect">
            <a:avLst/>
          </a:prstGeom>
          <a:noFill/>
        </p:spPr>
      </p:pic>
    </p:spTree>
    <p:extLst>
      <p:ext uri="{BB962C8B-B14F-4D97-AF65-F5344CB8AC3E}">
        <p14:creationId xmlns:p14="http://schemas.microsoft.com/office/powerpoint/2010/main" val="10360814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Reporting </a:t>
            </a:r>
            <a:r>
              <a:rPr lang="de-DE" dirty="0" err="1" smtClean="0"/>
              <a:t>bias</a:t>
            </a:r>
            <a:r>
              <a:rPr lang="de-DE" dirty="0" smtClean="0"/>
              <a:t> in </a:t>
            </a:r>
            <a:r>
              <a:rPr lang="de-DE" dirty="0" err="1" smtClean="0"/>
              <a:t>social</a:t>
            </a:r>
            <a:r>
              <a:rPr lang="de-DE" dirty="0" smtClean="0"/>
              <a:t> </a:t>
            </a:r>
            <a:r>
              <a:rPr lang="de-DE" dirty="0" err="1" smtClean="0"/>
              <a:t>science</a:t>
            </a:r>
            <a:endParaRPr lang="de-CH" dirty="0"/>
          </a:p>
        </p:txBody>
      </p:sp>
      <p:sp>
        <p:nvSpPr>
          <p:cNvPr id="3" name="Inhaltsplatzhalter 2"/>
          <p:cNvSpPr>
            <a:spLocks noGrp="1"/>
          </p:cNvSpPr>
          <p:nvPr>
            <p:ph idx="1"/>
          </p:nvPr>
        </p:nvSpPr>
        <p:spPr>
          <a:xfrm>
            <a:off x="900114" y="1667004"/>
            <a:ext cx="7343775" cy="2915840"/>
          </a:xfrm>
        </p:spPr>
        <p:txBody>
          <a:bodyPr/>
          <a:lstStyle/>
          <a:p>
            <a:r>
              <a:rPr lang="de-CH" dirty="0"/>
              <a:t>Reporting </a:t>
            </a:r>
            <a:r>
              <a:rPr lang="de-CH" dirty="0" err="1"/>
              <a:t>bias</a:t>
            </a:r>
            <a:r>
              <a:rPr lang="de-CH" dirty="0"/>
              <a:t> </a:t>
            </a:r>
            <a:r>
              <a:rPr lang="en-US" dirty="0"/>
              <a:t>arises when the selection of studies for publication is made either on the basis of the statistical significance of results or on the basis of whether the results satisfy preconceived theoretical expectations </a:t>
            </a:r>
            <a:r>
              <a:rPr lang="en-US" dirty="0" smtClean="0"/>
              <a:t>(</a:t>
            </a:r>
            <a:r>
              <a:rPr lang="en-US" dirty="0" err="1" smtClean="0"/>
              <a:t>Doucouliagos</a:t>
            </a:r>
            <a:r>
              <a:rPr lang="en-US" dirty="0"/>
              <a:t>, 2005; Stanley, 2005a). This </a:t>
            </a:r>
            <a:r>
              <a:rPr lang="en-US" dirty="0" smtClean="0"/>
              <a:t>conditions lead </a:t>
            </a:r>
            <a:r>
              <a:rPr lang="en-US" dirty="0"/>
              <a:t>to a truncated pool of published studies with the consequent suppression of some empirical findings. </a:t>
            </a:r>
          </a:p>
          <a:p>
            <a:r>
              <a:rPr lang="en-US" dirty="0" smtClean="0"/>
              <a:t>Such </a:t>
            </a:r>
            <a:r>
              <a:rPr lang="en-US" dirty="0" smtClean="0"/>
              <a:t>biases can occur in positive research paradigms that try to uncover correlations and causal relationships in the social world by using the empirical methods of (natural) science. </a:t>
            </a:r>
          </a:p>
          <a:p>
            <a:r>
              <a:rPr lang="en-US" dirty="0" smtClean="0"/>
              <a:t>Reporting </a:t>
            </a:r>
            <a:r>
              <a:rPr lang="en-US" dirty="0"/>
              <a:t>biases are </a:t>
            </a:r>
            <a:r>
              <a:rPr lang="en-US" dirty="0" smtClean="0"/>
              <a:t>a serious </a:t>
            </a:r>
            <a:r>
              <a:rPr lang="en-US" dirty="0"/>
              <a:t>concern because the conclusions of systematic reviews and </a:t>
            </a:r>
            <a:r>
              <a:rPr lang="en-US" dirty="0" smtClean="0"/>
              <a:t>meta-analyses can </a:t>
            </a:r>
            <a:r>
              <a:rPr lang="en-US" dirty="0"/>
              <a:t>be misleading. </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2</a:t>
            </a:fld>
            <a:endParaRPr lang="de-CH" dirty="0"/>
          </a:p>
        </p:txBody>
      </p:sp>
    </p:spTree>
    <p:extLst>
      <p:ext uri="{BB962C8B-B14F-4D97-AF65-F5344CB8AC3E}">
        <p14:creationId xmlns:p14="http://schemas.microsoft.com/office/powerpoint/2010/main" val="7888147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Outline</a:t>
            </a:r>
            <a:endParaRPr lang="de-CH" dirty="0"/>
          </a:p>
        </p:txBody>
      </p:sp>
      <p:sp>
        <p:nvSpPr>
          <p:cNvPr id="3" name="Inhaltsplatzhalter 2"/>
          <p:cNvSpPr txBox="1">
            <a:spLocks/>
          </p:cNvSpPr>
          <p:nvPr/>
        </p:nvSpPr>
        <p:spPr>
          <a:xfrm>
            <a:off x="827584" y="1833980"/>
            <a:ext cx="7343775" cy="2915840"/>
          </a:xfrm>
          <a:prstGeom prst="rect">
            <a:avLst/>
          </a:prstGeom>
        </p:spPr>
        <p:txBody>
          <a:bodyPr/>
          <a:lstStyle>
            <a:lvl1pPr algn="l" rtl="0" eaLnBrk="1" fontAlgn="base" hangingPunct="1">
              <a:spcBef>
                <a:spcPct val="40000"/>
              </a:spcBef>
              <a:spcAft>
                <a:spcPct val="0"/>
              </a:spcAft>
              <a:buFont typeface="Arial" charset="0"/>
              <a:defRPr sz="1700">
                <a:solidFill>
                  <a:schemeClr val="tx1"/>
                </a:solidFill>
                <a:latin typeface="+mn-lt"/>
                <a:ea typeface="+mn-ea"/>
                <a:cs typeface="+mn-cs"/>
              </a:defRPr>
            </a:lvl1pPr>
            <a:lvl2pPr marL="346075" indent="-344488" algn="l" rtl="0" eaLnBrk="1" fontAlgn="base" hangingPunct="1">
              <a:spcBef>
                <a:spcPct val="40000"/>
              </a:spcBef>
              <a:spcAft>
                <a:spcPct val="0"/>
              </a:spcAft>
              <a:buFont typeface="Arial" charset="0"/>
              <a:buChar char="–"/>
              <a:defRPr sz="1700">
                <a:solidFill>
                  <a:schemeClr val="tx1"/>
                </a:solidFill>
                <a:latin typeface="+mn-lt"/>
                <a:cs typeface="+mn-cs"/>
              </a:defRPr>
            </a:lvl2pPr>
            <a:lvl3pPr marL="714375" indent="-366713" algn="l" rtl="0" eaLnBrk="1" fontAlgn="base" hangingPunct="1">
              <a:spcBef>
                <a:spcPct val="40000"/>
              </a:spcBef>
              <a:spcAft>
                <a:spcPct val="0"/>
              </a:spcAft>
              <a:buFont typeface="Arial" charset="0"/>
              <a:buChar char="–"/>
              <a:defRPr sz="1700">
                <a:solidFill>
                  <a:schemeClr val="tx1"/>
                </a:solidFill>
                <a:latin typeface="+mn-lt"/>
                <a:cs typeface="+mn-cs"/>
              </a:defRPr>
            </a:lvl3pPr>
            <a:lvl4pPr marL="1069975" indent="-354013" algn="l" rtl="0" eaLnBrk="1" fontAlgn="base" hangingPunct="1">
              <a:spcBef>
                <a:spcPct val="40000"/>
              </a:spcBef>
              <a:spcAft>
                <a:spcPct val="0"/>
              </a:spcAft>
              <a:buFont typeface="Arial" charset="0"/>
              <a:buChar char="–"/>
              <a:defRPr sz="1700">
                <a:solidFill>
                  <a:schemeClr val="tx1"/>
                </a:solidFill>
                <a:latin typeface="+mn-lt"/>
                <a:cs typeface="+mn-cs"/>
              </a:defRPr>
            </a:lvl4pPr>
            <a:lvl5pPr marL="1438275" indent="-366713" algn="l" rtl="0" eaLnBrk="1" fontAlgn="base" hangingPunct="1">
              <a:spcBef>
                <a:spcPct val="40000"/>
              </a:spcBef>
              <a:spcAft>
                <a:spcPct val="0"/>
              </a:spcAft>
              <a:buFont typeface="Arial" charset="0"/>
              <a:buChar char="–"/>
              <a:defRPr sz="1700">
                <a:solidFill>
                  <a:schemeClr val="tx1"/>
                </a:solidFill>
                <a:latin typeface="+mn-lt"/>
                <a:cs typeface="+mn-cs"/>
              </a:defRPr>
            </a:lvl5pPr>
            <a:lvl6pPr marL="1895475" indent="-366713" algn="l" rtl="0" eaLnBrk="1" fontAlgn="base" hangingPunct="1">
              <a:spcBef>
                <a:spcPct val="40000"/>
              </a:spcBef>
              <a:spcAft>
                <a:spcPct val="0"/>
              </a:spcAft>
              <a:buFont typeface="Arial" charset="0"/>
              <a:buChar char="–"/>
              <a:defRPr sz="1700">
                <a:solidFill>
                  <a:schemeClr val="tx1"/>
                </a:solidFill>
                <a:latin typeface="+mn-lt"/>
                <a:cs typeface="+mn-cs"/>
              </a:defRPr>
            </a:lvl6pPr>
            <a:lvl7pPr marL="2352675" indent="-366713" algn="l" rtl="0" eaLnBrk="1" fontAlgn="base" hangingPunct="1">
              <a:spcBef>
                <a:spcPct val="40000"/>
              </a:spcBef>
              <a:spcAft>
                <a:spcPct val="0"/>
              </a:spcAft>
              <a:buFont typeface="Arial" charset="0"/>
              <a:buChar char="–"/>
              <a:defRPr sz="1700">
                <a:solidFill>
                  <a:schemeClr val="tx1"/>
                </a:solidFill>
                <a:latin typeface="+mn-lt"/>
                <a:cs typeface="+mn-cs"/>
              </a:defRPr>
            </a:lvl7pPr>
            <a:lvl8pPr marL="2809875" indent="-366713" algn="l" rtl="0" eaLnBrk="1" fontAlgn="base" hangingPunct="1">
              <a:spcBef>
                <a:spcPct val="40000"/>
              </a:spcBef>
              <a:spcAft>
                <a:spcPct val="0"/>
              </a:spcAft>
              <a:buFont typeface="Arial" charset="0"/>
              <a:buChar char="–"/>
              <a:defRPr sz="1700">
                <a:solidFill>
                  <a:schemeClr val="tx1"/>
                </a:solidFill>
                <a:latin typeface="+mn-lt"/>
                <a:cs typeface="+mn-cs"/>
              </a:defRPr>
            </a:lvl8pPr>
            <a:lvl9pPr marL="3267075" indent="-366713" algn="l" rtl="0" eaLnBrk="1" fontAlgn="base" hangingPunct="1">
              <a:spcBef>
                <a:spcPct val="40000"/>
              </a:spcBef>
              <a:spcAft>
                <a:spcPct val="0"/>
              </a:spcAft>
              <a:buFont typeface="Arial" charset="0"/>
              <a:buChar char="–"/>
              <a:defRPr sz="1700">
                <a:solidFill>
                  <a:schemeClr val="tx1"/>
                </a:solidFill>
                <a:latin typeface="+mn-lt"/>
                <a:cs typeface="+mn-cs"/>
              </a:defRPr>
            </a:lvl9pPr>
          </a:lstStyle>
          <a:p>
            <a:r>
              <a:rPr lang="de-DE" sz="1900" b="1" kern="0" dirty="0" err="1" smtClean="0">
                <a:solidFill>
                  <a:schemeClr val="bg1"/>
                </a:solidFill>
              </a:rPr>
              <a:t>How</a:t>
            </a:r>
            <a:r>
              <a:rPr lang="de-DE" sz="1900" b="1" kern="0" dirty="0" smtClean="0">
                <a:solidFill>
                  <a:schemeClr val="bg1"/>
                </a:solidFill>
              </a:rPr>
              <a:t> I </a:t>
            </a:r>
            <a:r>
              <a:rPr lang="de-DE" sz="1900" b="1" kern="0" dirty="0" err="1" smtClean="0">
                <a:solidFill>
                  <a:schemeClr val="bg1"/>
                </a:solidFill>
              </a:rPr>
              <a:t>started</a:t>
            </a:r>
            <a:r>
              <a:rPr lang="de-DE" sz="1900" b="1" kern="0" dirty="0" smtClean="0">
                <a:solidFill>
                  <a:schemeClr val="bg1"/>
                </a:solidFill>
              </a:rPr>
              <a:t> </a:t>
            </a:r>
            <a:r>
              <a:rPr lang="de-DE" sz="1900" b="1" kern="0" dirty="0" err="1" smtClean="0">
                <a:solidFill>
                  <a:schemeClr val="bg1"/>
                </a:solidFill>
              </a:rPr>
              <a:t>to</a:t>
            </a:r>
            <a:r>
              <a:rPr lang="de-DE" sz="1900" b="1" kern="0" dirty="0" smtClean="0">
                <a:solidFill>
                  <a:schemeClr val="bg1"/>
                </a:solidFill>
              </a:rPr>
              <a:t> </a:t>
            </a:r>
            <a:r>
              <a:rPr lang="de-DE" sz="1900" b="1" kern="0" dirty="0" err="1" smtClean="0">
                <a:solidFill>
                  <a:schemeClr val="bg1"/>
                </a:solidFill>
              </a:rPr>
              <a:t>get</a:t>
            </a:r>
            <a:r>
              <a:rPr lang="de-DE" sz="1900" b="1" kern="0" dirty="0" smtClean="0">
                <a:solidFill>
                  <a:schemeClr val="bg1"/>
                </a:solidFill>
              </a:rPr>
              <a:t> </a:t>
            </a:r>
            <a:r>
              <a:rPr lang="de-DE" sz="1900" b="1" kern="0" dirty="0" err="1" smtClean="0">
                <a:solidFill>
                  <a:schemeClr val="bg1"/>
                </a:solidFill>
              </a:rPr>
              <a:t>interested</a:t>
            </a:r>
            <a:r>
              <a:rPr lang="de-DE" sz="1900" b="1" kern="0" dirty="0" smtClean="0">
                <a:solidFill>
                  <a:schemeClr val="bg1"/>
                </a:solidFill>
              </a:rPr>
              <a:t> in </a:t>
            </a:r>
            <a:r>
              <a:rPr lang="de-DE" sz="1900" b="1" kern="0" dirty="0" err="1" smtClean="0">
                <a:solidFill>
                  <a:schemeClr val="bg1"/>
                </a:solidFill>
              </a:rPr>
              <a:t>reporting</a:t>
            </a:r>
            <a:r>
              <a:rPr lang="de-DE" sz="1900" b="1" kern="0" dirty="0" smtClean="0">
                <a:solidFill>
                  <a:schemeClr val="bg1"/>
                </a:solidFill>
              </a:rPr>
              <a:t> </a:t>
            </a:r>
            <a:r>
              <a:rPr lang="de-DE" sz="1900" b="1" kern="0" dirty="0" err="1" smtClean="0">
                <a:solidFill>
                  <a:schemeClr val="bg1"/>
                </a:solidFill>
              </a:rPr>
              <a:t>bias</a:t>
            </a:r>
            <a:endParaRPr lang="de-DE" sz="1900" b="1" kern="0" dirty="0">
              <a:solidFill>
                <a:schemeClr val="bg1"/>
              </a:solidFill>
            </a:endParaRPr>
          </a:p>
          <a:p>
            <a:endParaRPr lang="de-DE" sz="1900" b="1" kern="0" dirty="0" smtClean="0">
              <a:solidFill>
                <a:schemeClr val="bg1"/>
              </a:solidFill>
            </a:endParaRPr>
          </a:p>
          <a:p>
            <a:r>
              <a:rPr lang="de-DE" sz="1900" kern="0" dirty="0" err="1" smtClean="0">
                <a:solidFill>
                  <a:schemeClr val="bg1"/>
                </a:solidFill>
              </a:rPr>
              <a:t>Sources</a:t>
            </a:r>
            <a:r>
              <a:rPr lang="de-DE" sz="1900" kern="0" dirty="0" smtClean="0">
                <a:solidFill>
                  <a:schemeClr val="bg1"/>
                </a:solidFill>
              </a:rPr>
              <a:t> </a:t>
            </a:r>
            <a:r>
              <a:rPr lang="de-DE" sz="1900" kern="0" dirty="0" err="1" smtClean="0">
                <a:solidFill>
                  <a:schemeClr val="bg1"/>
                </a:solidFill>
              </a:rPr>
              <a:t>of</a:t>
            </a:r>
            <a:r>
              <a:rPr lang="de-DE" sz="1900" kern="0" dirty="0" smtClean="0">
                <a:solidFill>
                  <a:schemeClr val="bg1"/>
                </a:solidFill>
              </a:rPr>
              <a:t> </a:t>
            </a:r>
            <a:r>
              <a:rPr lang="de-DE" sz="1900" kern="0" dirty="0" err="1" smtClean="0">
                <a:solidFill>
                  <a:schemeClr val="bg1"/>
                </a:solidFill>
              </a:rPr>
              <a:t>reporting</a:t>
            </a:r>
            <a:r>
              <a:rPr lang="de-DE" sz="1900" kern="0" dirty="0" smtClean="0">
                <a:solidFill>
                  <a:schemeClr val="bg1"/>
                </a:solidFill>
              </a:rPr>
              <a:t> </a:t>
            </a:r>
            <a:r>
              <a:rPr lang="de-DE" sz="1900" kern="0" dirty="0" err="1" smtClean="0">
                <a:solidFill>
                  <a:schemeClr val="bg1"/>
                </a:solidFill>
              </a:rPr>
              <a:t>bias</a:t>
            </a:r>
            <a:r>
              <a:rPr lang="de-DE" sz="1900" kern="0" dirty="0" smtClean="0">
                <a:solidFill>
                  <a:schemeClr val="bg1"/>
                </a:solidFill>
              </a:rPr>
              <a:t> in </a:t>
            </a:r>
            <a:r>
              <a:rPr lang="de-DE" sz="1900" kern="0" dirty="0" err="1" smtClean="0">
                <a:solidFill>
                  <a:schemeClr val="bg1"/>
                </a:solidFill>
              </a:rPr>
              <a:t>social</a:t>
            </a:r>
            <a:r>
              <a:rPr lang="de-DE" sz="1900" kern="0" dirty="0" smtClean="0">
                <a:solidFill>
                  <a:schemeClr val="bg1"/>
                </a:solidFill>
              </a:rPr>
              <a:t> </a:t>
            </a:r>
            <a:r>
              <a:rPr lang="de-DE" sz="1900" kern="0" dirty="0" err="1" smtClean="0">
                <a:solidFill>
                  <a:schemeClr val="bg1"/>
                </a:solidFill>
              </a:rPr>
              <a:t>sciences</a:t>
            </a:r>
            <a:endParaRPr lang="de-CH" sz="1900" kern="0" dirty="0">
              <a:solidFill>
                <a:schemeClr val="bg1"/>
              </a:solidFill>
            </a:endParaRPr>
          </a:p>
        </p:txBody>
      </p:sp>
    </p:spTree>
    <p:extLst>
      <p:ext uri="{BB962C8B-B14F-4D97-AF65-F5344CB8AC3E}">
        <p14:creationId xmlns:p14="http://schemas.microsoft.com/office/powerpoint/2010/main" val="3633123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The example of Corporate Social Responsibility</a:t>
            </a:r>
            <a:endParaRPr lang="de-CH" dirty="0"/>
          </a:p>
        </p:txBody>
      </p:sp>
      <p:sp>
        <p:nvSpPr>
          <p:cNvPr id="3" name="Inhaltsplatzhalter 2"/>
          <p:cNvSpPr>
            <a:spLocks noGrp="1"/>
          </p:cNvSpPr>
          <p:nvPr>
            <p:ph idx="1"/>
          </p:nvPr>
        </p:nvSpPr>
        <p:spPr>
          <a:xfrm>
            <a:off x="900114" y="1491630"/>
            <a:ext cx="7343775" cy="2915840"/>
          </a:xfrm>
        </p:spPr>
        <p:txBody>
          <a:bodyPr/>
          <a:lstStyle/>
          <a:p>
            <a:r>
              <a:rPr lang="en-US" dirty="0" smtClean="0"/>
              <a:t>We </a:t>
            </a:r>
            <a:r>
              <a:rPr lang="en-US" dirty="0"/>
              <a:t>show that published evidence </a:t>
            </a:r>
            <a:r>
              <a:rPr lang="en-US" dirty="0" smtClean="0"/>
              <a:t>in win-win </a:t>
            </a:r>
            <a:r>
              <a:rPr lang="en-US" dirty="0"/>
              <a:t>corporate social responsibility (CSR) research tends to </a:t>
            </a:r>
            <a:r>
              <a:rPr lang="en-US" dirty="0" smtClean="0"/>
              <a:t>overestimate efficiency</a:t>
            </a:r>
            <a:r>
              <a:rPr lang="en-US" dirty="0"/>
              <a:t>. </a:t>
            </a:r>
            <a:endParaRPr lang="en-US" dirty="0" smtClean="0"/>
          </a:p>
          <a:p>
            <a:r>
              <a:rPr lang="en-US" dirty="0" smtClean="0"/>
              <a:t>The </a:t>
            </a:r>
            <a:r>
              <a:rPr lang="en-US" dirty="0"/>
              <a:t>research field expects to find a positive association </a:t>
            </a:r>
            <a:r>
              <a:rPr lang="en-US" dirty="0" smtClean="0"/>
              <a:t>between </a:t>
            </a:r>
            <a:r>
              <a:rPr lang="de-CH" dirty="0" err="1" smtClean="0"/>
              <a:t>corporate</a:t>
            </a:r>
            <a:r>
              <a:rPr lang="de-CH" dirty="0" smtClean="0"/>
              <a:t> </a:t>
            </a:r>
            <a:r>
              <a:rPr lang="de-CH" dirty="0" err="1"/>
              <a:t>social</a:t>
            </a:r>
            <a:r>
              <a:rPr lang="de-CH" dirty="0"/>
              <a:t> </a:t>
            </a:r>
            <a:r>
              <a:rPr lang="de-CH" dirty="0" err="1"/>
              <a:t>performance</a:t>
            </a:r>
            <a:r>
              <a:rPr lang="de-CH" dirty="0"/>
              <a:t> (CSP) </a:t>
            </a:r>
            <a:r>
              <a:rPr lang="de-CH" dirty="0" err="1"/>
              <a:t>and</a:t>
            </a:r>
            <a:r>
              <a:rPr lang="de-CH" dirty="0"/>
              <a:t> </a:t>
            </a:r>
            <a:r>
              <a:rPr lang="de-CH" dirty="0" err="1"/>
              <a:t>corporate</a:t>
            </a:r>
            <a:r>
              <a:rPr lang="de-CH" dirty="0"/>
              <a:t> </a:t>
            </a:r>
            <a:r>
              <a:rPr lang="de-CH" dirty="0" err="1"/>
              <a:t>financial</a:t>
            </a:r>
            <a:r>
              <a:rPr lang="de-CH" dirty="0"/>
              <a:t> </a:t>
            </a:r>
            <a:r>
              <a:rPr lang="de-CH" dirty="0" err="1" smtClean="0"/>
              <a:t>performance</a:t>
            </a:r>
            <a:r>
              <a:rPr lang="de-CH" dirty="0" smtClean="0"/>
              <a:t> </a:t>
            </a:r>
            <a:r>
              <a:rPr lang="en-US" dirty="0" smtClean="0"/>
              <a:t>(CFP</a:t>
            </a:r>
            <a:r>
              <a:rPr lang="en-US" dirty="0"/>
              <a:t>), and findings meet that expectation. </a:t>
            </a:r>
            <a:endParaRPr lang="en-US" dirty="0" smtClean="0"/>
          </a:p>
          <a:p>
            <a:r>
              <a:rPr lang="en-US" dirty="0" smtClean="0"/>
              <a:t>The </a:t>
            </a:r>
            <a:r>
              <a:rPr lang="en-US" dirty="0"/>
              <a:t>authors explain how </a:t>
            </a:r>
            <a:r>
              <a:rPr lang="en-US" dirty="0" smtClean="0"/>
              <a:t>this pattern </a:t>
            </a:r>
            <a:r>
              <a:rPr lang="en-US" dirty="0"/>
              <a:t>may reflect reporting bias. The empirical results show strong </a:t>
            </a:r>
            <a:r>
              <a:rPr lang="en-US" dirty="0" smtClean="0"/>
              <a:t>tentative evidence </a:t>
            </a:r>
            <a:r>
              <a:rPr lang="en-US" dirty="0"/>
              <a:t>for a positive reporting bias in the CSP–CFP literature but </a:t>
            </a:r>
            <a:r>
              <a:rPr lang="en-US" dirty="0" smtClean="0"/>
              <a:t>only weak </a:t>
            </a:r>
            <a:r>
              <a:rPr lang="en-US" dirty="0"/>
              <a:t>tentative evidence for CSP efficiency. </a:t>
            </a:r>
            <a:endParaRPr lang="en-US" dirty="0" smtClean="0"/>
          </a:p>
          <a:p>
            <a:r>
              <a:rPr lang="en-US" dirty="0" smtClean="0"/>
              <a:t>The </a:t>
            </a:r>
            <a:r>
              <a:rPr lang="en-US" dirty="0"/>
              <a:t>study also examines </a:t>
            </a:r>
            <a:r>
              <a:rPr lang="en-US" dirty="0" smtClean="0"/>
              <a:t>which factors</a:t>
            </a:r>
            <a:r>
              <a:rPr lang="en-US" dirty="0"/>
              <a:t>, such as time trends, publication outlet, and study characteristics, </a:t>
            </a:r>
            <a:r>
              <a:rPr lang="en-US" dirty="0" smtClean="0"/>
              <a:t>are associated </a:t>
            </a:r>
            <a:r>
              <a:rPr lang="en-US" dirty="0"/>
              <a:t>with higher reporting biases within this literature</a:t>
            </a:r>
            <a:r>
              <a:rPr lang="en-US" dirty="0" smtClean="0"/>
              <a:t>.</a:t>
            </a:r>
            <a:endParaRPr lang="en-US"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4</a:t>
            </a:fld>
            <a:endParaRPr lang="de-CH" dirty="0"/>
          </a:p>
        </p:txBody>
      </p:sp>
    </p:spTree>
    <p:extLst>
      <p:ext uri="{BB962C8B-B14F-4D97-AF65-F5344CB8AC3E}">
        <p14:creationId xmlns:p14="http://schemas.microsoft.com/office/powerpoint/2010/main" val="6330369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Reporting </a:t>
            </a:r>
            <a:r>
              <a:rPr lang="de-DE" dirty="0" err="1" smtClean="0"/>
              <a:t>biases</a:t>
            </a:r>
            <a:r>
              <a:rPr lang="de-DE" dirty="0" smtClean="0"/>
              <a:t> in </a:t>
            </a:r>
            <a:r>
              <a:rPr lang="de-DE" dirty="0" err="1" smtClean="0"/>
              <a:t>management</a:t>
            </a:r>
            <a:r>
              <a:rPr lang="de-DE" dirty="0" smtClean="0"/>
              <a:t> </a:t>
            </a:r>
            <a:r>
              <a:rPr lang="de-DE" dirty="0" err="1" smtClean="0"/>
              <a:t>research</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5</a:t>
            </a:fld>
            <a:endParaRPr lang="de-CH"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333" t="10073" r="19167" b="5038"/>
          <a:stretch/>
        </p:blipFill>
        <p:spPr bwMode="auto">
          <a:xfrm>
            <a:off x="899592" y="1491630"/>
            <a:ext cx="5817545" cy="4516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feld 5"/>
          <p:cNvSpPr txBox="1"/>
          <p:nvPr/>
        </p:nvSpPr>
        <p:spPr>
          <a:xfrm>
            <a:off x="6588224" y="2301756"/>
            <a:ext cx="1728192" cy="877163"/>
          </a:xfrm>
          <a:prstGeom prst="rect">
            <a:avLst/>
          </a:prstGeom>
          <a:noFill/>
        </p:spPr>
        <p:txBody>
          <a:bodyPr wrap="square" rtlCol="0">
            <a:spAutoFit/>
          </a:bodyPr>
          <a:lstStyle/>
          <a:p>
            <a:r>
              <a:rPr lang="de-DE" dirty="0" smtClean="0"/>
              <a:t>14 </a:t>
            </a:r>
            <a:r>
              <a:rPr lang="de-DE" dirty="0" err="1" smtClean="0"/>
              <a:t>rejections</a:t>
            </a:r>
            <a:r>
              <a:rPr lang="de-DE" dirty="0" smtClean="0"/>
              <a:t> </a:t>
            </a:r>
            <a:r>
              <a:rPr lang="de-DE" dirty="0" err="1" smtClean="0"/>
              <a:t>before</a:t>
            </a:r>
            <a:r>
              <a:rPr lang="de-DE" dirty="0" smtClean="0"/>
              <a:t> </a:t>
            </a:r>
            <a:r>
              <a:rPr lang="de-DE" dirty="0" err="1" smtClean="0"/>
              <a:t>publication</a:t>
            </a:r>
            <a:endParaRPr lang="de-CH" dirty="0"/>
          </a:p>
        </p:txBody>
      </p:sp>
    </p:spTree>
    <p:extLst>
      <p:ext uri="{BB962C8B-B14F-4D97-AF65-F5344CB8AC3E}">
        <p14:creationId xmlns:p14="http://schemas.microsoft.com/office/powerpoint/2010/main" val="524192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Why</a:t>
            </a:r>
            <a:r>
              <a:rPr lang="de-DE" dirty="0" smtClean="0"/>
              <a:t> so </a:t>
            </a:r>
            <a:r>
              <a:rPr lang="de-DE" dirty="0" err="1" smtClean="0"/>
              <a:t>many</a:t>
            </a:r>
            <a:r>
              <a:rPr lang="de-DE" dirty="0" smtClean="0"/>
              <a:t> </a:t>
            </a:r>
            <a:r>
              <a:rPr lang="de-DE" dirty="0" err="1" smtClean="0"/>
              <a:t>rejections</a:t>
            </a:r>
            <a:r>
              <a:rPr lang="de-DE" dirty="0" smtClean="0"/>
              <a:t>?</a:t>
            </a:r>
            <a:endParaRPr lang="de-CH" dirty="0"/>
          </a:p>
        </p:txBody>
      </p:sp>
      <p:sp>
        <p:nvSpPr>
          <p:cNvPr id="3" name="Inhaltsplatzhalter 2"/>
          <p:cNvSpPr>
            <a:spLocks noGrp="1"/>
          </p:cNvSpPr>
          <p:nvPr>
            <p:ph idx="1"/>
          </p:nvPr>
        </p:nvSpPr>
        <p:spPr/>
        <p:txBody>
          <a:bodyPr/>
          <a:lstStyle/>
          <a:p>
            <a:r>
              <a:rPr lang="en-US" dirty="0" err="1"/>
              <a:t>Orlitzky</a:t>
            </a:r>
            <a:r>
              <a:rPr lang="en-US" dirty="0"/>
              <a:t>, M., Schmidt, F. L., &amp; </a:t>
            </a:r>
            <a:r>
              <a:rPr lang="en-US" dirty="0" err="1"/>
              <a:t>Rynes</a:t>
            </a:r>
            <a:r>
              <a:rPr lang="en-US" dirty="0"/>
              <a:t>, S. L. (2003). Corporate social and </a:t>
            </a:r>
            <a:r>
              <a:rPr lang="en-US" dirty="0" smtClean="0"/>
              <a:t>financial performance</a:t>
            </a:r>
            <a:r>
              <a:rPr lang="en-US" dirty="0"/>
              <a:t>: A </a:t>
            </a:r>
            <a:r>
              <a:rPr lang="en-US" dirty="0" smtClean="0"/>
              <a:t>meta-analysis</a:t>
            </a:r>
            <a:r>
              <a:rPr lang="en-US" dirty="0"/>
              <a:t>. </a:t>
            </a:r>
            <a:r>
              <a:rPr lang="en-US" i="1" dirty="0"/>
              <a:t>Organization Studies</a:t>
            </a:r>
            <a:r>
              <a:rPr lang="en-US" dirty="0"/>
              <a:t>, </a:t>
            </a:r>
            <a:r>
              <a:rPr lang="en-US" i="1" dirty="0"/>
              <a:t>24</a:t>
            </a:r>
            <a:r>
              <a:rPr lang="en-US" dirty="0"/>
              <a:t>, 403-441</a:t>
            </a:r>
            <a:r>
              <a:rPr lang="en-US" dirty="0" smtClean="0"/>
              <a:t>.</a:t>
            </a:r>
          </a:p>
          <a:p>
            <a:pPr marL="285750" indent="-285750">
              <a:buFont typeface="Symbol" panose="05050102010706020507" pitchFamily="18" charset="2"/>
              <a:buChar char="-"/>
            </a:pPr>
            <a:r>
              <a:rPr lang="en-US" dirty="0" smtClean="0"/>
              <a:t>More than 1000 Web-of-Science citations</a:t>
            </a:r>
          </a:p>
          <a:p>
            <a:pPr marL="285750" indent="-285750">
              <a:buFont typeface="Symbol" panose="05050102010706020507" pitchFamily="18" charset="2"/>
              <a:buChar char="-"/>
            </a:pPr>
            <a:r>
              <a:rPr lang="en-US" dirty="0" smtClean="0"/>
              <a:t>Most influential meta-analysis and paper in business administration</a:t>
            </a:r>
          </a:p>
          <a:p>
            <a:pPr marL="285750" indent="-285750">
              <a:buFont typeface="Symbol" panose="05050102010706020507" pitchFamily="18" charset="2"/>
              <a:buChar char="-"/>
            </a:pPr>
            <a:r>
              <a:rPr lang="en-US" dirty="0" smtClean="0"/>
              <a:t>We reject the findings of the </a:t>
            </a:r>
            <a:r>
              <a:rPr lang="en-US" dirty="0" err="1" smtClean="0"/>
              <a:t>Orlitzky</a:t>
            </a:r>
            <a:r>
              <a:rPr lang="en-US" dirty="0" smtClean="0"/>
              <a:t> et al. in our meta-analysis</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6</a:t>
            </a:fld>
            <a:endParaRPr lang="de-CH" dirty="0"/>
          </a:p>
        </p:txBody>
      </p:sp>
    </p:spTree>
    <p:extLst>
      <p:ext uri="{BB962C8B-B14F-4D97-AF65-F5344CB8AC3E}">
        <p14:creationId xmlns:p14="http://schemas.microsoft.com/office/powerpoint/2010/main" val="22224388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Method</a:t>
            </a:r>
            <a:endParaRPr lang="de-CH" dirty="0"/>
          </a:p>
        </p:txBody>
      </p:sp>
      <p:sp>
        <p:nvSpPr>
          <p:cNvPr id="3" name="Inhaltsplatzhalter 2"/>
          <p:cNvSpPr>
            <a:spLocks noGrp="1"/>
          </p:cNvSpPr>
          <p:nvPr>
            <p:ph idx="1"/>
          </p:nvPr>
        </p:nvSpPr>
        <p:spPr/>
        <p:txBody>
          <a:bodyPr/>
          <a:lstStyle/>
          <a:p>
            <a:pPr marL="285750" indent="-285750">
              <a:buFont typeface="Symbol" panose="05050102010706020507" pitchFamily="18" charset="2"/>
              <a:buChar char="-"/>
            </a:pPr>
            <a:r>
              <a:rPr lang="en-US" dirty="0" smtClean="0"/>
              <a:t>Meta-analysis </a:t>
            </a:r>
            <a:r>
              <a:rPr lang="en-US" dirty="0"/>
              <a:t>of 282 studies; 162 usable studies with 2,263 sub-effects</a:t>
            </a:r>
          </a:p>
          <a:p>
            <a:pPr marL="285750" indent="-285750">
              <a:buFont typeface="Symbol" panose="05050102010706020507" pitchFamily="18" charset="2"/>
              <a:buChar char="-"/>
            </a:pPr>
            <a:r>
              <a:rPr lang="en-US" dirty="0"/>
              <a:t>Measurement of publication year, underlying CSP-CFP hypothesis, use of industry-fixed effect, firm-fixed effect, and time-lagged-effect, underlying theory, pro and contra arguments discussion</a:t>
            </a:r>
            <a:endParaRPr lang="de-CH" dirty="0"/>
          </a:p>
          <a:p>
            <a:pPr marL="285750" indent="-285750">
              <a:buFont typeface="Symbol" panose="05050102010706020507" pitchFamily="18" charset="2"/>
              <a:buChar char="-"/>
            </a:pPr>
            <a:r>
              <a:rPr lang="en-US" dirty="0"/>
              <a:t>Control for CSP and CFP measures, analyzed time period, number of years, sample size, dependent variable, kind of analysis</a:t>
            </a:r>
            <a:endParaRPr lang="de-DE" dirty="0"/>
          </a:p>
          <a:p>
            <a:pPr marL="285750" indent="-285750">
              <a:buFont typeface="Symbol" panose="05050102010706020507" pitchFamily="18" charset="2"/>
              <a:buChar char="-"/>
            </a:pP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7</a:t>
            </a:fld>
            <a:endParaRPr lang="de-CH" dirty="0"/>
          </a:p>
        </p:txBody>
      </p:sp>
    </p:spTree>
    <p:extLst>
      <p:ext uri="{BB962C8B-B14F-4D97-AF65-F5344CB8AC3E}">
        <p14:creationId xmlns:p14="http://schemas.microsoft.com/office/powerpoint/2010/main" val="4310301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Key-</a:t>
            </a:r>
            <a:r>
              <a:rPr lang="de-DE" dirty="0" err="1" smtClean="0"/>
              <a:t>Findings</a:t>
            </a:r>
            <a:r>
              <a:rPr lang="de-DE" dirty="0" smtClean="0"/>
              <a:t> (I)</a:t>
            </a:r>
            <a:endParaRPr lang="de-CH" dirty="0"/>
          </a:p>
        </p:txBody>
      </p:sp>
      <p:sp>
        <p:nvSpPr>
          <p:cNvPr id="3" name="Inhaltsplatzhalter 2"/>
          <p:cNvSpPr>
            <a:spLocks noGrp="1"/>
          </p:cNvSpPr>
          <p:nvPr>
            <p:ph idx="1"/>
          </p:nvPr>
        </p:nvSpPr>
        <p:spPr/>
        <p:txBody>
          <a:bodyPr/>
          <a:lstStyle/>
          <a:p>
            <a:endParaRPr lang="de-CH"/>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8</a:t>
            </a:fld>
            <a:endParaRPr lang="de-CH" dirty="0"/>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850" b="55053"/>
          <a:stretch/>
        </p:blipFill>
        <p:spPr bwMode="auto">
          <a:xfrm>
            <a:off x="900114" y="1748294"/>
            <a:ext cx="3959918" cy="2412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44947"/>
          <a:stretch/>
        </p:blipFill>
        <p:spPr bwMode="auto">
          <a:xfrm>
            <a:off x="4355976" y="1816150"/>
            <a:ext cx="4176464" cy="3025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11619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Key-</a:t>
            </a:r>
            <a:r>
              <a:rPr lang="de-DE" dirty="0" err="1" smtClean="0"/>
              <a:t>Findings</a:t>
            </a:r>
            <a:r>
              <a:rPr lang="de-DE" dirty="0" smtClean="0"/>
              <a:t> (II)</a:t>
            </a:r>
            <a:endParaRPr lang="de-CH" dirty="0"/>
          </a:p>
        </p:txBody>
      </p:sp>
      <p:sp>
        <p:nvSpPr>
          <p:cNvPr id="3" name="Inhaltsplatzhalter 2"/>
          <p:cNvSpPr>
            <a:spLocks noGrp="1"/>
          </p:cNvSpPr>
          <p:nvPr>
            <p:ph idx="1"/>
          </p:nvPr>
        </p:nvSpPr>
        <p:spPr/>
        <p:txBody>
          <a:bodyPr/>
          <a:lstStyle/>
          <a:p>
            <a:endParaRPr lang="de-CH"/>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9</a:t>
            </a:fld>
            <a:endParaRPr lang="de-CH"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5624" y="1563638"/>
            <a:ext cx="5161686" cy="3281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49992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Key-</a:t>
            </a:r>
            <a:r>
              <a:rPr lang="de-DE" dirty="0" err="1" smtClean="0"/>
              <a:t>Findings</a:t>
            </a:r>
            <a:r>
              <a:rPr lang="de-DE" dirty="0" smtClean="0"/>
              <a:t> (III)</a:t>
            </a:r>
            <a:endParaRPr lang="de-CH" dirty="0"/>
          </a:p>
        </p:txBody>
      </p:sp>
      <p:sp>
        <p:nvSpPr>
          <p:cNvPr id="3" name="Inhaltsplatzhalter 2"/>
          <p:cNvSpPr>
            <a:spLocks noGrp="1"/>
          </p:cNvSpPr>
          <p:nvPr>
            <p:ph idx="1"/>
          </p:nvPr>
        </p:nvSpPr>
        <p:spPr/>
        <p:txBody>
          <a:bodyPr/>
          <a:lstStyle/>
          <a:p>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10</a:t>
            </a:fld>
            <a:endParaRPr lang="de-CH"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557072"/>
            <a:ext cx="4752528" cy="3434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29137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Key-</a:t>
            </a:r>
            <a:r>
              <a:rPr lang="de-DE" dirty="0" err="1" smtClean="0"/>
              <a:t>Findings</a:t>
            </a:r>
            <a:r>
              <a:rPr lang="de-DE" dirty="0" smtClean="0"/>
              <a:t> (IV)</a:t>
            </a:r>
            <a:endParaRPr lang="de-CH" dirty="0"/>
          </a:p>
        </p:txBody>
      </p:sp>
      <p:sp>
        <p:nvSpPr>
          <p:cNvPr id="3" name="Inhaltsplatzhalter 2"/>
          <p:cNvSpPr>
            <a:spLocks noGrp="1"/>
          </p:cNvSpPr>
          <p:nvPr>
            <p:ph idx="1"/>
          </p:nvPr>
        </p:nvSpPr>
        <p:spPr/>
        <p:txBody>
          <a:bodyPr/>
          <a:lstStyle/>
          <a:p>
            <a:endParaRPr lang="de-CH"/>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11</a:t>
            </a:fld>
            <a:endParaRPr lang="de-CH"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491630"/>
            <a:ext cx="5689177" cy="34018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843926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How</a:t>
            </a:r>
            <a:r>
              <a:rPr lang="de-DE" dirty="0" smtClean="0"/>
              <a:t> </a:t>
            </a:r>
            <a:r>
              <a:rPr lang="de-DE" dirty="0" err="1" smtClean="0"/>
              <a:t>did</a:t>
            </a:r>
            <a:r>
              <a:rPr lang="de-DE" dirty="0" smtClean="0"/>
              <a:t> </a:t>
            </a:r>
            <a:r>
              <a:rPr lang="de-DE" dirty="0" err="1" smtClean="0"/>
              <a:t>the</a:t>
            </a:r>
            <a:r>
              <a:rPr lang="de-DE" dirty="0" smtClean="0"/>
              <a:t> </a:t>
            </a:r>
            <a:r>
              <a:rPr lang="de-DE" dirty="0" err="1" smtClean="0"/>
              <a:t>public</a:t>
            </a:r>
            <a:r>
              <a:rPr lang="de-DE" dirty="0" smtClean="0"/>
              <a:t> </a:t>
            </a:r>
            <a:r>
              <a:rPr lang="de-DE" dirty="0" err="1" smtClean="0"/>
              <a:t>react</a:t>
            </a:r>
            <a:r>
              <a:rPr lang="de-DE" dirty="0" smtClean="0"/>
              <a:t>?</a:t>
            </a:r>
            <a:endParaRPr lang="de-CH" dirty="0"/>
          </a:p>
        </p:txBody>
      </p:sp>
      <p:sp>
        <p:nvSpPr>
          <p:cNvPr id="3" name="Inhaltsplatzhalter 2"/>
          <p:cNvSpPr>
            <a:spLocks noGrp="1"/>
          </p:cNvSpPr>
          <p:nvPr>
            <p:ph idx="1"/>
          </p:nvPr>
        </p:nvSpPr>
        <p:spPr/>
        <p:txBody>
          <a:bodyPr/>
          <a:lstStyle/>
          <a:p>
            <a:endParaRPr lang="de-CH"/>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12</a:t>
            </a:fld>
            <a:endParaRPr lang="de-CH" dirty="0"/>
          </a:p>
        </p:txBody>
      </p:sp>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834" t="10074" r="12750" b="6222"/>
          <a:stretch/>
        </p:blipFill>
        <p:spPr bwMode="auto">
          <a:xfrm>
            <a:off x="755576" y="1627130"/>
            <a:ext cx="4841384" cy="3104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2250" t="9093" r="31417" b="6908"/>
          <a:stretch/>
        </p:blipFill>
        <p:spPr bwMode="auto">
          <a:xfrm>
            <a:off x="5148064" y="11037"/>
            <a:ext cx="3995936" cy="5196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46145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Outline</a:t>
            </a:r>
            <a:endParaRPr lang="de-CH" dirty="0"/>
          </a:p>
        </p:txBody>
      </p:sp>
      <p:sp>
        <p:nvSpPr>
          <p:cNvPr id="3" name="Inhaltsplatzhalter 2"/>
          <p:cNvSpPr txBox="1">
            <a:spLocks/>
          </p:cNvSpPr>
          <p:nvPr/>
        </p:nvSpPr>
        <p:spPr>
          <a:xfrm>
            <a:off x="827584" y="1833980"/>
            <a:ext cx="7343775" cy="2915840"/>
          </a:xfrm>
          <a:prstGeom prst="rect">
            <a:avLst/>
          </a:prstGeom>
        </p:spPr>
        <p:txBody>
          <a:bodyPr/>
          <a:lstStyle>
            <a:lvl1pPr algn="l" rtl="0" eaLnBrk="1" fontAlgn="base" hangingPunct="1">
              <a:spcBef>
                <a:spcPct val="40000"/>
              </a:spcBef>
              <a:spcAft>
                <a:spcPct val="0"/>
              </a:spcAft>
              <a:buFont typeface="Arial" charset="0"/>
              <a:defRPr sz="1700">
                <a:solidFill>
                  <a:schemeClr val="tx1"/>
                </a:solidFill>
                <a:latin typeface="+mn-lt"/>
                <a:ea typeface="+mn-ea"/>
                <a:cs typeface="+mn-cs"/>
              </a:defRPr>
            </a:lvl1pPr>
            <a:lvl2pPr marL="346075" indent="-344488" algn="l" rtl="0" eaLnBrk="1" fontAlgn="base" hangingPunct="1">
              <a:spcBef>
                <a:spcPct val="40000"/>
              </a:spcBef>
              <a:spcAft>
                <a:spcPct val="0"/>
              </a:spcAft>
              <a:buFont typeface="Arial" charset="0"/>
              <a:buChar char="–"/>
              <a:defRPr sz="1700">
                <a:solidFill>
                  <a:schemeClr val="tx1"/>
                </a:solidFill>
                <a:latin typeface="+mn-lt"/>
                <a:cs typeface="+mn-cs"/>
              </a:defRPr>
            </a:lvl2pPr>
            <a:lvl3pPr marL="714375" indent="-366713" algn="l" rtl="0" eaLnBrk="1" fontAlgn="base" hangingPunct="1">
              <a:spcBef>
                <a:spcPct val="40000"/>
              </a:spcBef>
              <a:spcAft>
                <a:spcPct val="0"/>
              </a:spcAft>
              <a:buFont typeface="Arial" charset="0"/>
              <a:buChar char="–"/>
              <a:defRPr sz="1700">
                <a:solidFill>
                  <a:schemeClr val="tx1"/>
                </a:solidFill>
                <a:latin typeface="+mn-lt"/>
                <a:cs typeface="+mn-cs"/>
              </a:defRPr>
            </a:lvl3pPr>
            <a:lvl4pPr marL="1069975" indent="-354013" algn="l" rtl="0" eaLnBrk="1" fontAlgn="base" hangingPunct="1">
              <a:spcBef>
                <a:spcPct val="40000"/>
              </a:spcBef>
              <a:spcAft>
                <a:spcPct val="0"/>
              </a:spcAft>
              <a:buFont typeface="Arial" charset="0"/>
              <a:buChar char="–"/>
              <a:defRPr sz="1700">
                <a:solidFill>
                  <a:schemeClr val="tx1"/>
                </a:solidFill>
                <a:latin typeface="+mn-lt"/>
                <a:cs typeface="+mn-cs"/>
              </a:defRPr>
            </a:lvl4pPr>
            <a:lvl5pPr marL="1438275" indent="-366713" algn="l" rtl="0" eaLnBrk="1" fontAlgn="base" hangingPunct="1">
              <a:spcBef>
                <a:spcPct val="40000"/>
              </a:spcBef>
              <a:spcAft>
                <a:spcPct val="0"/>
              </a:spcAft>
              <a:buFont typeface="Arial" charset="0"/>
              <a:buChar char="–"/>
              <a:defRPr sz="1700">
                <a:solidFill>
                  <a:schemeClr val="tx1"/>
                </a:solidFill>
                <a:latin typeface="+mn-lt"/>
                <a:cs typeface="+mn-cs"/>
              </a:defRPr>
            </a:lvl5pPr>
            <a:lvl6pPr marL="1895475" indent="-366713" algn="l" rtl="0" eaLnBrk="1" fontAlgn="base" hangingPunct="1">
              <a:spcBef>
                <a:spcPct val="40000"/>
              </a:spcBef>
              <a:spcAft>
                <a:spcPct val="0"/>
              </a:spcAft>
              <a:buFont typeface="Arial" charset="0"/>
              <a:buChar char="–"/>
              <a:defRPr sz="1700">
                <a:solidFill>
                  <a:schemeClr val="tx1"/>
                </a:solidFill>
                <a:latin typeface="+mn-lt"/>
                <a:cs typeface="+mn-cs"/>
              </a:defRPr>
            </a:lvl6pPr>
            <a:lvl7pPr marL="2352675" indent="-366713" algn="l" rtl="0" eaLnBrk="1" fontAlgn="base" hangingPunct="1">
              <a:spcBef>
                <a:spcPct val="40000"/>
              </a:spcBef>
              <a:spcAft>
                <a:spcPct val="0"/>
              </a:spcAft>
              <a:buFont typeface="Arial" charset="0"/>
              <a:buChar char="–"/>
              <a:defRPr sz="1700">
                <a:solidFill>
                  <a:schemeClr val="tx1"/>
                </a:solidFill>
                <a:latin typeface="+mn-lt"/>
                <a:cs typeface="+mn-cs"/>
              </a:defRPr>
            </a:lvl7pPr>
            <a:lvl8pPr marL="2809875" indent="-366713" algn="l" rtl="0" eaLnBrk="1" fontAlgn="base" hangingPunct="1">
              <a:spcBef>
                <a:spcPct val="40000"/>
              </a:spcBef>
              <a:spcAft>
                <a:spcPct val="0"/>
              </a:spcAft>
              <a:buFont typeface="Arial" charset="0"/>
              <a:buChar char="–"/>
              <a:defRPr sz="1700">
                <a:solidFill>
                  <a:schemeClr val="tx1"/>
                </a:solidFill>
                <a:latin typeface="+mn-lt"/>
                <a:cs typeface="+mn-cs"/>
              </a:defRPr>
            </a:lvl8pPr>
            <a:lvl9pPr marL="3267075" indent="-366713" algn="l" rtl="0" eaLnBrk="1" fontAlgn="base" hangingPunct="1">
              <a:spcBef>
                <a:spcPct val="40000"/>
              </a:spcBef>
              <a:spcAft>
                <a:spcPct val="0"/>
              </a:spcAft>
              <a:buFont typeface="Arial" charset="0"/>
              <a:buChar char="–"/>
              <a:defRPr sz="1700">
                <a:solidFill>
                  <a:schemeClr val="tx1"/>
                </a:solidFill>
                <a:latin typeface="+mn-lt"/>
                <a:cs typeface="+mn-cs"/>
              </a:defRPr>
            </a:lvl9pPr>
          </a:lstStyle>
          <a:p>
            <a:r>
              <a:rPr lang="de-DE" sz="1900" kern="0" dirty="0" err="1" smtClean="0">
                <a:solidFill>
                  <a:schemeClr val="bg1"/>
                </a:solidFill>
              </a:rPr>
              <a:t>How</a:t>
            </a:r>
            <a:r>
              <a:rPr lang="de-DE" sz="1900" kern="0" dirty="0" smtClean="0">
                <a:solidFill>
                  <a:schemeClr val="bg1"/>
                </a:solidFill>
              </a:rPr>
              <a:t> I </a:t>
            </a:r>
            <a:r>
              <a:rPr lang="de-DE" sz="1900" kern="0" dirty="0" err="1" smtClean="0">
                <a:solidFill>
                  <a:schemeClr val="bg1"/>
                </a:solidFill>
              </a:rPr>
              <a:t>started</a:t>
            </a:r>
            <a:r>
              <a:rPr lang="de-DE" sz="1900" kern="0" dirty="0" smtClean="0">
                <a:solidFill>
                  <a:schemeClr val="bg1"/>
                </a:solidFill>
              </a:rPr>
              <a:t> </a:t>
            </a:r>
            <a:r>
              <a:rPr lang="de-DE" sz="1900" kern="0" dirty="0" err="1" smtClean="0">
                <a:solidFill>
                  <a:schemeClr val="bg1"/>
                </a:solidFill>
              </a:rPr>
              <a:t>to</a:t>
            </a:r>
            <a:r>
              <a:rPr lang="de-DE" sz="1900" kern="0" dirty="0" smtClean="0">
                <a:solidFill>
                  <a:schemeClr val="bg1"/>
                </a:solidFill>
              </a:rPr>
              <a:t> </a:t>
            </a:r>
            <a:r>
              <a:rPr lang="de-DE" sz="1900" kern="0" dirty="0" err="1" smtClean="0">
                <a:solidFill>
                  <a:schemeClr val="bg1"/>
                </a:solidFill>
              </a:rPr>
              <a:t>get</a:t>
            </a:r>
            <a:r>
              <a:rPr lang="de-DE" sz="1900" kern="0" dirty="0" smtClean="0">
                <a:solidFill>
                  <a:schemeClr val="bg1"/>
                </a:solidFill>
              </a:rPr>
              <a:t> </a:t>
            </a:r>
            <a:r>
              <a:rPr lang="de-DE" sz="1900" kern="0" dirty="0" err="1" smtClean="0">
                <a:solidFill>
                  <a:schemeClr val="bg1"/>
                </a:solidFill>
              </a:rPr>
              <a:t>interested</a:t>
            </a:r>
            <a:r>
              <a:rPr lang="de-DE" sz="1900" kern="0" dirty="0" smtClean="0">
                <a:solidFill>
                  <a:schemeClr val="bg1"/>
                </a:solidFill>
              </a:rPr>
              <a:t> in </a:t>
            </a:r>
            <a:r>
              <a:rPr lang="de-DE" sz="1900" kern="0" dirty="0" err="1" smtClean="0">
                <a:solidFill>
                  <a:schemeClr val="bg1"/>
                </a:solidFill>
              </a:rPr>
              <a:t>reporting</a:t>
            </a:r>
            <a:r>
              <a:rPr lang="de-DE" sz="1900" kern="0" dirty="0" smtClean="0">
                <a:solidFill>
                  <a:schemeClr val="bg1"/>
                </a:solidFill>
              </a:rPr>
              <a:t> </a:t>
            </a:r>
            <a:r>
              <a:rPr lang="de-DE" sz="1900" kern="0" dirty="0" err="1" smtClean="0">
                <a:solidFill>
                  <a:schemeClr val="bg1"/>
                </a:solidFill>
              </a:rPr>
              <a:t>bias</a:t>
            </a:r>
            <a:endParaRPr lang="de-DE" sz="1900" kern="0" dirty="0">
              <a:solidFill>
                <a:schemeClr val="bg1"/>
              </a:solidFill>
            </a:endParaRPr>
          </a:p>
          <a:p>
            <a:endParaRPr lang="de-DE" sz="1900" kern="0" dirty="0" smtClean="0">
              <a:solidFill>
                <a:schemeClr val="bg1"/>
              </a:solidFill>
            </a:endParaRPr>
          </a:p>
          <a:p>
            <a:r>
              <a:rPr lang="de-DE" sz="1900" b="1" kern="0" dirty="0" err="1" smtClean="0">
                <a:solidFill>
                  <a:schemeClr val="bg1"/>
                </a:solidFill>
              </a:rPr>
              <a:t>Sources</a:t>
            </a:r>
            <a:r>
              <a:rPr lang="de-DE" sz="1900" b="1" kern="0" dirty="0" smtClean="0">
                <a:solidFill>
                  <a:schemeClr val="bg1"/>
                </a:solidFill>
              </a:rPr>
              <a:t> </a:t>
            </a:r>
            <a:r>
              <a:rPr lang="de-DE" sz="1900" b="1" kern="0" dirty="0" err="1" smtClean="0">
                <a:solidFill>
                  <a:schemeClr val="bg1"/>
                </a:solidFill>
              </a:rPr>
              <a:t>of</a:t>
            </a:r>
            <a:r>
              <a:rPr lang="de-DE" sz="1900" b="1" kern="0" dirty="0" smtClean="0">
                <a:solidFill>
                  <a:schemeClr val="bg1"/>
                </a:solidFill>
              </a:rPr>
              <a:t> </a:t>
            </a:r>
            <a:r>
              <a:rPr lang="de-DE" sz="1900" b="1" kern="0" dirty="0" err="1" smtClean="0">
                <a:solidFill>
                  <a:schemeClr val="bg1"/>
                </a:solidFill>
              </a:rPr>
              <a:t>reporting</a:t>
            </a:r>
            <a:r>
              <a:rPr lang="de-DE" sz="1900" b="1" kern="0" dirty="0" smtClean="0">
                <a:solidFill>
                  <a:schemeClr val="bg1"/>
                </a:solidFill>
              </a:rPr>
              <a:t> </a:t>
            </a:r>
            <a:r>
              <a:rPr lang="de-DE" sz="1900" b="1" kern="0" dirty="0" err="1" smtClean="0">
                <a:solidFill>
                  <a:schemeClr val="bg1"/>
                </a:solidFill>
              </a:rPr>
              <a:t>bias</a:t>
            </a:r>
            <a:r>
              <a:rPr lang="de-DE" sz="1900" b="1" kern="0" dirty="0" smtClean="0">
                <a:solidFill>
                  <a:schemeClr val="bg1"/>
                </a:solidFill>
              </a:rPr>
              <a:t> </a:t>
            </a:r>
            <a:r>
              <a:rPr lang="de-DE" sz="1900" b="1" kern="0" dirty="0" smtClean="0">
                <a:solidFill>
                  <a:schemeClr val="bg1"/>
                </a:solidFill>
              </a:rPr>
              <a:t>in </a:t>
            </a:r>
            <a:r>
              <a:rPr lang="de-DE" sz="1900" b="1" kern="0" dirty="0" err="1" smtClean="0">
                <a:solidFill>
                  <a:schemeClr val="bg1"/>
                </a:solidFill>
              </a:rPr>
              <a:t>social</a:t>
            </a:r>
            <a:r>
              <a:rPr lang="de-DE" sz="1900" b="1" kern="0" dirty="0" smtClean="0">
                <a:solidFill>
                  <a:schemeClr val="bg1"/>
                </a:solidFill>
              </a:rPr>
              <a:t> </a:t>
            </a:r>
            <a:r>
              <a:rPr lang="de-DE" sz="1900" b="1" kern="0" dirty="0" err="1" smtClean="0">
                <a:solidFill>
                  <a:schemeClr val="bg1"/>
                </a:solidFill>
              </a:rPr>
              <a:t>sciences</a:t>
            </a:r>
            <a:endParaRPr lang="de-CH" sz="1900" b="1" kern="0" dirty="0">
              <a:solidFill>
                <a:schemeClr val="bg1"/>
              </a:solidFill>
            </a:endParaRPr>
          </a:p>
        </p:txBody>
      </p:sp>
    </p:spTree>
    <p:extLst>
      <p:ext uri="{BB962C8B-B14F-4D97-AF65-F5344CB8AC3E}">
        <p14:creationId xmlns:p14="http://schemas.microsoft.com/office/powerpoint/2010/main" val="8307651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Former </a:t>
            </a:r>
            <a:r>
              <a:rPr lang="de-DE" dirty="0" err="1" smtClean="0"/>
              <a:t>evidence</a:t>
            </a:r>
            <a:r>
              <a:rPr lang="de-DE" dirty="0" smtClean="0"/>
              <a:t> on </a:t>
            </a:r>
            <a:r>
              <a:rPr lang="de-DE" dirty="0" err="1" smtClean="0"/>
              <a:t>reporting</a:t>
            </a:r>
            <a:r>
              <a:rPr lang="de-DE" dirty="0" smtClean="0"/>
              <a:t> </a:t>
            </a:r>
            <a:r>
              <a:rPr lang="de-DE" dirty="0" err="1" smtClean="0"/>
              <a:t>bias</a:t>
            </a:r>
            <a:endParaRPr lang="de-CH" dirty="0"/>
          </a:p>
        </p:txBody>
      </p:sp>
      <p:sp>
        <p:nvSpPr>
          <p:cNvPr id="3" name="Inhaltsplatzhalter 2"/>
          <p:cNvSpPr>
            <a:spLocks noGrp="1"/>
          </p:cNvSpPr>
          <p:nvPr>
            <p:ph idx="1"/>
          </p:nvPr>
        </p:nvSpPr>
        <p:spPr>
          <a:xfrm>
            <a:off x="900114" y="1528118"/>
            <a:ext cx="7343775" cy="2915840"/>
          </a:xfrm>
        </p:spPr>
        <p:txBody>
          <a:bodyPr/>
          <a:lstStyle/>
          <a:p>
            <a:r>
              <a:rPr lang="en-US" dirty="0" smtClean="0"/>
              <a:t>73</a:t>
            </a:r>
            <a:r>
              <a:rPr lang="en-US" dirty="0"/>
              <a:t>% of all positive clinical trials are published, but only 41% of all </a:t>
            </a:r>
            <a:r>
              <a:rPr lang="en-US" dirty="0" smtClean="0"/>
              <a:t>negative clinical </a:t>
            </a:r>
            <a:r>
              <a:rPr lang="en-US" dirty="0"/>
              <a:t>trials are </a:t>
            </a:r>
            <a:r>
              <a:rPr lang="en-US" dirty="0" smtClean="0"/>
              <a:t>published </a:t>
            </a:r>
            <a:r>
              <a:rPr lang="en-US" sz="1000" dirty="0"/>
              <a:t>(</a:t>
            </a:r>
            <a:r>
              <a:rPr lang="en-US" sz="1000" dirty="0" smtClean="0"/>
              <a:t>Hopewell et al., </a:t>
            </a:r>
            <a:r>
              <a:rPr lang="de-CH" sz="1000" dirty="0" smtClean="0"/>
              <a:t>2009</a:t>
            </a:r>
            <a:r>
              <a:rPr lang="en-US" sz="1000" dirty="0" smtClean="0"/>
              <a:t>)</a:t>
            </a:r>
            <a:r>
              <a:rPr lang="en-US" dirty="0" smtClean="0"/>
              <a:t>. </a:t>
            </a:r>
          </a:p>
          <a:p>
            <a:r>
              <a:rPr lang="en-US" dirty="0" smtClean="0"/>
              <a:t>Analyzing more </a:t>
            </a:r>
            <a:r>
              <a:rPr lang="en-US" dirty="0"/>
              <a:t>than 4,600 papers published in all disciplines </a:t>
            </a:r>
            <a:r>
              <a:rPr lang="en-US" dirty="0" smtClean="0"/>
              <a:t>a study shows </a:t>
            </a:r>
            <a:r>
              <a:rPr lang="en-US" dirty="0"/>
              <a:t>that </a:t>
            </a:r>
            <a:r>
              <a:rPr lang="en-US" dirty="0" smtClean="0"/>
              <a:t>the overall </a:t>
            </a:r>
            <a:r>
              <a:rPr lang="en-US" dirty="0"/>
              <a:t>frequency of positive support has grown by more than 22% </a:t>
            </a:r>
            <a:r>
              <a:rPr lang="en-US" dirty="0" smtClean="0"/>
              <a:t>between 1990 </a:t>
            </a:r>
            <a:r>
              <a:rPr lang="en-US" dirty="0"/>
              <a:t>and 2007 </a:t>
            </a:r>
            <a:r>
              <a:rPr lang="en-US" sz="1000" dirty="0"/>
              <a:t>(</a:t>
            </a:r>
            <a:r>
              <a:rPr lang="en-US" sz="1000" dirty="0" err="1"/>
              <a:t>Fanelli</a:t>
            </a:r>
            <a:r>
              <a:rPr lang="en-US" sz="1000" dirty="0"/>
              <a:t>, 2012)</a:t>
            </a:r>
            <a:r>
              <a:rPr lang="en-US" dirty="0"/>
              <a:t>. The increase was stronger in the social </a:t>
            </a:r>
            <a:r>
              <a:rPr lang="en-US" dirty="0" smtClean="0"/>
              <a:t>disciplines </a:t>
            </a:r>
            <a:r>
              <a:rPr lang="en-US" sz="1000" dirty="0" smtClean="0"/>
              <a:t>(</a:t>
            </a:r>
            <a:r>
              <a:rPr lang="en-US" sz="1000" dirty="0" err="1" smtClean="0"/>
              <a:t>Fanelli</a:t>
            </a:r>
            <a:r>
              <a:rPr lang="en-US" sz="1000" dirty="0"/>
              <a:t>, 2010b) </a:t>
            </a:r>
            <a:r>
              <a:rPr lang="en-US" dirty="0"/>
              <a:t>and in </a:t>
            </a:r>
            <a:r>
              <a:rPr lang="en-US" dirty="0" smtClean="0"/>
              <a:t>publish-or-perish environments </a:t>
            </a:r>
            <a:r>
              <a:rPr lang="en-US" dirty="0"/>
              <a:t>such as </a:t>
            </a:r>
            <a:r>
              <a:rPr lang="en-US" dirty="0" smtClean="0"/>
              <a:t>the United </a:t>
            </a:r>
            <a:r>
              <a:rPr lang="en-US" dirty="0"/>
              <a:t>States </a:t>
            </a:r>
            <a:r>
              <a:rPr lang="en-US" sz="1000" dirty="0"/>
              <a:t>(</a:t>
            </a:r>
            <a:r>
              <a:rPr lang="en-US" sz="1000" dirty="0" err="1"/>
              <a:t>Fanelli</a:t>
            </a:r>
            <a:r>
              <a:rPr lang="en-US" sz="1000" dirty="0"/>
              <a:t>, 2010a). </a:t>
            </a:r>
            <a:endParaRPr lang="en-US" sz="1000" dirty="0" smtClean="0"/>
          </a:p>
          <a:p>
            <a:r>
              <a:rPr lang="en-US" dirty="0" smtClean="0"/>
              <a:t>Reporting bias exist in </a:t>
            </a:r>
            <a:r>
              <a:rPr lang="en-US" dirty="0"/>
              <a:t>areas such as aid effectiveness on growth </a:t>
            </a:r>
            <a:r>
              <a:rPr lang="en-US" sz="1000" dirty="0" smtClean="0"/>
              <a:t>(</a:t>
            </a:r>
            <a:r>
              <a:rPr lang="en-US" sz="1000" dirty="0" err="1" smtClean="0"/>
              <a:t>Doucouliagos</a:t>
            </a:r>
            <a:r>
              <a:rPr lang="en-US" sz="1000" dirty="0" smtClean="0"/>
              <a:t> &amp; </a:t>
            </a:r>
            <a:r>
              <a:rPr lang="de-CH" sz="1000" dirty="0" err="1" smtClean="0"/>
              <a:t>Paldam</a:t>
            </a:r>
            <a:r>
              <a:rPr lang="de-CH" sz="1000" dirty="0"/>
              <a:t>, 2008)</a:t>
            </a:r>
            <a:r>
              <a:rPr lang="de-CH" dirty="0"/>
              <a:t>, minimum-wage </a:t>
            </a:r>
            <a:r>
              <a:rPr lang="de-CH" dirty="0" err="1"/>
              <a:t>studies</a:t>
            </a:r>
            <a:r>
              <a:rPr lang="de-CH" dirty="0"/>
              <a:t> </a:t>
            </a:r>
            <a:r>
              <a:rPr lang="de-CH" sz="1000" dirty="0"/>
              <a:t>(Card &amp; Krueger, 1995; </a:t>
            </a:r>
            <a:r>
              <a:rPr lang="en-US" sz="1000" dirty="0" err="1" smtClean="0"/>
              <a:t>Doucouliagos</a:t>
            </a:r>
            <a:r>
              <a:rPr lang="en-US" sz="1000" dirty="0" smtClean="0"/>
              <a:t> </a:t>
            </a:r>
            <a:r>
              <a:rPr lang="en-US" sz="1000" dirty="0"/>
              <a:t>&amp; Stanley, 2009)</a:t>
            </a:r>
            <a:r>
              <a:rPr lang="en-US" dirty="0"/>
              <a:t>, economic freedom and economic </a:t>
            </a:r>
            <a:r>
              <a:rPr lang="en-US" dirty="0" smtClean="0"/>
              <a:t>growth </a:t>
            </a:r>
            <a:r>
              <a:rPr lang="de-CH" dirty="0" err="1" smtClean="0"/>
              <a:t>literature</a:t>
            </a:r>
            <a:r>
              <a:rPr lang="de-CH" dirty="0" smtClean="0"/>
              <a:t> </a:t>
            </a:r>
            <a:r>
              <a:rPr lang="de-CH" sz="1000" dirty="0" smtClean="0"/>
              <a:t>(</a:t>
            </a:r>
            <a:r>
              <a:rPr lang="de-CH" sz="1000" dirty="0" err="1" smtClean="0"/>
              <a:t>Doucouliagos</a:t>
            </a:r>
            <a:r>
              <a:rPr lang="de-CH" sz="1000" dirty="0"/>
              <a:t>, 2005; </a:t>
            </a:r>
            <a:r>
              <a:rPr lang="de-CH" sz="1000" dirty="0" err="1" smtClean="0"/>
              <a:t>Doucouliagos</a:t>
            </a:r>
            <a:r>
              <a:rPr lang="de-CH" sz="1000" dirty="0" smtClean="0"/>
              <a:t> et al., </a:t>
            </a:r>
            <a:r>
              <a:rPr lang="en-US" sz="1000" dirty="0" smtClean="0"/>
              <a:t>2005</a:t>
            </a:r>
            <a:r>
              <a:rPr lang="en-US" sz="1000" dirty="0"/>
              <a:t>)</a:t>
            </a:r>
            <a:r>
              <a:rPr lang="en-US" dirty="0"/>
              <a:t>, the estimates of returns from education </a:t>
            </a:r>
            <a:r>
              <a:rPr lang="en-US" sz="1000" dirty="0"/>
              <a:t>(</a:t>
            </a:r>
            <a:r>
              <a:rPr lang="en-US" sz="1000" dirty="0" err="1" smtClean="0"/>
              <a:t>Ashenfelter</a:t>
            </a:r>
            <a:r>
              <a:rPr lang="en-US" sz="1000" dirty="0" smtClean="0"/>
              <a:t> et al., </a:t>
            </a:r>
            <a:r>
              <a:rPr lang="en-US" sz="1000" dirty="0"/>
              <a:t>1999)</a:t>
            </a:r>
            <a:r>
              <a:rPr lang="en-US" dirty="0"/>
              <a:t>, the productivity effects of multinationals </a:t>
            </a:r>
            <a:r>
              <a:rPr lang="en-US" sz="1000" dirty="0"/>
              <a:t>(</a:t>
            </a:r>
            <a:r>
              <a:rPr lang="en-US" sz="1000" dirty="0" err="1"/>
              <a:t>Gorg</a:t>
            </a:r>
            <a:r>
              <a:rPr lang="en-US" sz="1000" dirty="0"/>
              <a:t> &amp; </a:t>
            </a:r>
            <a:r>
              <a:rPr lang="en-US" sz="1000" dirty="0" err="1" smtClean="0"/>
              <a:t>Strobl</a:t>
            </a:r>
            <a:r>
              <a:rPr lang="en-US" sz="1000" dirty="0" smtClean="0"/>
              <a:t>, 2001</a:t>
            </a:r>
            <a:r>
              <a:rPr lang="en-US" sz="1000" dirty="0"/>
              <a:t>)</a:t>
            </a:r>
            <a:r>
              <a:rPr lang="en-US" dirty="0"/>
              <a:t>, and the price elasticity of water </a:t>
            </a:r>
            <a:r>
              <a:rPr lang="en-US" sz="1000" dirty="0"/>
              <a:t>(Stanley, 2005a)</a:t>
            </a:r>
            <a:r>
              <a:rPr lang="en-US" dirty="0"/>
              <a:t>. </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14</a:t>
            </a:fld>
            <a:endParaRPr lang="de-CH" dirty="0"/>
          </a:p>
        </p:txBody>
      </p:sp>
    </p:spTree>
    <p:extLst>
      <p:ext uri="{BB962C8B-B14F-4D97-AF65-F5344CB8AC3E}">
        <p14:creationId xmlns:p14="http://schemas.microsoft.com/office/powerpoint/2010/main" val="35038285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Source 1: Mainstream </a:t>
            </a:r>
            <a:r>
              <a:rPr lang="de-DE" dirty="0" err="1" smtClean="0"/>
              <a:t>theory</a:t>
            </a:r>
            <a:endParaRPr lang="de-CH" dirty="0"/>
          </a:p>
        </p:txBody>
      </p:sp>
      <p:sp>
        <p:nvSpPr>
          <p:cNvPr id="3" name="Inhaltsplatzhalter 2"/>
          <p:cNvSpPr>
            <a:spLocks noGrp="1"/>
          </p:cNvSpPr>
          <p:nvPr>
            <p:ph idx="1"/>
          </p:nvPr>
        </p:nvSpPr>
        <p:spPr/>
        <p:txBody>
          <a:bodyPr/>
          <a:lstStyle/>
          <a:p>
            <a:r>
              <a:rPr lang="en-US" dirty="0"/>
              <a:t>H. </a:t>
            </a:r>
            <a:r>
              <a:rPr lang="en-US" dirty="0" err="1"/>
              <a:t>Doucouliagos</a:t>
            </a:r>
            <a:r>
              <a:rPr lang="en-US" dirty="0"/>
              <a:t> et al. (2005) hypothesized that reporting bias can </a:t>
            </a:r>
            <a:r>
              <a:rPr lang="en-US" dirty="0" smtClean="0"/>
              <a:t>be found </a:t>
            </a:r>
            <a:r>
              <a:rPr lang="en-US" dirty="0"/>
              <a:t>in particular areas of research where mainstream theory supports </a:t>
            </a:r>
            <a:r>
              <a:rPr lang="en-US" dirty="0" smtClean="0"/>
              <a:t>a specific </a:t>
            </a:r>
            <a:r>
              <a:rPr lang="en-US" dirty="0"/>
              <a:t>effect. </a:t>
            </a:r>
            <a:r>
              <a:rPr lang="de-DE" dirty="0"/>
              <a:t>A</a:t>
            </a:r>
            <a:r>
              <a:rPr lang="en-US" dirty="0" err="1"/>
              <a:t>uthors</a:t>
            </a:r>
            <a:r>
              <a:rPr lang="en-US" dirty="0"/>
              <a:t>, referees, and editors may disproportionately select significant positive results reflecting the majority view in the </a:t>
            </a:r>
            <a:r>
              <a:rPr lang="en-US" dirty="0" smtClean="0"/>
              <a:t>field</a:t>
            </a:r>
            <a:r>
              <a:rPr lang="de-CH" dirty="0" smtClean="0"/>
              <a:t>.</a:t>
            </a:r>
            <a:r>
              <a:rPr lang="en-US" dirty="0" smtClean="0"/>
              <a:t> </a:t>
            </a:r>
            <a:endParaRPr lang="en-US" dirty="0" smtClean="0"/>
          </a:p>
          <a:p>
            <a:r>
              <a:rPr lang="en-US" dirty="0" smtClean="0"/>
              <a:t>Example: Instrumental stakeholder theory in CSP–CFP research, the mainstream </a:t>
            </a:r>
            <a:r>
              <a:rPr lang="en-US" dirty="0"/>
              <a:t>theory for researchers in </a:t>
            </a:r>
            <a:r>
              <a:rPr lang="en-US" i="1" dirty="0"/>
              <a:t>Social Issues in </a:t>
            </a:r>
            <a:r>
              <a:rPr lang="en-US" i="1" dirty="0" smtClean="0"/>
              <a:t>Management</a:t>
            </a:r>
            <a:r>
              <a:rPr lang="en-US" dirty="0" smtClean="0"/>
              <a:t>, promotes </a:t>
            </a:r>
            <a:r>
              <a:rPr lang="en-US" dirty="0"/>
              <a:t>a social justice view of the world that strives to align </a:t>
            </a:r>
            <a:r>
              <a:rPr lang="en-US" dirty="0" smtClean="0"/>
              <a:t>with shareholder </a:t>
            </a:r>
            <a:r>
              <a:rPr lang="en-US" dirty="0"/>
              <a:t>wealth </a:t>
            </a:r>
            <a:r>
              <a:rPr lang="en-US" dirty="0" smtClean="0"/>
              <a:t>maximization. </a:t>
            </a:r>
            <a:r>
              <a:rPr lang="en-US" dirty="0" smtClean="0"/>
              <a:t>The </a:t>
            </a:r>
            <a:r>
              <a:rPr lang="en-US" dirty="0"/>
              <a:t>lack of a research paradigm which expects </a:t>
            </a:r>
            <a:r>
              <a:rPr lang="en-US" dirty="0" smtClean="0"/>
              <a:t>a clear </a:t>
            </a:r>
            <a:r>
              <a:rPr lang="en-US" dirty="0"/>
              <a:t>negative CSP–CFP relationship can lead to an </a:t>
            </a:r>
            <a:r>
              <a:rPr lang="en-US" dirty="0" err="1"/>
              <a:t>overdominance</a:t>
            </a:r>
            <a:r>
              <a:rPr lang="en-US" dirty="0"/>
              <a:t> of </a:t>
            </a:r>
            <a:r>
              <a:rPr lang="en-US" dirty="0" smtClean="0"/>
              <a:t>positive </a:t>
            </a:r>
            <a:r>
              <a:rPr lang="de-CH" dirty="0" err="1" smtClean="0"/>
              <a:t>research</a:t>
            </a:r>
            <a:r>
              <a:rPr lang="de-CH" dirty="0" smtClean="0"/>
              <a:t> </a:t>
            </a:r>
            <a:r>
              <a:rPr lang="de-CH" dirty="0" err="1"/>
              <a:t>findings</a:t>
            </a:r>
            <a:r>
              <a:rPr lang="de-CH" dirty="0"/>
              <a:t>.</a:t>
            </a:r>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15</a:t>
            </a:fld>
            <a:endParaRPr lang="de-CH" dirty="0"/>
          </a:p>
        </p:txBody>
      </p:sp>
    </p:spTree>
    <p:extLst>
      <p:ext uri="{BB962C8B-B14F-4D97-AF65-F5344CB8AC3E}">
        <p14:creationId xmlns:p14="http://schemas.microsoft.com/office/powerpoint/2010/main" val="34964631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Source </a:t>
            </a:r>
            <a:r>
              <a:rPr lang="de-DE" dirty="0" smtClean="0"/>
              <a:t>2: </a:t>
            </a:r>
            <a:r>
              <a:rPr lang="de-CH" dirty="0" smtClean="0"/>
              <a:t>Dominant </a:t>
            </a:r>
            <a:r>
              <a:rPr lang="de-CH" dirty="0" err="1"/>
              <a:t>institutional</a:t>
            </a:r>
            <a:r>
              <a:rPr lang="de-CH" dirty="0"/>
              <a:t> </a:t>
            </a:r>
            <a:r>
              <a:rPr lang="de-CH" dirty="0" err="1"/>
              <a:t>logic</a:t>
            </a:r>
            <a:endParaRPr lang="de-CH" dirty="0"/>
          </a:p>
        </p:txBody>
      </p:sp>
      <p:sp>
        <p:nvSpPr>
          <p:cNvPr id="3" name="Inhaltsplatzhalter 2"/>
          <p:cNvSpPr>
            <a:spLocks noGrp="1"/>
          </p:cNvSpPr>
          <p:nvPr>
            <p:ph idx="1"/>
          </p:nvPr>
        </p:nvSpPr>
        <p:spPr>
          <a:xfrm>
            <a:off x="900114" y="1816150"/>
            <a:ext cx="7343775" cy="2915840"/>
          </a:xfrm>
        </p:spPr>
        <p:txBody>
          <a:bodyPr/>
          <a:lstStyle/>
          <a:p>
            <a:r>
              <a:rPr lang="en-US" dirty="0"/>
              <a:t>T</a:t>
            </a:r>
            <a:r>
              <a:rPr lang="en-US" dirty="0" smtClean="0"/>
              <a:t>he </a:t>
            </a:r>
            <a:r>
              <a:rPr lang="en-US" dirty="0"/>
              <a:t>dominant institutional logic in </a:t>
            </a:r>
            <a:r>
              <a:rPr lang="en-US" dirty="0" smtClean="0"/>
              <a:t>which authors </a:t>
            </a:r>
            <a:r>
              <a:rPr lang="en-US" dirty="0"/>
              <a:t>are </a:t>
            </a:r>
            <a:r>
              <a:rPr lang="en-US" dirty="0" smtClean="0"/>
              <a:t>embedded, for example </a:t>
            </a:r>
            <a:r>
              <a:rPr lang="en-US" dirty="0"/>
              <a:t>the professional </a:t>
            </a:r>
            <a:r>
              <a:rPr lang="en-US" dirty="0" smtClean="0"/>
              <a:t>school </a:t>
            </a:r>
            <a:r>
              <a:rPr lang="en-US" dirty="0"/>
              <a:t>environment where many researchers are </a:t>
            </a:r>
            <a:r>
              <a:rPr lang="en-US" dirty="0" smtClean="0"/>
              <a:t>employed, </a:t>
            </a:r>
            <a:r>
              <a:rPr lang="en-US" dirty="0"/>
              <a:t>shapes their cognitions and behaviors and frames </a:t>
            </a:r>
            <a:r>
              <a:rPr lang="en-US" dirty="0" smtClean="0"/>
              <a:t>their </a:t>
            </a:r>
            <a:r>
              <a:rPr lang="en-US" dirty="0" smtClean="0"/>
              <a:t>conclusions</a:t>
            </a:r>
            <a:r>
              <a:rPr lang="en-US" dirty="0" smtClean="0"/>
              <a:t>. </a:t>
            </a:r>
            <a:r>
              <a:rPr lang="en-US" dirty="0"/>
              <a:t>Researchers secure funding and establish legitimacy as consultants, as lecturers, or as authors of books  etc.. These audiences encourage researchers to create success stories</a:t>
            </a:r>
            <a:r>
              <a:rPr lang="en-US" dirty="0" smtClean="0"/>
              <a:t>.</a:t>
            </a:r>
            <a:endParaRPr lang="en-US" dirty="0" smtClean="0"/>
          </a:p>
          <a:p>
            <a:r>
              <a:rPr lang="en-US" dirty="0" smtClean="0"/>
              <a:t>Example: This </a:t>
            </a:r>
            <a:r>
              <a:rPr lang="en-US" dirty="0"/>
              <a:t>logic may result in the fact that </a:t>
            </a:r>
            <a:r>
              <a:rPr lang="en-US" dirty="0" smtClean="0"/>
              <a:t>researchers </a:t>
            </a:r>
            <a:r>
              <a:rPr lang="en-US" dirty="0"/>
              <a:t>do not write and submit papers on negative results contradicting </a:t>
            </a:r>
            <a:r>
              <a:rPr lang="en-US" dirty="0" smtClean="0"/>
              <a:t>the conventionally </a:t>
            </a:r>
            <a:r>
              <a:rPr lang="en-US" dirty="0"/>
              <a:t>expected result. </a:t>
            </a:r>
            <a:r>
              <a:rPr lang="en-US" dirty="0" smtClean="0"/>
              <a:t>(Author </a:t>
            </a:r>
            <a:r>
              <a:rPr lang="en-US" dirty="0"/>
              <a:t>surveys have shown that </a:t>
            </a:r>
            <a:r>
              <a:rPr lang="en-US" dirty="0" smtClean="0"/>
              <a:t>the most </a:t>
            </a:r>
            <a:r>
              <a:rPr lang="en-US" dirty="0"/>
              <a:t>common reasons for not submitting papers are negative results and </a:t>
            </a:r>
            <a:r>
              <a:rPr lang="en-US" dirty="0" smtClean="0"/>
              <a:t>a lack </a:t>
            </a:r>
            <a:r>
              <a:rPr lang="en-US" dirty="0"/>
              <a:t>of interest, time, or other resources </a:t>
            </a:r>
            <a:r>
              <a:rPr lang="en-US" sz="1000" dirty="0"/>
              <a:t>(</a:t>
            </a:r>
            <a:r>
              <a:rPr lang="en-US" sz="1000" dirty="0" err="1" smtClean="0"/>
              <a:t>Callaham</a:t>
            </a:r>
            <a:r>
              <a:rPr lang="en-US" sz="1000" dirty="0" smtClean="0"/>
              <a:t> et al., 1998)</a:t>
            </a:r>
            <a:r>
              <a:rPr lang="en-US" dirty="0" smtClean="0"/>
              <a:t>). </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16</a:t>
            </a:fld>
            <a:endParaRPr lang="de-CH" dirty="0"/>
          </a:p>
        </p:txBody>
      </p:sp>
    </p:spTree>
    <p:extLst>
      <p:ext uri="{BB962C8B-B14F-4D97-AF65-F5344CB8AC3E}">
        <p14:creationId xmlns:p14="http://schemas.microsoft.com/office/powerpoint/2010/main" val="34860671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Source </a:t>
            </a:r>
            <a:r>
              <a:rPr lang="de-DE" dirty="0" smtClean="0"/>
              <a:t>3: </a:t>
            </a:r>
            <a:r>
              <a:rPr lang="de-CH" dirty="0" err="1" smtClean="0"/>
              <a:t>Reviewers</a:t>
            </a:r>
            <a:r>
              <a:rPr lang="de-CH" dirty="0" smtClean="0"/>
              <a:t> </a:t>
            </a:r>
            <a:r>
              <a:rPr lang="de-CH" dirty="0" err="1" smtClean="0"/>
              <a:t>and</a:t>
            </a:r>
            <a:r>
              <a:rPr lang="de-CH" dirty="0" smtClean="0"/>
              <a:t> </a:t>
            </a:r>
            <a:r>
              <a:rPr lang="de-CH" dirty="0" err="1" smtClean="0"/>
              <a:t>editors</a:t>
            </a:r>
            <a:endParaRPr lang="de-CH" dirty="0"/>
          </a:p>
        </p:txBody>
      </p:sp>
      <p:sp>
        <p:nvSpPr>
          <p:cNvPr id="3" name="Inhaltsplatzhalter 2"/>
          <p:cNvSpPr>
            <a:spLocks noGrp="1"/>
          </p:cNvSpPr>
          <p:nvPr>
            <p:ph idx="1"/>
          </p:nvPr>
        </p:nvSpPr>
        <p:spPr/>
        <p:txBody>
          <a:bodyPr/>
          <a:lstStyle/>
          <a:p>
            <a:r>
              <a:rPr lang="en-US" dirty="0" smtClean="0"/>
              <a:t>Reviewers and editors may be predisposed to accept papers consistent with a conventional view</a:t>
            </a:r>
            <a:r>
              <a:rPr lang="en-US" dirty="0" smtClean="0"/>
              <a:t> having a higher probability of being read and cited and not destroying former investments.</a:t>
            </a:r>
            <a:endParaRPr lang="en-US" dirty="0"/>
          </a:p>
          <a:p>
            <a:r>
              <a:rPr lang="en-US" dirty="0"/>
              <a:t>Example</a:t>
            </a:r>
            <a:r>
              <a:rPr lang="en-US" dirty="0" smtClean="0"/>
              <a:t>: “</a:t>
            </a:r>
            <a:r>
              <a:rPr lang="en-US" dirty="0"/>
              <a:t>Social networking effects and interpersonal connections sometimes explain publication decisions much better than the objective characteristics of submissions” </a:t>
            </a:r>
            <a:r>
              <a:rPr lang="en-US" sz="1000" dirty="0"/>
              <a:t>(</a:t>
            </a:r>
            <a:r>
              <a:rPr lang="en-US" sz="1000" dirty="0" err="1"/>
              <a:t>Orlitzky</a:t>
            </a:r>
            <a:r>
              <a:rPr lang="en-US" sz="1000" dirty="0"/>
              <a:t>, 2011, p. 412)</a:t>
            </a:r>
            <a:r>
              <a:rPr lang="en-US" dirty="0"/>
              <a:t>. </a:t>
            </a:r>
            <a:endParaRPr lang="de-CH" dirty="0"/>
          </a:p>
          <a:p>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17</a:t>
            </a:fld>
            <a:endParaRPr lang="de-CH" dirty="0"/>
          </a:p>
        </p:txBody>
      </p:sp>
    </p:spTree>
    <p:extLst>
      <p:ext uri="{BB962C8B-B14F-4D97-AF65-F5344CB8AC3E}">
        <p14:creationId xmlns:p14="http://schemas.microsoft.com/office/powerpoint/2010/main" val="20533855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Interplay </a:t>
            </a:r>
            <a:r>
              <a:rPr lang="de-DE" dirty="0" err="1" smtClean="0"/>
              <a:t>of</a:t>
            </a:r>
            <a:r>
              <a:rPr lang="de-DE" dirty="0" smtClean="0"/>
              <a:t> </a:t>
            </a:r>
            <a:r>
              <a:rPr lang="de-DE" dirty="0" err="1" smtClean="0"/>
              <a:t>the</a:t>
            </a:r>
            <a:r>
              <a:rPr lang="de-DE" dirty="0" smtClean="0"/>
              <a:t> </a:t>
            </a:r>
            <a:r>
              <a:rPr lang="de-DE" dirty="0" err="1" smtClean="0"/>
              <a:t>three</a:t>
            </a:r>
            <a:r>
              <a:rPr lang="de-DE" dirty="0" smtClean="0"/>
              <a:t> </a:t>
            </a:r>
            <a:r>
              <a:rPr lang="de-DE" dirty="0" err="1" smtClean="0"/>
              <a:t>sources</a:t>
            </a:r>
            <a:endParaRPr lang="de-CH" dirty="0"/>
          </a:p>
        </p:txBody>
      </p:sp>
      <p:sp>
        <p:nvSpPr>
          <p:cNvPr id="3" name="Inhaltsplatzhalter 2"/>
          <p:cNvSpPr>
            <a:spLocks noGrp="1"/>
          </p:cNvSpPr>
          <p:nvPr>
            <p:ph idx="1"/>
          </p:nvPr>
        </p:nvSpPr>
        <p:spPr/>
        <p:txBody>
          <a:bodyPr/>
          <a:lstStyle/>
          <a:p>
            <a:r>
              <a:rPr lang="en-US" dirty="0" smtClean="0"/>
              <a:t>Authors may find it </a:t>
            </a:r>
            <a:r>
              <a:rPr lang="en-US" dirty="0"/>
              <a:t>difficult to </a:t>
            </a:r>
            <a:r>
              <a:rPr lang="en-US" dirty="0" smtClean="0"/>
              <a:t>publish not significant results. Null </a:t>
            </a:r>
            <a:r>
              <a:rPr lang="en-US" dirty="0"/>
              <a:t>findings are perceived as less interesting and most scholars will not </a:t>
            </a:r>
            <a:r>
              <a:rPr lang="en-US" dirty="0" smtClean="0"/>
              <a:t>even write </a:t>
            </a:r>
            <a:r>
              <a:rPr lang="en-US" dirty="0"/>
              <a:t>a working paper on such results. </a:t>
            </a:r>
            <a:r>
              <a:rPr lang="en-US" dirty="0" smtClean="0"/>
              <a:t>Authors </a:t>
            </a:r>
            <a:r>
              <a:rPr lang="en-US" dirty="0"/>
              <a:t>may </a:t>
            </a:r>
            <a:r>
              <a:rPr lang="en-US" dirty="0" smtClean="0"/>
              <a:t>be encouraged by reviewers to </a:t>
            </a:r>
            <a:r>
              <a:rPr lang="en-US" dirty="0"/>
              <a:t>locate </a:t>
            </a:r>
            <a:r>
              <a:rPr lang="en-US" dirty="0" smtClean="0"/>
              <a:t>an </a:t>
            </a:r>
            <a:r>
              <a:rPr lang="en-US" dirty="0"/>
              <a:t>effect by, for example, changing the sample </a:t>
            </a:r>
            <a:r>
              <a:rPr lang="en-US" dirty="0" smtClean="0"/>
              <a:t>size, changing </a:t>
            </a:r>
            <a:r>
              <a:rPr lang="en-US" dirty="0"/>
              <a:t>the empirical methodology, altering the set of control variables, </a:t>
            </a:r>
            <a:r>
              <a:rPr lang="en-US" dirty="0" smtClean="0"/>
              <a:t>or using </a:t>
            </a:r>
            <a:r>
              <a:rPr lang="en-US" dirty="0"/>
              <a:t>a different estimation technique. </a:t>
            </a:r>
            <a:endParaRPr lang="en-US" dirty="0" smtClean="0"/>
          </a:p>
          <a:p>
            <a:r>
              <a:rPr lang="en-US" dirty="0" smtClean="0"/>
              <a:t>Researchers </a:t>
            </a:r>
            <a:r>
              <a:rPr lang="en-US" dirty="0"/>
              <a:t>who find a negative effect </a:t>
            </a:r>
            <a:r>
              <a:rPr lang="en-US" dirty="0" smtClean="0"/>
              <a:t>choose </a:t>
            </a:r>
            <a:r>
              <a:rPr lang="en-US" dirty="0"/>
              <a:t>not </a:t>
            </a:r>
            <a:r>
              <a:rPr lang="en-US" dirty="0" smtClean="0"/>
              <a:t>to submit </a:t>
            </a:r>
            <a:r>
              <a:rPr lang="en-US" dirty="0"/>
              <a:t>these results to journals or other publication outlets because </a:t>
            </a:r>
            <a:r>
              <a:rPr lang="en-US" dirty="0" smtClean="0"/>
              <a:t>they believe </a:t>
            </a:r>
            <a:r>
              <a:rPr lang="en-US" dirty="0"/>
              <a:t>the results to be incorrect, they expect that they will have a low </a:t>
            </a:r>
            <a:r>
              <a:rPr lang="en-US" dirty="0" smtClean="0"/>
              <a:t>probability of </a:t>
            </a:r>
            <a:r>
              <a:rPr lang="en-US" dirty="0"/>
              <a:t>being accepted, or their preferred literature does not offer </a:t>
            </a:r>
            <a:r>
              <a:rPr lang="en-US" dirty="0" smtClean="0"/>
              <a:t>accepted theories </a:t>
            </a:r>
            <a:r>
              <a:rPr lang="en-US" dirty="0"/>
              <a:t>to explain negative findings.</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18</a:t>
            </a:fld>
            <a:endParaRPr lang="de-CH" dirty="0"/>
          </a:p>
        </p:txBody>
      </p:sp>
    </p:spTree>
    <p:extLst>
      <p:ext uri="{BB962C8B-B14F-4D97-AF65-F5344CB8AC3E}">
        <p14:creationId xmlns:p14="http://schemas.microsoft.com/office/powerpoint/2010/main" val="13639116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Characteristics </a:t>
            </a:r>
            <a:r>
              <a:rPr lang="en-US" dirty="0" smtClean="0"/>
              <a:t>moderators </a:t>
            </a:r>
            <a:r>
              <a:rPr lang="en-US" dirty="0"/>
              <a:t>of </a:t>
            </a:r>
            <a:r>
              <a:rPr lang="en-US" dirty="0" smtClean="0"/>
              <a:t>reporting biases (I)</a:t>
            </a:r>
            <a:endParaRPr lang="de-CH" dirty="0"/>
          </a:p>
        </p:txBody>
      </p:sp>
      <p:sp>
        <p:nvSpPr>
          <p:cNvPr id="3" name="Inhaltsplatzhalter 2"/>
          <p:cNvSpPr>
            <a:spLocks noGrp="1"/>
          </p:cNvSpPr>
          <p:nvPr>
            <p:ph idx="1"/>
          </p:nvPr>
        </p:nvSpPr>
        <p:spPr>
          <a:xfrm>
            <a:off x="900114" y="1672134"/>
            <a:ext cx="7343775" cy="2915840"/>
          </a:xfrm>
        </p:spPr>
        <p:txBody>
          <a:bodyPr/>
          <a:lstStyle/>
          <a:p>
            <a:r>
              <a:rPr lang="de-CH" b="1" dirty="0" err="1" smtClean="0"/>
              <a:t>Publication</a:t>
            </a:r>
            <a:r>
              <a:rPr lang="de-CH" b="1" dirty="0" smtClean="0"/>
              <a:t> time: </a:t>
            </a:r>
            <a:r>
              <a:rPr lang="en-US" dirty="0" smtClean="0"/>
              <a:t>Before </a:t>
            </a:r>
            <a:r>
              <a:rPr lang="en-US" dirty="0"/>
              <a:t>the dominant design has been established, we </a:t>
            </a:r>
            <a:r>
              <a:rPr lang="en-US" dirty="0" smtClean="0"/>
              <a:t>will find </a:t>
            </a:r>
            <a:r>
              <a:rPr lang="en-US" dirty="0"/>
              <a:t>a small publication bias. With </a:t>
            </a:r>
            <a:r>
              <a:rPr lang="en-US" dirty="0" smtClean="0"/>
              <a:t>a research </a:t>
            </a:r>
            <a:r>
              <a:rPr lang="en-US" dirty="0"/>
              <a:t>field moving toward a </a:t>
            </a:r>
            <a:r>
              <a:rPr lang="en-US" dirty="0" smtClean="0"/>
              <a:t>dominant design</a:t>
            </a:r>
            <a:r>
              <a:rPr lang="en-US" dirty="0"/>
              <a:t>, authors will find it more and more costly to produce </a:t>
            </a:r>
            <a:r>
              <a:rPr lang="en-US" dirty="0" smtClean="0"/>
              <a:t>unconventional views</a:t>
            </a:r>
            <a:r>
              <a:rPr lang="en-US" dirty="0"/>
              <a:t>, both because the conventional view gets more and </a:t>
            </a:r>
            <a:r>
              <a:rPr lang="en-US" dirty="0" smtClean="0"/>
              <a:t>more empirical </a:t>
            </a:r>
            <a:r>
              <a:rPr lang="en-US" dirty="0"/>
              <a:t>support, and because its theoretical underpinnings come to be </a:t>
            </a:r>
            <a:r>
              <a:rPr lang="en-US" dirty="0" smtClean="0"/>
              <a:t>more elaborated </a:t>
            </a:r>
            <a:r>
              <a:rPr lang="en-US" dirty="0"/>
              <a:t>upon. </a:t>
            </a:r>
            <a:endParaRPr lang="en-US" dirty="0" smtClean="0"/>
          </a:p>
          <a:p>
            <a:r>
              <a:rPr lang="de-CH" b="1" dirty="0"/>
              <a:t>J</a:t>
            </a:r>
            <a:r>
              <a:rPr lang="de-CH" b="1" dirty="0" smtClean="0"/>
              <a:t>ournal </a:t>
            </a:r>
            <a:r>
              <a:rPr lang="de-CH" b="1" dirty="0" err="1"/>
              <a:t>impact</a:t>
            </a:r>
            <a:r>
              <a:rPr lang="de-CH" b="1" dirty="0"/>
              <a:t> </a:t>
            </a:r>
            <a:r>
              <a:rPr lang="de-CH" b="1" dirty="0" err="1" smtClean="0"/>
              <a:t>factor</a:t>
            </a:r>
            <a:r>
              <a:rPr lang="de-CH" b="1" dirty="0" smtClean="0"/>
              <a:t>: </a:t>
            </a:r>
            <a:r>
              <a:rPr lang="en-US" dirty="0"/>
              <a:t>Positive and favorable results are read and cited to a </a:t>
            </a:r>
            <a:r>
              <a:rPr lang="en-US" dirty="0" smtClean="0"/>
              <a:t>greater extent</a:t>
            </a:r>
            <a:r>
              <a:rPr lang="en-US" dirty="0"/>
              <a:t>, which is important to maintain and extend the competitive </a:t>
            </a:r>
            <a:r>
              <a:rPr lang="en-US" dirty="0" smtClean="0"/>
              <a:t>advantage with </a:t>
            </a:r>
            <a:r>
              <a:rPr lang="en-US" dirty="0"/>
              <a:t>respect to the journal impact factor</a:t>
            </a:r>
            <a:r>
              <a:rPr lang="en-US" dirty="0" smtClean="0"/>
              <a:t>.</a:t>
            </a:r>
          </a:p>
          <a:p>
            <a:r>
              <a:rPr lang="de-CH" b="1" dirty="0" smtClean="0"/>
              <a:t>Working </a:t>
            </a:r>
            <a:r>
              <a:rPr lang="de-CH" b="1" dirty="0" err="1" smtClean="0"/>
              <a:t>papers</a:t>
            </a:r>
            <a:r>
              <a:rPr lang="de-CH" b="1" dirty="0" smtClean="0"/>
              <a:t>: </a:t>
            </a:r>
            <a:r>
              <a:rPr lang="en-US" dirty="0" smtClean="0"/>
              <a:t>The </a:t>
            </a:r>
            <a:r>
              <a:rPr lang="en-US" dirty="0"/>
              <a:t>results of accepted journal articles contain larger </a:t>
            </a:r>
            <a:r>
              <a:rPr lang="en-US" dirty="0" smtClean="0"/>
              <a:t>reporting bias </a:t>
            </a:r>
            <a:r>
              <a:rPr lang="en-US" dirty="0"/>
              <a:t>compared with the findings of published working papers.</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19</a:t>
            </a:fld>
            <a:endParaRPr lang="de-CH" dirty="0"/>
          </a:p>
        </p:txBody>
      </p:sp>
    </p:spTree>
    <p:extLst>
      <p:ext uri="{BB962C8B-B14F-4D97-AF65-F5344CB8AC3E}">
        <p14:creationId xmlns:p14="http://schemas.microsoft.com/office/powerpoint/2010/main" val="28410690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Characteristics </a:t>
            </a:r>
            <a:r>
              <a:rPr lang="en-US" dirty="0" smtClean="0"/>
              <a:t>moderators </a:t>
            </a:r>
            <a:r>
              <a:rPr lang="en-US" dirty="0"/>
              <a:t>of </a:t>
            </a:r>
            <a:r>
              <a:rPr lang="en-US" dirty="0" smtClean="0"/>
              <a:t>reporting biases (II)</a:t>
            </a:r>
            <a:endParaRPr lang="de-CH" dirty="0"/>
          </a:p>
        </p:txBody>
      </p:sp>
      <p:sp>
        <p:nvSpPr>
          <p:cNvPr id="3" name="Inhaltsplatzhalter 2"/>
          <p:cNvSpPr>
            <a:spLocks noGrp="1"/>
          </p:cNvSpPr>
          <p:nvPr>
            <p:ph idx="1"/>
          </p:nvPr>
        </p:nvSpPr>
        <p:spPr>
          <a:xfrm>
            <a:off x="900114" y="1672134"/>
            <a:ext cx="7343775" cy="2915840"/>
          </a:xfrm>
        </p:spPr>
        <p:txBody>
          <a:bodyPr/>
          <a:lstStyle/>
          <a:p>
            <a:r>
              <a:rPr lang="de-CH" b="1" dirty="0" smtClean="0"/>
              <a:t>Studies </a:t>
            </a:r>
            <a:r>
              <a:rPr lang="de-CH" b="1" dirty="0" err="1"/>
              <a:t>testing</a:t>
            </a:r>
            <a:r>
              <a:rPr lang="de-CH" b="1" dirty="0"/>
              <a:t> </a:t>
            </a:r>
            <a:r>
              <a:rPr lang="de-CH" b="1" dirty="0" err="1"/>
              <a:t>no</a:t>
            </a:r>
            <a:r>
              <a:rPr lang="de-CH" b="1" dirty="0"/>
              <a:t> </a:t>
            </a:r>
            <a:r>
              <a:rPr lang="de-CH" b="1" dirty="0" err="1" smtClean="0"/>
              <a:t>theory</a:t>
            </a:r>
            <a:r>
              <a:rPr lang="de-CH" b="1" dirty="0" smtClean="0"/>
              <a:t>: </a:t>
            </a:r>
            <a:r>
              <a:rPr lang="en-US" dirty="0"/>
              <a:t>Often, researchers follow the conventional </a:t>
            </a:r>
            <a:r>
              <a:rPr lang="en-US" dirty="0" smtClean="0"/>
              <a:t>view because research is perceived as “marketable.” In this case, the underlying </a:t>
            </a:r>
            <a:r>
              <a:rPr lang="en-US" dirty="0"/>
              <a:t>research motivation may not be the investigation of a </a:t>
            </a:r>
            <a:r>
              <a:rPr lang="en-US" dirty="0" smtClean="0"/>
              <a:t>specific theory</a:t>
            </a:r>
            <a:r>
              <a:rPr lang="en-US" dirty="0"/>
              <a:t>, but more the desire to participate in the new research trend. </a:t>
            </a:r>
            <a:r>
              <a:rPr lang="en-US" dirty="0" smtClean="0"/>
              <a:t>Typically, the </a:t>
            </a:r>
            <a:r>
              <a:rPr lang="en-US" dirty="0"/>
              <a:t>research field in these papers is poorly understood. Authors may, </a:t>
            </a:r>
            <a:r>
              <a:rPr lang="en-US" dirty="0" smtClean="0"/>
              <a:t>therefore, decide </a:t>
            </a:r>
            <a:r>
              <a:rPr lang="en-US" dirty="0"/>
              <a:t>to publish their results only if they support the </a:t>
            </a:r>
            <a:r>
              <a:rPr lang="en-US" dirty="0" smtClean="0"/>
              <a:t>conventional </a:t>
            </a:r>
            <a:r>
              <a:rPr lang="de-CH" dirty="0" err="1" smtClean="0"/>
              <a:t>view</a:t>
            </a:r>
            <a:r>
              <a:rPr lang="de-CH" dirty="0"/>
              <a:t>.</a:t>
            </a:r>
            <a:r>
              <a:rPr lang="de-CH" dirty="0" smtClean="0"/>
              <a:t> </a:t>
            </a:r>
          </a:p>
          <a:p>
            <a:r>
              <a:rPr lang="de-CH" b="1" dirty="0"/>
              <a:t>H0 </a:t>
            </a:r>
            <a:r>
              <a:rPr lang="de-CH" b="1" dirty="0" err="1" smtClean="0"/>
              <a:t>hypothesis</a:t>
            </a:r>
            <a:r>
              <a:rPr lang="de-CH" b="1" dirty="0" smtClean="0"/>
              <a:t>: </a:t>
            </a:r>
            <a:r>
              <a:rPr lang="en-US" dirty="0"/>
              <a:t>Most studies </a:t>
            </a:r>
            <a:r>
              <a:rPr lang="en-US" dirty="0" smtClean="0"/>
              <a:t>deduce </a:t>
            </a:r>
            <a:r>
              <a:rPr lang="en-US" dirty="0"/>
              <a:t>directed </a:t>
            </a:r>
            <a:r>
              <a:rPr lang="en-US" dirty="0" smtClean="0"/>
              <a:t>hypotheses. </a:t>
            </a:r>
            <a:r>
              <a:rPr lang="en-US" dirty="0"/>
              <a:t>However, directed hypotheses are vulnerable because </a:t>
            </a:r>
            <a:r>
              <a:rPr lang="en-US" dirty="0" smtClean="0"/>
              <a:t>arguments both </a:t>
            </a:r>
            <a:r>
              <a:rPr lang="en-US" dirty="0"/>
              <a:t>for and against </a:t>
            </a:r>
            <a:r>
              <a:rPr lang="en-US" dirty="0" smtClean="0"/>
              <a:t>a link </a:t>
            </a:r>
            <a:r>
              <a:rPr lang="en-US" dirty="0"/>
              <a:t>can be made. It may, </a:t>
            </a:r>
            <a:r>
              <a:rPr lang="en-US" dirty="0" smtClean="0"/>
              <a:t>therefore, be </a:t>
            </a:r>
            <a:r>
              <a:rPr lang="en-US" dirty="0"/>
              <a:t>advisable to formulate a H0 hypothesis, to test whether no link </a:t>
            </a:r>
            <a:r>
              <a:rPr lang="en-US" dirty="0" smtClean="0"/>
              <a:t>can </a:t>
            </a:r>
            <a:r>
              <a:rPr lang="en-US" dirty="0"/>
              <a:t>be determined.</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20</a:t>
            </a:fld>
            <a:endParaRPr lang="de-CH" dirty="0"/>
          </a:p>
        </p:txBody>
      </p:sp>
    </p:spTree>
    <p:extLst>
      <p:ext uri="{BB962C8B-B14F-4D97-AF65-F5344CB8AC3E}">
        <p14:creationId xmlns:p14="http://schemas.microsoft.com/office/powerpoint/2010/main" val="12210563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Characteristics moderators of reporting biases (</a:t>
            </a:r>
            <a:r>
              <a:rPr lang="en-US" dirty="0" smtClean="0"/>
              <a:t>III)</a:t>
            </a:r>
            <a:endParaRPr lang="de-CH" dirty="0"/>
          </a:p>
        </p:txBody>
      </p:sp>
      <p:sp>
        <p:nvSpPr>
          <p:cNvPr id="3" name="Inhaltsplatzhalter 2"/>
          <p:cNvSpPr>
            <a:spLocks noGrp="1"/>
          </p:cNvSpPr>
          <p:nvPr>
            <p:ph idx="1"/>
          </p:nvPr>
        </p:nvSpPr>
        <p:spPr/>
        <p:txBody>
          <a:bodyPr/>
          <a:lstStyle/>
          <a:p>
            <a:r>
              <a:rPr lang="de-CH" b="1" dirty="0"/>
              <a:t>P</a:t>
            </a:r>
            <a:r>
              <a:rPr lang="de-CH" b="1" dirty="0" smtClean="0"/>
              <a:t>ros </a:t>
            </a:r>
            <a:r>
              <a:rPr lang="de-CH" b="1" dirty="0" err="1"/>
              <a:t>and</a:t>
            </a:r>
            <a:r>
              <a:rPr lang="de-CH" b="1" dirty="0"/>
              <a:t> </a:t>
            </a:r>
            <a:r>
              <a:rPr lang="de-CH" b="1" dirty="0" err="1" smtClean="0"/>
              <a:t>cons</a:t>
            </a:r>
            <a:r>
              <a:rPr lang="de-CH" b="1" dirty="0" smtClean="0"/>
              <a:t> </a:t>
            </a:r>
            <a:r>
              <a:rPr lang="de-CH" b="1" dirty="0" err="1" smtClean="0"/>
              <a:t>discussion</a:t>
            </a:r>
            <a:r>
              <a:rPr lang="de-CH" b="1" dirty="0" smtClean="0"/>
              <a:t>: </a:t>
            </a:r>
            <a:r>
              <a:rPr lang="en-US" dirty="0"/>
              <a:t>Reporting bias should more often occur when the discourse in </a:t>
            </a:r>
            <a:r>
              <a:rPr lang="en-US" dirty="0" smtClean="0"/>
              <a:t>professional networks </a:t>
            </a:r>
            <a:r>
              <a:rPr lang="en-US" dirty="0"/>
              <a:t>does not lend itself to conjecture and refutation but, </a:t>
            </a:r>
            <a:r>
              <a:rPr lang="en-US" dirty="0" smtClean="0"/>
              <a:t>instead, uncritically </a:t>
            </a:r>
            <a:r>
              <a:rPr lang="en-US" dirty="0"/>
              <a:t>supports the conventional view</a:t>
            </a:r>
            <a:r>
              <a:rPr lang="en-US" dirty="0" smtClean="0"/>
              <a:t>.</a:t>
            </a:r>
          </a:p>
          <a:p>
            <a:r>
              <a:rPr lang="de-CH" b="1" dirty="0" err="1" smtClean="0"/>
              <a:t>Methodological</a:t>
            </a:r>
            <a:r>
              <a:rPr lang="de-CH" b="1" dirty="0" smtClean="0"/>
              <a:t> </a:t>
            </a:r>
            <a:r>
              <a:rPr lang="de-CH" b="1" dirty="0" err="1" smtClean="0"/>
              <a:t>problems</a:t>
            </a:r>
            <a:r>
              <a:rPr lang="de-CH" b="1" dirty="0" smtClean="0"/>
              <a:t>: </a:t>
            </a:r>
            <a:r>
              <a:rPr lang="de-CH" dirty="0" err="1" smtClean="0"/>
              <a:t>Social</a:t>
            </a:r>
            <a:r>
              <a:rPr lang="de-CH" dirty="0" smtClean="0"/>
              <a:t> </a:t>
            </a:r>
            <a:r>
              <a:rPr lang="de-CH" dirty="0" err="1" smtClean="0"/>
              <a:t>science</a:t>
            </a:r>
            <a:r>
              <a:rPr lang="de-CH" dirty="0" smtClean="0"/>
              <a:t> </a:t>
            </a:r>
            <a:r>
              <a:rPr lang="de-CH" dirty="0" err="1" smtClean="0"/>
              <a:t>research</a:t>
            </a:r>
            <a:r>
              <a:rPr lang="de-CH" dirty="0" smtClean="0"/>
              <a:t> </a:t>
            </a:r>
            <a:r>
              <a:rPr lang="en-US" dirty="0"/>
              <a:t>is characterized by methodological </a:t>
            </a:r>
            <a:r>
              <a:rPr lang="en-US" dirty="0" smtClean="0"/>
              <a:t>problems </a:t>
            </a:r>
            <a:r>
              <a:rPr lang="de-CH" dirty="0" smtClean="0"/>
              <a:t>such </a:t>
            </a:r>
            <a:r>
              <a:rPr lang="de-CH" dirty="0" err="1" smtClean="0"/>
              <a:t>as</a:t>
            </a:r>
            <a:r>
              <a:rPr lang="de-CH" dirty="0" smtClean="0"/>
              <a:t> </a:t>
            </a:r>
            <a:r>
              <a:rPr lang="de-CH" dirty="0"/>
              <a:t> </a:t>
            </a:r>
            <a:r>
              <a:rPr lang="en-US" dirty="0" smtClean="0"/>
              <a:t>performance </a:t>
            </a:r>
            <a:r>
              <a:rPr lang="en-US" dirty="0"/>
              <a:t>instability, retrospective recall, or simple models of </a:t>
            </a:r>
            <a:r>
              <a:rPr lang="en-US" dirty="0" smtClean="0"/>
              <a:t>complex </a:t>
            </a:r>
            <a:r>
              <a:rPr lang="de-CH" dirty="0" err="1" smtClean="0"/>
              <a:t>worlds</a:t>
            </a:r>
            <a:r>
              <a:rPr lang="de-CH" dirty="0" smtClean="0"/>
              <a:t>. </a:t>
            </a:r>
            <a:r>
              <a:rPr lang="de-CH" dirty="0"/>
              <a:t>In </a:t>
            </a:r>
            <a:r>
              <a:rPr lang="de-CH" dirty="0" err="1"/>
              <a:t>particular</a:t>
            </a:r>
            <a:r>
              <a:rPr lang="de-CH" dirty="0"/>
              <a:t>, </a:t>
            </a:r>
            <a:r>
              <a:rPr lang="de-CH" dirty="0" err="1" smtClean="0"/>
              <a:t>studies</a:t>
            </a:r>
            <a:r>
              <a:rPr lang="de-CH" dirty="0"/>
              <a:t> </a:t>
            </a:r>
            <a:r>
              <a:rPr lang="en-US" dirty="0" smtClean="0"/>
              <a:t>that </a:t>
            </a:r>
            <a:r>
              <a:rPr lang="en-US" dirty="0"/>
              <a:t>face many of these problems will be modeled after the </a:t>
            </a:r>
            <a:r>
              <a:rPr lang="en-US" dirty="0" smtClean="0"/>
              <a:t>conventional view. By </a:t>
            </a:r>
            <a:r>
              <a:rPr lang="en-US" dirty="0"/>
              <a:t>definition, the </a:t>
            </a:r>
            <a:r>
              <a:rPr lang="en-US" dirty="0" smtClean="0"/>
              <a:t>presentation of </a:t>
            </a:r>
            <a:r>
              <a:rPr lang="en-US" dirty="0"/>
              <a:t>contradictory evidence requires a deep theoretical and </a:t>
            </a:r>
            <a:r>
              <a:rPr lang="en-US" dirty="0" smtClean="0"/>
              <a:t>methodological</a:t>
            </a:r>
            <a:r>
              <a:rPr lang="en-US" dirty="0"/>
              <a:t> </a:t>
            </a:r>
            <a:r>
              <a:rPr lang="en-US" dirty="0" smtClean="0"/>
              <a:t>understanding </a:t>
            </a:r>
            <a:r>
              <a:rPr lang="en-US" dirty="0"/>
              <a:t>of the investigated research field.</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21</a:t>
            </a:fld>
            <a:endParaRPr lang="de-CH" dirty="0"/>
          </a:p>
        </p:txBody>
      </p:sp>
    </p:spTree>
    <p:extLst>
      <p:ext uri="{BB962C8B-B14F-4D97-AF65-F5344CB8AC3E}">
        <p14:creationId xmlns:p14="http://schemas.microsoft.com/office/powerpoint/2010/main" val="31105893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900114" y="951310"/>
            <a:ext cx="7416302" cy="377428"/>
          </a:xfrm>
        </p:spPr>
        <p:txBody>
          <a:bodyPr/>
          <a:lstStyle/>
          <a:p>
            <a:r>
              <a:rPr lang="en-US" dirty="0"/>
              <a:t>Characteristics moderators of reporting biases </a:t>
            </a:r>
            <a:r>
              <a:rPr lang="en-US" dirty="0" smtClean="0"/>
              <a:t>(</a:t>
            </a:r>
            <a:r>
              <a:rPr lang="en-US" dirty="0"/>
              <a:t>V</a:t>
            </a:r>
            <a:r>
              <a:rPr lang="en-US" dirty="0" smtClean="0"/>
              <a:t>I)</a:t>
            </a:r>
            <a:endParaRPr lang="de-CH" dirty="0"/>
          </a:p>
        </p:txBody>
      </p:sp>
      <p:sp>
        <p:nvSpPr>
          <p:cNvPr id="3" name="Inhaltsplatzhalter 2"/>
          <p:cNvSpPr>
            <a:spLocks noGrp="1"/>
          </p:cNvSpPr>
          <p:nvPr>
            <p:ph idx="1"/>
          </p:nvPr>
        </p:nvSpPr>
        <p:spPr/>
        <p:txBody>
          <a:bodyPr/>
          <a:lstStyle/>
          <a:p>
            <a:r>
              <a:rPr lang="de-CH" b="1" dirty="0" smtClean="0"/>
              <a:t>Multivariate </a:t>
            </a:r>
            <a:r>
              <a:rPr lang="de-CH" b="1" dirty="0" err="1"/>
              <a:t>empirical</a:t>
            </a:r>
            <a:r>
              <a:rPr lang="de-CH" b="1" dirty="0"/>
              <a:t> </a:t>
            </a:r>
            <a:r>
              <a:rPr lang="de-CH" b="1" dirty="0" err="1" smtClean="0"/>
              <a:t>methods</a:t>
            </a:r>
            <a:r>
              <a:rPr lang="de-CH" b="1" dirty="0" smtClean="0"/>
              <a:t>: </a:t>
            </a:r>
            <a:r>
              <a:rPr lang="en-US" dirty="0"/>
              <a:t>Reporting bias results from authors finding it difficult to publish </a:t>
            </a:r>
            <a:r>
              <a:rPr lang="en-US" dirty="0" smtClean="0"/>
              <a:t>non-significant positive results. </a:t>
            </a:r>
            <a:r>
              <a:rPr lang="en-US" dirty="0"/>
              <a:t>Authors may </a:t>
            </a:r>
            <a:r>
              <a:rPr lang="en-US" dirty="0" smtClean="0"/>
              <a:t>be encouraged </a:t>
            </a:r>
            <a:r>
              <a:rPr lang="en-US" dirty="0"/>
              <a:t>to locate this effect by, for example, changing the sample </a:t>
            </a:r>
            <a:r>
              <a:rPr lang="en-US" dirty="0" smtClean="0"/>
              <a:t>size, changing </a:t>
            </a:r>
            <a:r>
              <a:rPr lang="en-US" dirty="0"/>
              <a:t>the empirical methodology, altering the set of control variables, </a:t>
            </a:r>
            <a:r>
              <a:rPr lang="en-US" dirty="0" smtClean="0"/>
              <a:t>or using </a:t>
            </a:r>
            <a:r>
              <a:rPr lang="en-US" dirty="0"/>
              <a:t>a different estimation technique. The incentive to apply “</a:t>
            </a:r>
            <a:r>
              <a:rPr lang="en-US" dirty="0" smtClean="0"/>
              <a:t>permitted” manipulations </a:t>
            </a:r>
            <a:r>
              <a:rPr lang="en-US" dirty="0"/>
              <a:t>is particularly strong for authors using multivariate </a:t>
            </a:r>
            <a:r>
              <a:rPr lang="en-US" dirty="0" smtClean="0"/>
              <a:t>empirical methods</a:t>
            </a:r>
            <a:r>
              <a:rPr lang="en-US" dirty="0"/>
              <a:t>, such as regression analysis. They can alter the set of control </a:t>
            </a:r>
            <a:r>
              <a:rPr lang="en-US" dirty="0" smtClean="0"/>
              <a:t>variables or </a:t>
            </a:r>
            <a:r>
              <a:rPr lang="en-US" dirty="0"/>
              <a:t>use a different estimation technique to obtain the desired result.</a:t>
            </a:r>
            <a:endParaRPr lang="de-CH" dirty="0"/>
          </a:p>
        </p:txBody>
      </p:sp>
      <p:sp>
        <p:nvSpPr>
          <p:cNvPr id="4" name="Datumsplatzhalter 3"/>
          <p:cNvSpPr>
            <a:spLocks noGrp="1"/>
          </p:cNvSpPr>
          <p:nvPr>
            <p:ph type="dt" sz="half" idx="10"/>
          </p:nvPr>
        </p:nvSpPr>
        <p:spPr/>
        <p:txBody>
          <a:bodyPr/>
          <a:lstStyle/>
          <a:p>
            <a:fld id="{55DEFF01-2D73-4C5E-9EFF-7CA45581418C}" type="datetime1">
              <a:rPr lang="de-CH" smtClean="0"/>
              <a:pPr/>
              <a:t>10.09.2015</a:t>
            </a:fld>
            <a:endParaRPr lang="de-CH" dirty="0"/>
          </a:p>
        </p:txBody>
      </p:sp>
      <p:sp>
        <p:nvSpPr>
          <p:cNvPr id="5" name="Foliennummernplatzhalter 4"/>
          <p:cNvSpPr>
            <a:spLocks noGrp="1"/>
          </p:cNvSpPr>
          <p:nvPr>
            <p:ph type="sldNum" sz="quarter" idx="12"/>
          </p:nvPr>
        </p:nvSpPr>
        <p:spPr/>
        <p:txBody>
          <a:bodyPr/>
          <a:lstStyle/>
          <a:p>
            <a:r>
              <a:rPr lang="de-CH" smtClean="0"/>
              <a:t>Seite </a:t>
            </a:r>
            <a:fld id="{298DDF54-96CA-4706-AFE9-54D71408EAE8}" type="slidenum">
              <a:rPr lang="de-CH" smtClean="0"/>
              <a:pPr/>
              <a:t>22</a:t>
            </a:fld>
            <a:endParaRPr lang="de-CH" dirty="0"/>
          </a:p>
        </p:txBody>
      </p:sp>
    </p:spTree>
    <p:extLst>
      <p:ext uri="{BB962C8B-B14F-4D97-AF65-F5344CB8AC3E}">
        <p14:creationId xmlns:p14="http://schemas.microsoft.com/office/powerpoint/2010/main" val="38459501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Therefore</a:t>
            </a:r>
            <a:r>
              <a:rPr lang="de-DE" dirty="0" smtClean="0"/>
              <a:t>…</a:t>
            </a:r>
            <a:endParaRPr lang="de-CH" dirty="0"/>
          </a:p>
        </p:txBody>
      </p:sp>
      <p:sp>
        <p:nvSpPr>
          <p:cNvPr id="3" name="Inhaltsplatzhalter 2"/>
          <p:cNvSpPr txBox="1">
            <a:spLocks/>
          </p:cNvSpPr>
          <p:nvPr/>
        </p:nvSpPr>
        <p:spPr>
          <a:xfrm>
            <a:off x="2339752" y="1707654"/>
            <a:ext cx="4536504" cy="29158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algn="l" rtl="0" eaLnBrk="1" fontAlgn="base" hangingPunct="1">
              <a:spcBef>
                <a:spcPct val="40000"/>
              </a:spcBef>
              <a:spcAft>
                <a:spcPct val="0"/>
              </a:spcAft>
              <a:buFont typeface="Arial" charset="0"/>
              <a:defRPr sz="1700">
                <a:solidFill>
                  <a:schemeClr val="tx1"/>
                </a:solidFill>
                <a:latin typeface="+mn-lt"/>
                <a:ea typeface="+mn-ea"/>
                <a:cs typeface="+mn-cs"/>
              </a:defRPr>
            </a:lvl1pPr>
            <a:lvl2pPr marL="346075" indent="-344488" algn="l" rtl="0" eaLnBrk="1" fontAlgn="base" hangingPunct="1">
              <a:spcBef>
                <a:spcPct val="40000"/>
              </a:spcBef>
              <a:spcAft>
                <a:spcPct val="0"/>
              </a:spcAft>
              <a:buFont typeface="Arial" charset="0"/>
              <a:buChar char="–"/>
              <a:defRPr sz="1700">
                <a:solidFill>
                  <a:schemeClr val="tx1"/>
                </a:solidFill>
                <a:latin typeface="+mn-lt"/>
                <a:cs typeface="+mn-cs"/>
              </a:defRPr>
            </a:lvl2pPr>
            <a:lvl3pPr marL="714375" indent="-366713" algn="l" rtl="0" eaLnBrk="1" fontAlgn="base" hangingPunct="1">
              <a:spcBef>
                <a:spcPct val="40000"/>
              </a:spcBef>
              <a:spcAft>
                <a:spcPct val="0"/>
              </a:spcAft>
              <a:buFont typeface="Arial" charset="0"/>
              <a:buChar char="–"/>
              <a:defRPr sz="1700">
                <a:solidFill>
                  <a:schemeClr val="tx1"/>
                </a:solidFill>
                <a:latin typeface="+mn-lt"/>
                <a:cs typeface="+mn-cs"/>
              </a:defRPr>
            </a:lvl3pPr>
            <a:lvl4pPr marL="1069975" indent="-354013" algn="l" rtl="0" eaLnBrk="1" fontAlgn="base" hangingPunct="1">
              <a:spcBef>
                <a:spcPct val="40000"/>
              </a:spcBef>
              <a:spcAft>
                <a:spcPct val="0"/>
              </a:spcAft>
              <a:buFont typeface="Arial" charset="0"/>
              <a:buChar char="–"/>
              <a:defRPr sz="1700">
                <a:solidFill>
                  <a:schemeClr val="tx1"/>
                </a:solidFill>
                <a:latin typeface="+mn-lt"/>
                <a:cs typeface="+mn-cs"/>
              </a:defRPr>
            </a:lvl4pPr>
            <a:lvl5pPr marL="1438275" indent="-366713" algn="l" rtl="0" eaLnBrk="1" fontAlgn="base" hangingPunct="1">
              <a:spcBef>
                <a:spcPct val="40000"/>
              </a:spcBef>
              <a:spcAft>
                <a:spcPct val="0"/>
              </a:spcAft>
              <a:buFont typeface="Arial" charset="0"/>
              <a:buChar char="–"/>
              <a:defRPr sz="1700">
                <a:solidFill>
                  <a:schemeClr val="tx1"/>
                </a:solidFill>
                <a:latin typeface="+mn-lt"/>
                <a:cs typeface="+mn-cs"/>
              </a:defRPr>
            </a:lvl5pPr>
            <a:lvl6pPr marL="1895475" indent="-366713" algn="l" rtl="0" eaLnBrk="1" fontAlgn="base" hangingPunct="1">
              <a:spcBef>
                <a:spcPct val="40000"/>
              </a:spcBef>
              <a:spcAft>
                <a:spcPct val="0"/>
              </a:spcAft>
              <a:buFont typeface="Arial" charset="0"/>
              <a:buChar char="–"/>
              <a:defRPr sz="1700">
                <a:solidFill>
                  <a:schemeClr val="tx1"/>
                </a:solidFill>
                <a:latin typeface="+mn-lt"/>
                <a:cs typeface="+mn-cs"/>
              </a:defRPr>
            </a:lvl6pPr>
            <a:lvl7pPr marL="2352675" indent="-366713" algn="l" rtl="0" eaLnBrk="1" fontAlgn="base" hangingPunct="1">
              <a:spcBef>
                <a:spcPct val="40000"/>
              </a:spcBef>
              <a:spcAft>
                <a:spcPct val="0"/>
              </a:spcAft>
              <a:buFont typeface="Arial" charset="0"/>
              <a:buChar char="–"/>
              <a:defRPr sz="1700">
                <a:solidFill>
                  <a:schemeClr val="tx1"/>
                </a:solidFill>
                <a:latin typeface="+mn-lt"/>
                <a:cs typeface="+mn-cs"/>
              </a:defRPr>
            </a:lvl7pPr>
            <a:lvl8pPr marL="2809875" indent="-366713" algn="l" rtl="0" eaLnBrk="1" fontAlgn="base" hangingPunct="1">
              <a:spcBef>
                <a:spcPct val="40000"/>
              </a:spcBef>
              <a:spcAft>
                <a:spcPct val="0"/>
              </a:spcAft>
              <a:buFont typeface="Arial" charset="0"/>
              <a:buChar char="–"/>
              <a:defRPr sz="1700">
                <a:solidFill>
                  <a:schemeClr val="tx1"/>
                </a:solidFill>
                <a:latin typeface="+mn-lt"/>
                <a:cs typeface="+mn-cs"/>
              </a:defRPr>
            </a:lvl8pPr>
            <a:lvl9pPr marL="3267075" indent="-366713" algn="l" rtl="0" eaLnBrk="1" fontAlgn="base" hangingPunct="1">
              <a:spcBef>
                <a:spcPct val="40000"/>
              </a:spcBef>
              <a:spcAft>
                <a:spcPct val="0"/>
              </a:spcAft>
              <a:buFont typeface="Arial" charset="0"/>
              <a:buChar char="–"/>
              <a:defRPr sz="1700">
                <a:solidFill>
                  <a:schemeClr val="tx1"/>
                </a:solidFill>
                <a:latin typeface="+mn-lt"/>
                <a:cs typeface="+mn-cs"/>
              </a:defRPr>
            </a:lvl9pPr>
          </a:lstStyle>
          <a:p>
            <a:pPr algn="ctr"/>
            <a:r>
              <a:rPr lang="de-DE" sz="3000" b="1" kern="0" dirty="0" smtClean="0">
                <a:solidFill>
                  <a:schemeClr val="bg1"/>
                </a:solidFill>
              </a:rPr>
              <a:t>KEEP</a:t>
            </a:r>
          </a:p>
          <a:p>
            <a:pPr algn="ctr"/>
            <a:r>
              <a:rPr lang="de-DE" sz="3000" b="1" kern="0" dirty="0" smtClean="0">
                <a:solidFill>
                  <a:schemeClr val="bg1"/>
                </a:solidFill>
              </a:rPr>
              <a:t>CALM</a:t>
            </a:r>
          </a:p>
          <a:p>
            <a:pPr algn="ctr"/>
            <a:r>
              <a:rPr lang="de-DE" b="1" kern="0" dirty="0" smtClean="0">
                <a:solidFill>
                  <a:schemeClr val="bg1"/>
                </a:solidFill>
              </a:rPr>
              <a:t>AND TEST YOUR RESEARCH AREA FOR</a:t>
            </a:r>
          </a:p>
          <a:p>
            <a:pPr algn="ctr"/>
            <a:r>
              <a:rPr lang="de-DE" sz="3000" b="1" kern="0" dirty="0" smtClean="0">
                <a:solidFill>
                  <a:schemeClr val="bg1"/>
                </a:solidFill>
              </a:rPr>
              <a:t>REPORTING</a:t>
            </a:r>
            <a:br>
              <a:rPr lang="de-DE" sz="3000" b="1" kern="0" dirty="0" smtClean="0">
                <a:solidFill>
                  <a:schemeClr val="bg1"/>
                </a:solidFill>
              </a:rPr>
            </a:br>
            <a:r>
              <a:rPr lang="de-DE" sz="3000" b="1" kern="0" dirty="0" smtClean="0">
                <a:solidFill>
                  <a:schemeClr val="bg1"/>
                </a:solidFill>
              </a:rPr>
              <a:t>BIAS</a:t>
            </a:r>
            <a:endParaRPr lang="de-DE" sz="3000" b="1" kern="0" dirty="0">
              <a:solidFill>
                <a:schemeClr val="bg1"/>
              </a:solidFill>
            </a:endParaRPr>
          </a:p>
          <a:p>
            <a:pPr algn="ctr"/>
            <a:endParaRPr lang="de-CH" b="1" kern="0" dirty="0">
              <a:solidFill>
                <a:schemeClr val="bg1"/>
              </a:solidFill>
            </a:endParaRPr>
          </a:p>
        </p:txBody>
      </p:sp>
    </p:spTree>
    <p:extLst>
      <p:ext uri="{BB962C8B-B14F-4D97-AF65-F5344CB8AC3E}">
        <p14:creationId xmlns:p14="http://schemas.microsoft.com/office/powerpoint/2010/main" val="3817652225"/>
      </p:ext>
    </p:extLst>
  </p:cSld>
  <p:clrMapOvr>
    <a:masterClrMapping/>
  </p:clrMapOvr>
  <p:timing>
    <p:tnLst>
      <p:par>
        <p:cTn id="1" dur="indefinite" restart="never" nodeType="tmRoot"/>
      </p:par>
    </p:tnLst>
  </p:timing>
</p:sld>
</file>

<file path=ppt/theme/theme1.xml><?xml version="1.0" encoding="utf-8"?>
<a:theme xmlns:a="http://schemas.openxmlformats.org/drawingml/2006/main" name="uzh_praesentation_d">
  <a:themeElements>
    <a:clrScheme name="UZH">
      <a:dk1>
        <a:srgbClr val="000000"/>
      </a:dk1>
      <a:lt1>
        <a:srgbClr val="FFFFFF"/>
      </a:lt1>
      <a:dk2>
        <a:srgbClr val="0028A5"/>
      </a:dk2>
      <a:lt2>
        <a:srgbClr val="808080"/>
      </a:lt2>
      <a:accent1>
        <a:srgbClr val="0028A5"/>
      </a:accent1>
      <a:accent2>
        <a:srgbClr val="667EC9"/>
      </a:accent2>
      <a:accent3>
        <a:srgbClr val="A3B5C5"/>
      </a:accent3>
      <a:accent4>
        <a:srgbClr val="C8CED4"/>
      </a:accent4>
      <a:accent5>
        <a:srgbClr val="DC6027"/>
      </a:accent5>
      <a:accent6>
        <a:srgbClr val="EAA07D"/>
      </a:accent6>
      <a:hlink>
        <a:srgbClr val="DC6027"/>
      </a:hlink>
      <a:folHlink>
        <a:srgbClr val="000000"/>
      </a:folHlink>
    </a:clrScheme>
    <a:fontScheme name="Standarddesign">
      <a:majorFont>
        <a:latin typeface="Arial"/>
        <a:ea typeface=""/>
        <a:cs typeface="Arial"/>
      </a:majorFont>
      <a:minorFont>
        <a:latin typeface="Arial"/>
        <a:ea typeface=""/>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de-CH" sz="17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de-CH" sz="17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Uni ZH">
        <a:dk1>
          <a:srgbClr val="000000"/>
        </a:dk1>
        <a:lt1>
          <a:srgbClr val="FFFFFF"/>
        </a:lt1>
        <a:dk2>
          <a:srgbClr val="0028A5"/>
        </a:dk2>
        <a:lt2>
          <a:srgbClr val="808080"/>
        </a:lt2>
        <a:accent1>
          <a:srgbClr val="0028A5"/>
        </a:accent1>
        <a:accent2>
          <a:srgbClr val="A3ADB7"/>
        </a:accent2>
        <a:accent3>
          <a:srgbClr val="DC6027"/>
        </a:accent3>
        <a:accent4>
          <a:srgbClr val="000000"/>
        </a:accent4>
        <a:accent5>
          <a:srgbClr val="AAACCF"/>
        </a:accent5>
        <a:accent6>
          <a:srgbClr val="939CA6"/>
        </a:accent6>
        <a:hlink>
          <a:srgbClr val="DC6027"/>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uzh_praesentation_d</Template>
  <TotalTime>0</TotalTime>
  <Words>1604</Words>
  <Application>Microsoft Office PowerPoint</Application>
  <PresentationFormat>Bildschirmpräsentation (16:9)</PresentationFormat>
  <Paragraphs>109</Paragraphs>
  <Slides>23</Slides>
  <Notes>0</Notes>
  <HiddenSlides>0</HiddenSlides>
  <MMClips>0</MMClips>
  <ScaleCrop>false</ScaleCrop>
  <HeadingPairs>
    <vt:vector size="4" baseType="variant">
      <vt:variant>
        <vt:lpstr>Design</vt:lpstr>
      </vt:variant>
      <vt:variant>
        <vt:i4>1</vt:i4>
      </vt:variant>
      <vt:variant>
        <vt:lpstr>Folientitel</vt:lpstr>
      </vt:variant>
      <vt:variant>
        <vt:i4>23</vt:i4>
      </vt:variant>
    </vt:vector>
  </HeadingPairs>
  <TitlesOfParts>
    <vt:vector size="24" baseType="lpstr">
      <vt:lpstr>uzh_praesentation_d</vt:lpstr>
      <vt:lpstr>Sources of  Reporting Bias  in Social Sciences</vt:lpstr>
      <vt:lpstr>Reporting bias in social science</vt:lpstr>
      <vt:lpstr>Outline</vt:lpstr>
      <vt:lpstr>The example of Corporate Social Responsibility</vt:lpstr>
      <vt:lpstr>Reporting biases in management research</vt:lpstr>
      <vt:lpstr>Why so many rejections?</vt:lpstr>
      <vt:lpstr>Method</vt:lpstr>
      <vt:lpstr>Key-Findings (I)</vt:lpstr>
      <vt:lpstr>Key-Findings (II)</vt:lpstr>
      <vt:lpstr>Key-Findings (III)</vt:lpstr>
      <vt:lpstr>Key-Findings (IV)</vt:lpstr>
      <vt:lpstr>How did the public react?</vt:lpstr>
      <vt:lpstr>Outline</vt:lpstr>
      <vt:lpstr>Former evidence on reporting bias</vt:lpstr>
      <vt:lpstr>Source 1: Mainstream theory</vt:lpstr>
      <vt:lpstr>Source 2: Dominant institutional logic</vt:lpstr>
      <vt:lpstr>Source 3: Reviewers and editors</vt:lpstr>
      <vt:lpstr>Interplay of the three sources</vt:lpstr>
      <vt:lpstr>Characteristics moderators of reporting biases (I)</vt:lpstr>
      <vt:lpstr>Characteristics moderators of reporting biases (II)</vt:lpstr>
      <vt:lpstr>Characteristics moderators of reporting biases (III)</vt:lpstr>
      <vt:lpstr>Characteristics moderators of reporting biases (VI)</vt:lpstr>
      <vt:lpstr>Therefore…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Hier steht der Titel der Präsentation</dc:title>
  <dc:creator>rost</dc:creator>
  <dc:description>Vorlage uzh_praesentation_d MSO2007 v1 7.5.2010</dc:description>
  <cp:lastModifiedBy>Katja Rost</cp:lastModifiedBy>
  <cp:revision>285</cp:revision>
  <dcterms:created xsi:type="dcterms:W3CDTF">2015-03-09T12:00:46Z</dcterms:created>
  <dcterms:modified xsi:type="dcterms:W3CDTF">2015-09-10T11:12:30Z</dcterms:modified>
</cp:coreProperties>
</file>