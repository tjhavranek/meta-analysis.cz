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vml" ContentType="application/vnd.openxmlformats-officedocument.vmlDrawing"/>
  <Default Extension="docx" ContentType="application/vnd.openxmlformats-officedocument.wordprocessingml.document"/>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3" r:id="rId2"/>
    <p:sldId id="256" r:id="rId3"/>
    <p:sldId id="267" r:id="rId4"/>
    <p:sldId id="269" r:id="rId5"/>
    <p:sldId id="265" r:id="rId6"/>
    <p:sldId id="266" r:id="rId7"/>
    <p:sldId id="268" r:id="rId8"/>
    <p:sldId id="270" r:id="rId9"/>
    <p:sldId id="258" r:id="rId10"/>
    <p:sldId id="264" r:id="rId11"/>
    <p:sldId id="259" r:id="rId12"/>
    <p:sldId id="271" r:id="rId13"/>
    <p:sldId id="260" r:id="rId14"/>
    <p:sldId id="261" r:id="rId15"/>
    <p:sldId id="262" r:id="rId16"/>
    <p:sldId id="257" r:id="rId17"/>
    <p:sldId id="276" r:id="rId18"/>
    <p:sldId id="272" r:id="rId19"/>
    <p:sldId id="274" r:id="rId20"/>
    <p:sldId id="275" r:id="rId21"/>
    <p:sldId id="277" r:id="rId22"/>
    <p:sldId id="273" r:id="rId23"/>
    <p:sldId id="278" r:id="rId24"/>
    <p:sldId id="279" r:id="rId25"/>
    <p:sldId id="280" r:id="rId26"/>
    <p:sldId id="281" r:id="rId27"/>
    <p:sldId id="289" r:id="rId28"/>
    <p:sldId id="282" r:id="rId29"/>
    <p:sldId id="283" r:id="rId30"/>
    <p:sldId id="284" r:id="rId31"/>
    <p:sldId id="285" r:id="rId32"/>
    <p:sldId id="286" r:id="rId33"/>
    <p:sldId id="287" r:id="rId34"/>
    <p:sldId id="288"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6" d="100"/>
          <a:sy n="86" d="100"/>
        </p:scale>
        <p:origin x="-1120"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printerSettings" Target="printerSettings/printerSettings1.bin"/><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Mooney82AG:Downloads:DatabaseMetaAnalysis%2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dirty="0">
                <a:solidFill>
                  <a:srgbClr val="FFFFFF"/>
                </a:solidFill>
              </a:rPr>
              <a:t>Financial</a:t>
            </a:r>
            <a:r>
              <a:rPr lang="en-US" sz="2400" baseline="0" dirty="0">
                <a:solidFill>
                  <a:srgbClr val="FFFFFF"/>
                </a:solidFill>
              </a:rPr>
              <a:t> Deregulation Literature </a:t>
            </a:r>
            <a:r>
              <a:rPr lang="en-US" sz="2400" dirty="0">
                <a:solidFill>
                  <a:srgbClr val="FFFFFF"/>
                </a:solidFill>
              </a:rPr>
              <a:t>Funnel</a:t>
            </a:r>
            <a:r>
              <a:rPr lang="en-US" sz="2400" baseline="0" dirty="0">
                <a:solidFill>
                  <a:srgbClr val="FFFFFF"/>
                </a:solidFill>
              </a:rPr>
              <a:t> Plot</a:t>
            </a:r>
            <a:endParaRPr lang="en-US" sz="2400" dirty="0">
              <a:solidFill>
                <a:srgbClr val="FFFFFF"/>
              </a:solidFill>
            </a:endParaRPr>
          </a:p>
        </c:rich>
      </c:tx>
      <c:layout>
        <c:manualLayout>
          <c:xMode val="edge"/>
          <c:yMode val="edge"/>
          <c:x val="0.135777677607272"/>
          <c:y val="0.0"/>
        </c:manualLayout>
      </c:layout>
      <c:overlay val="0"/>
    </c:title>
    <c:autoTitleDeleted val="0"/>
    <c:plotArea>
      <c:layout>
        <c:manualLayout>
          <c:layoutTarget val="inner"/>
          <c:xMode val="edge"/>
          <c:yMode val="edge"/>
          <c:x val="0.0464278430033295"/>
          <c:y val="0.118814132509159"/>
          <c:w val="0.920337743592023"/>
          <c:h val="0.736939821843828"/>
        </c:manualLayout>
      </c:layout>
      <c:scatterChart>
        <c:scatterStyle val="lineMarker"/>
        <c:varyColors val="0"/>
        <c:ser>
          <c:idx val="0"/>
          <c:order val="0"/>
          <c:tx>
            <c:strRef>
              <c:f>Database!$BC$1</c:f>
              <c:strCache>
                <c:ptCount val="1"/>
                <c:pt idx="0">
                  <c:v>Precision (1/SE)</c:v>
                </c:pt>
              </c:strCache>
            </c:strRef>
          </c:tx>
          <c:spPr>
            <a:ln w="47625">
              <a:noFill/>
            </a:ln>
          </c:spPr>
          <c:xVal>
            <c:numRef>
              <c:f>Database!$BB$2:$BB$377</c:f>
              <c:numCache>
                <c:formatCode>General</c:formatCode>
                <c:ptCount val="376"/>
                <c:pt idx="0">
                  <c:v>0.0150833445818751</c:v>
                </c:pt>
                <c:pt idx="1">
                  <c:v>0.138677364069021</c:v>
                </c:pt>
                <c:pt idx="2">
                  <c:v>0.0368050831321197</c:v>
                </c:pt>
                <c:pt idx="3">
                  <c:v>0.105882869953675</c:v>
                </c:pt>
                <c:pt idx="4">
                  <c:v>0.185330828640805</c:v>
                </c:pt>
                <c:pt idx="5">
                  <c:v>0.161729648156104</c:v>
                </c:pt>
                <c:pt idx="6">
                  <c:v>-0.33895809663489</c:v>
                </c:pt>
                <c:pt idx="7">
                  <c:v>-0.216612144429553</c:v>
                </c:pt>
                <c:pt idx="8">
                  <c:v>0.117063344559603</c:v>
                </c:pt>
                <c:pt idx="9">
                  <c:v>-0.0217611153118543</c:v>
                </c:pt>
                <c:pt idx="10">
                  <c:v>0.102664020250476</c:v>
                </c:pt>
                <c:pt idx="11">
                  <c:v>0.315854194987411</c:v>
                </c:pt>
                <c:pt idx="12">
                  <c:v>-0.0311445053051614</c:v>
                </c:pt>
                <c:pt idx="13">
                  <c:v>0.11853842576477</c:v>
                </c:pt>
                <c:pt idx="14">
                  <c:v>0.201048361031327</c:v>
                </c:pt>
                <c:pt idx="15">
                  <c:v>0.0429495964476999</c:v>
                </c:pt>
                <c:pt idx="16">
                  <c:v>0.21532127447399</c:v>
                </c:pt>
                <c:pt idx="17">
                  <c:v>0.247654057784431</c:v>
                </c:pt>
                <c:pt idx="18">
                  <c:v>0.115730663228708</c:v>
                </c:pt>
                <c:pt idx="19">
                  <c:v>0.28022772472724</c:v>
                </c:pt>
                <c:pt idx="20">
                  <c:v>0.186181344900177</c:v>
                </c:pt>
                <c:pt idx="21">
                  <c:v>0.134791741331062</c:v>
                </c:pt>
                <c:pt idx="22">
                  <c:v>0.277960282141362</c:v>
                </c:pt>
                <c:pt idx="23">
                  <c:v>0.15796597132926</c:v>
                </c:pt>
                <c:pt idx="24">
                  <c:v>0.25353236049014</c:v>
                </c:pt>
                <c:pt idx="25">
                  <c:v>0.288126750433002</c:v>
                </c:pt>
                <c:pt idx="26">
                  <c:v>0.0415665592069867</c:v>
                </c:pt>
                <c:pt idx="27">
                  <c:v>-0.146830251780515</c:v>
                </c:pt>
                <c:pt idx="28">
                  <c:v>-0.210562786275308</c:v>
                </c:pt>
                <c:pt idx="29">
                  <c:v>-0.1463300678077</c:v>
                </c:pt>
                <c:pt idx="30">
                  <c:v>0.279928052968938</c:v>
                </c:pt>
                <c:pt idx="31">
                  <c:v>0.268643813171707</c:v>
                </c:pt>
                <c:pt idx="32">
                  <c:v>-0.273155295050679</c:v>
                </c:pt>
                <c:pt idx="33">
                  <c:v>-0.224807200756474</c:v>
                </c:pt>
                <c:pt idx="34">
                  <c:v>-0.131939849140063</c:v>
                </c:pt>
                <c:pt idx="35">
                  <c:v>0.268405873298299</c:v>
                </c:pt>
                <c:pt idx="36">
                  <c:v>0.286893323654853</c:v>
                </c:pt>
                <c:pt idx="37">
                  <c:v>-0.131785806266247</c:v>
                </c:pt>
                <c:pt idx="38">
                  <c:v>-0.0996252742978773</c:v>
                </c:pt>
                <c:pt idx="39">
                  <c:v>0.0851256530758748</c:v>
                </c:pt>
                <c:pt idx="40">
                  <c:v>-0.0243441548814127</c:v>
                </c:pt>
                <c:pt idx="41">
                  <c:v>0.0264314716998828</c:v>
                </c:pt>
                <c:pt idx="42">
                  <c:v>-0.177491293301428</c:v>
                </c:pt>
                <c:pt idx="43">
                  <c:v>0.119525831914918</c:v>
                </c:pt>
                <c:pt idx="44">
                  <c:v>0.0378737308051114</c:v>
                </c:pt>
                <c:pt idx="45">
                  <c:v>0.100087337940526</c:v>
                </c:pt>
                <c:pt idx="46">
                  <c:v>0.110431526074847</c:v>
                </c:pt>
                <c:pt idx="47">
                  <c:v>0.0290940700592971</c:v>
                </c:pt>
                <c:pt idx="48">
                  <c:v>0.139213770877957</c:v>
                </c:pt>
                <c:pt idx="49">
                  <c:v>-0.0229946121539598</c:v>
                </c:pt>
                <c:pt idx="50">
                  <c:v>0.085141380747284</c:v>
                </c:pt>
                <c:pt idx="51">
                  <c:v>0.10461860581508</c:v>
                </c:pt>
                <c:pt idx="52">
                  <c:v>0.0546345213644045</c:v>
                </c:pt>
                <c:pt idx="53">
                  <c:v>-0.0128286845383489</c:v>
                </c:pt>
                <c:pt idx="54">
                  <c:v>0.110050538051767</c:v>
                </c:pt>
                <c:pt idx="55">
                  <c:v>0.0191809058103498</c:v>
                </c:pt>
                <c:pt idx="56">
                  <c:v>0.184174346851555</c:v>
                </c:pt>
                <c:pt idx="57">
                  <c:v>0.080955047557906</c:v>
                </c:pt>
                <c:pt idx="58">
                  <c:v>0.184174346851555</c:v>
                </c:pt>
                <c:pt idx="59">
                  <c:v>0.080955047557906</c:v>
                </c:pt>
                <c:pt idx="60">
                  <c:v>0.080955047557906</c:v>
                </c:pt>
                <c:pt idx="61">
                  <c:v>-0.143229442982312</c:v>
                </c:pt>
                <c:pt idx="62">
                  <c:v>0.456568174002606</c:v>
                </c:pt>
                <c:pt idx="63">
                  <c:v>-0.319172526811287</c:v>
                </c:pt>
                <c:pt idx="64">
                  <c:v>0.0174389796265658</c:v>
                </c:pt>
                <c:pt idx="65">
                  <c:v>0.486460825705472</c:v>
                </c:pt>
                <c:pt idx="66">
                  <c:v>-0.15588001504245</c:v>
                </c:pt>
                <c:pt idx="67">
                  <c:v>0.554245251034361</c:v>
                </c:pt>
                <c:pt idx="68">
                  <c:v>0.228602173199264</c:v>
                </c:pt>
                <c:pt idx="69">
                  <c:v>0.250937646169231</c:v>
                </c:pt>
                <c:pt idx="70">
                  <c:v>0.478947832502143</c:v>
                </c:pt>
                <c:pt idx="71">
                  <c:v>-0.107383893925771</c:v>
                </c:pt>
                <c:pt idx="72">
                  <c:v>-0.128116455821593</c:v>
                </c:pt>
                <c:pt idx="73">
                  <c:v>-0.0518915179003178</c:v>
                </c:pt>
                <c:pt idx="74">
                  <c:v>0.294390292982005</c:v>
                </c:pt>
                <c:pt idx="75">
                  <c:v>-0.122822639699854</c:v>
                </c:pt>
                <c:pt idx="76">
                  <c:v>0.469010630771711</c:v>
                </c:pt>
                <c:pt idx="77">
                  <c:v>-0.116318342932995</c:v>
                </c:pt>
                <c:pt idx="78">
                  <c:v>0.236759004907107</c:v>
                </c:pt>
                <c:pt idx="79">
                  <c:v>-0.296480961678672</c:v>
                </c:pt>
                <c:pt idx="80">
                  <c:v>-0.296480961678672</c:v>
                </c:pt>
                <c:pt idx="81">
                  <c:v>0.168014983484819</c:v>
                </c:pt>
                <c:pt idx="82">
                  <c:v>-0.161993203436934</c:v>
                </c:pt>
                <c:pt idx="83">
                  <c:v>0.0956562468851329</c:v>
                </c:pt>
                <c:pt idx="84">
                  <c:v>-0.0349742520972548</c:v>
                </c:pt>
                <c:pt idx="85">
                  <c:v>-0.342007406399516</c:v>
                </c:pt>
                <c:pt idx="86">
                  <c:v>-0.122509419478135</c:v>
                </c:pt>
                <c:pt idx="87">
                  <c:v>0.125494872355125</c:v>
                </c:pt>
                <c:pt idx="88">
                  <c:v>0.123753157975028</c:v>
                </c:pt>
                <c:pt idx="89">
                  <c:v>0.125494872355125</c:v>
                </c:pt>
                <c:pt idx="90">
                  <c:v>-0.347795511335128</c:v>
                </c:pt>
                <c:pt idx="91">
                  <c:v>-0.39906243598536</c:v>
                </c:pt>
                <c:pt idx="92">
                  <c:v>-0.123753157975028</c:v>
                </c:pt>
                <c:pt idx="93">
                  <c:v>-0.125494872355125</c:v>
                </c:pt>
                <c:pt idx="94">
                  <c:v>-0.0330687118573297</c:v>
                </c:pt>
                <c:pt idx="95">
                  <c:v>-0.275266687592977</c:v>
                </c:pt>
                <c:pt idx="96">
                  <c:v>-0.152801511999312</c:v>
                </c:pt>
                <c:pt idx="97">
                  <c:v>0.146836210536642</c:v>
                </c:pt>
                <c:pt idx="98">
                  <c:v>0.0720559877065562</c:v>
                </c:pt>
                <c:pt idx="99">
                  <c:v>-0.0232746263423948</c:v>
                </c:pt>
                <c:pt idx="100">
                  <c:v>0.154285226186908</c:v>
                </c:pt>
                <c:pt idx="101">
                  <c:v>-0.190371587246627</c:v>
                </c:pt>
                <c:pt idx="102">
                  <c:v>0.320922924188807</c:v>
                </c:pt>
                <c:pt idx="103">
                  <c:v>0.464555537177763</c:v>
                </c:pt>
                <c:pt idx="104">
                  <c:v>0.224758713898601</c:v>
                </c:pt>
                <c:pt idx="105">
                  <c:v>-0.15330060061467</c:v>
                </c:pt>
                <c:pt idx="106">
                  <c:v>0.114316825138145</c:v>
                </c:pt>
                <c:pt idx="107">
                  <c:v>0.130145758376281</c:v>
                </c:pt>
                <c:pt idx="108">
                  <c:v>-0.0800753678864325</c:v>
                </c:pt>
                <c:pt idx="109">
                  <c:v>0.327640278720029</c:v>
                </c:pt>
                <c:pt idx="110">
                  <c:v>-0.318594703147103</c:v>
                </c:pt>
                <c:pt idx="111">
                  <c:v>-0.136426680657418</c:v>
                </c:pt>
                <c:pt idx="112">
                  <c:v>0.0610996930505766</c:v>
                </c:pt>
                <c:pt idx="113">
                  <c:v>0.327640278720029</c:v>
                </c:pt>
                <c:pt idx="114">
                  <c:v>0.399003906034546</c:v>
                </c:pt>
                <c:pt idx="115">
                  <c:v>-0.136426680657418</c:v>
                </c:pt>
                <c:pt idx="116">
                  <c:v>0.105372673954766</c:v>
                </c:pt>
                <c:pt idx="117">
                  <c:v>-0.117072736211501</c:v>
                </c:pt>
                <c:pt idx="118">
                  <c:v>0.0726662956015232</c:v>
                </c:pt>
                <c:pt idx="119">
                  <c:v>0.122283906222032</c:v>
                </c:pt>
                <c:pt idx="120">
                  <c:v>0.0831565247286124</c:v>
                </c:pt>
                <c:pt idx="121">
                  <c:v>0.284439915228138</c:v>
                </c:pt>
                <c:pt idx="122">
                  <c:v>0.0818454926061443</c:v>
                </c:pt>
                <c:pt idx="123">
                  <c:v>0.0383831328140058</c:v>
                </c:pt>
                <c:pt idx="124">
                  <c:v>0.0207277565507107</c:v>
                </c:pt>
                <c:pt idx="125">
                  <c:v>0.00195474756201191</c:v>
                </c:pt>
                <c:pt idx="126">
                  <c:v>0.111878429036272</c:v>
                </c:pt>
                <c:pt idx="127">
                  <c:v>-0.0831565247286124</c:v>
                </c:pt>
                <c:pt idx="128">
                  <c:v>0.309804021712333</c:v>
                </c:pt>
                <c:pt idx="129">
                  <c:v>0.0949355996880245</c:v>
                </c:pt>
                <c:pt idx="130">
                  <c:v>-0.119666318596967</c:v>
                </c:pt>
                <c:pt idx="131">
                  <c:v>0.104069870362632</c:v>
                </c:pt>
                <c:pt idx="132">
                  <c:v>0.0330951696160748</c:v>
                </c:pt>
                <c:pt idx="133">
                  <c:v>0.45327984253499</c:v>
                </c:pt>
                <c:pt idx="134">
                  <c:v>0.390794100064441</c:v>
                </c:pt>
                <c:pt idx="135">
                  <c:v>0.405393492827715</c:v>
                </c:pt>
                <c:pt idx="136">
                  <c:v>0.327435297762847</c:v>
                </c:pt>
                <c:pt idx="137">
                  <c:v>-0.0389451338780782</c:v>
                </c:pt>
                <c:pt idx="138">
                  <c:v>0.287609190141287</c:v>
                </c:pt>
                <c:pt idx="139">
                  <c:v>0.332998450202031</c:v>
                </c:pt>
                <c:pt idx="140">
                  <c:v>0.298171836345536</c:v>
                </c:pt>
                <c:pt idx="141">
                  <c:v>0.110986212738854</c:v>
                </c:pt>
                <c:pt idx="142">
                  <c:v>-0.10830976195867</c:v>
                </c:pt>
                <c:pt idx="143">
                  <c:v>0.30184016534944</c:v>
                </c:pt>
                <c:pt idx="144">
                  <c:v>0.0570497905385129</c:v>
                </c:pt>
                <c:pt idx="145">
                  <c:v>0.100719938519262</c:v>
                </c:pt>
                <c:pt idx="146">
                  <c:v>0.287465959371819</c:v>
                </c:pt>
                <c:pt idx="147">
                  <c:v>0.161248960937855</c:v>
                </c:pt>
                <c:pt idx="148">
                  <c:v>0.252919866703894</c:v>
                </c:pt>
                <c:pt idx="149">
                  <c:v>0.254172372427177</c:v>
                </c:pt>
                <c:pt idx="150">
                  <c:v>0.254172372427177</c:v>
                </c:pt>
                <c:pt idx="151">
                  <c:v>0.287465959371819</c:v>
                </c:pt>
                <c:pt idx="152">
                  <c:v>0.314578992199791</c:v>
                </c:pt>
                <c:pt idx="153">
                  <c:v>-0.052824822506409</c:v>
                </c:pt>
                <c:pt idx="154">
                  <c:v>-0.0448620987849072</c:v>
                </c:pt>
                <c:pt idx="155">
                  <c:v>0.27584319856588</c:v>
                </c:pt>
                <c:pt idx="156">
                  <c:v>0.271722976712957</c:v>
                </c:pt>
                <c:pt idx="157">
                  <c:v>0.27584319856588</c:v>
                </c:pt>
                <c:pt idx="158">
                  <c:v>0.121375313698871</c:v>
                </c:pt>
                <c:pt idx="159">
                  <c:v>0.0954393440553541</c:v>
                </c:pt>
                <c:pt idx="160">
                  <c:v>0.256562543865471</c:v>
                </c:pt>
                <c:pt idx="161">
                  <c:v>0.225173783862876</c:v>
                </c:pt>
                <c:pt idx="162">
                  <c:v>0.225173783862876</c:v>
                </c:pt>
                <c:pt idx="163">
                  <c:v>0.0735032626688197</c:v>
                </c:pt>
                <c:pt idx="164">
                  <c:v>0.0204721378337346</c:v>
                </c:pt>
                <c:pt idx="165">
                  <c:v>0.256562543865471</c:v>
                </c:pt>
                <c:pt idx="166">
                  <c:v>-0.100896354873679</c:v>
                </c:pt>
                <c:pt idx="167">
                  <c:v>0.0350607515598074</c:v>
                </c:pt>
                <c:pt idx="168">
                  <c:v>0.149581940848414</c:v>
                </c:pt>
                <c:pt idx="169">
                  <c:v>0.0918432729117153</c:v>
                </c:pt>
                <c:pt idx="170">
                  <c:v>0.161173135807452</c:v>
                </c:pt>
                <c:pt idx="171">
                  <c:v>0.14046756326285</c:v>
                </c:pt>
                <c:pt idx="172">
                  <c:v>0.235583231512455</c:v>
                </c:pt>
                <c:pt idx="173">
                  <c:v>0.218323158555911</c:v>
                </c:pt>
                <c:pt idx="174">
                  <c:v>0.241376532170463</c:v>
                </c:pt>
                <c:pt idx="175">
                  <c:v>0.245927795141495</c:v>
                </c:pt>
                <c:pt idx="176">
                  <c:v>0.19955206303669</c:v>
                </c:pt>
                <c:pt idx="177">
                  <c:v>0.174740811332208</c:v>
                </c:pt>
                <c:pt idx="178">
                  <c:v>0.241213690101244</c:v>
                </c:pt>
                <c:pt idx="179">
                  <c:v>0.235501454483171</c:v>
                </c:pt>
                <c:pt idx="180">
                  <c:v>0.194055599053334</c:v>
                </c:pt>
                <c:pt idx="181">
                  <c:v>0.207180309940323</c:v>
                </c:pt>
                <c:pt idx="182">
                  <c:v>0.152694858610729</c:v>
                </c:pt>
                <c:pt idx="183">
                  <c:v>0.257395336749132</c:v>
                </c:pt>
                <c:pt idx="184">
                  <c:v>0.218846111122325</c:v>
                </c:pt>
                <c:pt idx="185">
                  <c:v>0.301538535442806</c:v>
                </c:pt>
                <c:pt idx="186">
                  <c:v>0.264788131168773</c:v>
                </c:pt>
                <c:pt idx="187">
                  <c:v>0.218398519263059</c:v>
                </c:pt>
                <c:pt idx="188">
                  <c:v>0.262208598213887</c:v>
                </c:pt>
                <c:pt idx="189">
                  <c:v>0.00123091397728309</c:v>
                </c:pt>
                <c:pt idx="190">
                  <c:v>-0.00110782273901389</c:v>
                </c:pt>
                <c:pt idx="191">
                  <c:v>0.12696962320137</c:v>
                </c:pt>
                <c:pt idx="192">
                  <c:v>0.0500023790625209</c:v>
                </c:pt>
                <c:pt idx="193">
                  <c:v>0.0469592261002985</c:v>
                </c:pt>
                <c:pt idx="194">
                  <c:v>0.118270007064963</c:v>
                </c:pt>
                <c:pt idx="195">
                  <c:v>0.0962110391205653</c:v>
                </c:pt>
                <c:pt idx="196">
                  <c:v>0.0743025475984902</c:v>
                </c:pt>
                <c:pt idx="197">
                  <c:v>0.133035177956649</c:v>
                </c:pt>
                <c:pt idx="198">
                  <c:v>0.0878295572233922</c:v>
                </c:pt>
                <c:pt idx="199">
                  <c:v>0.0559494408600665</c:v>
                </c:pt>
                <c:pt idx="200">
                  <c:v>0.0756056595274866</c:v>
                </c:pt>
                <c:pt idx="201">
                  <c:v>0.144833604301183</c:v>
                </c:pt>
                <c:pt idx="202">
                  <c:v>0.163982311109187</c:v>
                </c:pt>
                <c:pt idx="203">
                  <c:v>0.0592583184802661</c:v>
                </c:pt>
                <c:pt idx="204">
                  <c:v>0.0803892783656295</c:v>
                </c:pt>
                <c:pt idx="205">
                  <c:v>0.0129875295262446</c:v>
                </c:pt>
                <c:pt idx="206">
                  <c:v>0.110937253215236</c:v>
                </c:pt>
                <c:pt idx="207">
                  <c:v>0.185787227421575</c:v>
                </c:pt>
                <c:pt idx="208">
                  <c:v>0.0946718194710149</c:v>
                </c:pt>
                <c:pt idx="209">
                  <c:v>0.114498045656638</c:v>
                </c:pt>
                <c:pt idx="210">
                  <c:v>0.067215187144026</c:v>
                </c:pt>
                <c:pt idx="211">
                  <c:v>0.121292337049922</c:v>
                </c:pt>
                <c:pt idx="212">
                  <c:v>0.0782947867576689</c:v>
                </c:pt>
                <c:pt idx="213">
                  <c:v>0.0858066707963229</c:v>
                </c:pt>
                <c:pt idx="214">
                  <c:v>0.0837466821729324</c:v>
                </c:pt>
                <c:pt idx="215">
                  <c:v>0.144559216943107</c:v>
                </c:pt>
                <c:pt idx="216">
                  <c:v>0.203786643919991</c:v>
                </c:pt>
                <c:pt idx="217">
                  <c:v>0.0904964668472729</c:v>
                </c:pt>
                <c:pt idx="218">
                  <c:v>0.155362759469916</c:v>
                </c:pt>
                <c:pt idx="219">
                  <c:v>0.0813337198492245</c:v>
                </c:pt>
                <c:pt idx="220">
                  <c:v>0.156432772898398</c:v>
                </c:pt>
                <c:pt idx="221">
                  <c:v>-0.109365829273463</c:v>
                </c:pt>
                <c:pt idx="222">
                  <c:v>-0.160261612096698</c:v>
                </c:pt>
                <c:pt idx="223">
                  <c:v>-0.15750124931964</c:v>
                </c:pt>
                <c:pt idx="224">
                  <c:v>-0.264358731348674</c:v>
                </c:pt>
                <c:pt idx="225">
                  <c:v>-0.285602437247734</c:v>
                </c:pt>
                <c:pt idx="226">
                  <c:v>-0.329795116015413</c:v>
                </c:pt>
                <c:pt idx="227">
                  <c:v>-0.258978418569621</c:v>
                </c:pt>
                <c:pt idx="228">
                  <c:v>-0.248739869945247</c:v>
                </c:pt>
                <c:pt idx="229">
                  <c:v>0.292330496037262</c:v>
                </c:pt>
                <c:pt idx="230">
                  <c:v>0.239656784972067</c:v>
                </c:pt>
                <c:pt idx="231">
                  <c:v>0.0499012610739364</c:v>
                </c:pt>
                <c:pt idx="232">
                  <c:v>0.473195245625538</c:v>
                </c:pt>
                <c:pt idx="233">
                  <c:v>0.0853517045518445</c:v>
                </c:pt>
                <c:pt idx="234">
                  <c:v>0.0562543950463012</c:v>
                </c:pt>
                <c:pt idx="235">
                  <c:v>0.125738922692386</c:v>
                </c:pt>
                <c:pt idx="236">
                  <c:v>0.0562543950463012</c:v>
                </c:pt>
                <c:pt idx="237">
                  <c:v>0.125766542445096</c:v>
                </c:pt>
                <c:pt idx="238">
                  <c:v>0.0971568796868307</c:v>
                </c:pt>
                <c:pt idx="239">
                  <c:v>0.0295980343829876</c:v>
                </c:pt>
                <c:pt idx="240">
                  <c:v>0.0851599433705489</c:v>
                </c:pt>
                <c:pt idx="241">
                  <c:v>-0.0477581479716332</c:v>
                </c:pt>
                <c:pt idx="242">
                  <c:v>-0.0316061479377407</c:v>
                </c:pt>
                <c:pt idx="243">
                  <c:v>-0.103772358964264</c:v>
                </c:pt>
                <c:pt idx="244">
                  <c:v>-0.102297621824344</c:v>
                </c:pt>
                <c:pt idx="245">
                  <c:v>-0.106029221204757</c:v>
                </c:pt>
                <c:pt idx="246">
                  <c:v>-0.138120976924038</c:v>
                </c:pt>
                <c:pt idx="247">
                  <c:v>0.140598761597618</c:v>
                </c:pt>
                <c:pt idx="248">
                  <c:v>0.107134728207919</c:v>
                </c:pt>
                <c:pt idx="249">
                  <c:v>0.0913081583598105</c:v>
                </c:pt>
                <c:pt idx="250">
                  <c:v>0.141056810708684</c:v>
                </c:pt>
                <c:pt idx="251">
                  <c:v>0.0819170737452208</c:v>
                </c:pt>
                <c:pt idx="252">
                  <c:v>0.16215542578227</c:v>
                </c:pt>
                <c:pt idx="253">
                  <c:v>0.238217652601318</c:v>
                </c:pt>
                <c:pt idx="254">
                  <c:v>-0.0274617518190545</c:v>
                </c:pt>
                <c:pt idx="255">
                  <c:v>-0.0137347607238388</c:v>
                </c:pt>
                <c:pt idx="256">
                  <c:v>-0.0137347607238388</c:v>
                </c:pt>
                <c:pt idx="257">
                  <c:v>0.151461979633773</c:v>
                </c:pt>
                <c:pt idx="258">
                  <c:v>0.19437924703642</c:v>
                </c:pt>
                <c:pt idx="259">
                  <c:v>0.187540988541625</c:v>
                </c:pt>
                <c:pt idx="260">
                  <c:v>-0.0567640126602798</c:v>
                </c:pt>
                <c:pt idx="261">
                  <c:v>-0.0567640126602798</c:v>
                </c:pt>
                <c:pt idx="262">
                  <c:v>-0.0651659067454924</c:v>
                </c:pt>
                <c:pt idx="263">
                  <c:v>-0.0396021156015246</c:v>
                </c:pt>
                <c:pt idx="264">
                  <c:v>0.353100328713968</c:v>
                </c:pt>
                <c:pt idx="265">
                  <c:v>0.472336300909821</c:v>
                </c:pt>
                <c:pt idx="266">
                  <c:v>-0.0374502943136569</c:v>
                </c:pt>
                <c:pt idx="267">
                  <c:v>-0.0389460775385138</c:v>
                </c:pt>
                <c:pt idx="268">
                  <c:v>0.0542060561771796</c:v>
                </c:pt>
                <c:pt idx="269">
                  <c:v>-0.0607283567226882</c:v>
                </c:pt>
                <c:pt idx="270">
                  <c:v>-0.0433713072273152</c:v>
                </c:pt>
                <c:pt idx="271">
                  <c:v>0.16076643864969</c:v>
                </c:pt>
                <c:pt idx="272">
                  <c:v>-0.064276766625754</c:v>
                </c:pt>
                <c:pt idx="273">
                  <c:v>0.0757098035256509</c:v>
                </c:pt>
                <c:pt idx="274">
                  <c:v>0.318738593483522</c:v>
                </c:pt>
                <c:pt idx="275">
                  <c:v>0.133630620956212</c:v>
                </c:pt>
                <c:pt idx="276">
                  <c:v>0.0573513071219574</c:v>
                </c:pt>
                <c:pt idx="277">
                  <c:v>-0.0649900211342298</c:v>
                </c:pt>
                <c:pt idx="278">
                  <c:v>0.26048607376331</c:v>
                </c:pt>
                <c:pt idx="279">
                  <c:v>-0.0054223851284891</c:v>
                </c:pt>
                <c:pt idx="280">
                  <c:v>0.036682896271313</c:v>
                </c:pt>
                <c:pt idx="281">
                  <c:v>0.286917192606427</c:v>
                </c:pt>
                <c:pt idx="282">
                  <c:v>0.156160252448799</c:v>
                </c:pt>
                <c:pt idx="283">
                  <c:v>0.111632925761838</c:v>
                </c:pt>
                <c:pt idx="284">
                  <c:v>0.126588051718314</c:v>
                </c:pt>
                <c:pt idx="285">
                  <c:v>0.194665815447845</c:v>
                </c:pt>
                <c:pt idx="286">
                  <c:v>0.585470924953584</c:v>
                </c:pt>
                <c:pt idx="287">
                  <c:v>0.330513751143723</c:v>
                </c:pt>
                <c:pt idx="288">
                  <c:v>0.217244061514408</c:v>
                </c:pt>
                <c:pt idx="289">
                  <c:v>0.22298799943454</c:v>
                </c:pt>
                <c:pt idx="290">
                  <c:v>0.200754245291398</c:v>
                </c:pt>
                <c:pt idx="291">
                  <c:v>0.105439446915406</c:v>
                </c:pt>
                <c:pt idx="292">
                  <c:v>0.127404185845612</c:v>
                </c:pt>
                <c:pt idx="293">
                  <c:v>0.217244061514408</c:v>
                </c:pt>
                <c:pt idx="294">
                  <c:v>0.136053267323893</c:v>
                </c:pt>
                <c:pt idx="295">
                  <c:v>0.182637393102254</c:v>
                </c:pt>
                <c:pt idx="296">
                  <c:v>0.123860655552304</c:v>
                </c:pt>
                <c:pt idx="297">
                  <c:v>0.139054673494203</c:v>
                </c:pt>
                <c:pt idx="298">
                  <c:v>0.154752139012364</c:v>
                </c:pt>
                <c:pt idx="299">
                  <c:v>0.175218361844726</c:v>
                </c:pt>
                <c:pt idx="300">
                  <c:v>0.175218361844726</c:v>
                </c:pt>
                <c:pt idx="301">
                  <c:v>0.112082553210501</c:v>
                </c:pt>
                <c:pt idx="302">
                  <c:v>0.112772669976597</c:v>
                </c:pt>
                <c:pt idx="303">
                  <c:v>0.165501950107965</c:v>
                </c:pt>
                <c:pt idx="304">
                  <c:v>0.269886552101856</c:v>
                </c:pt>
                <c:pt idx="305">
                  <c:v>0.135096364238261</c:v>
                </c:pt>
                <c:pt idx="306">
                  <c:v>-0.344254649158423</c:v>
                </c:pt>
                <c:pt idx="307">
                  <c:v>0.0</c:v>
                </c:pt>
                <c:pt idx="308">
                  <c:v>-0.00670183924384477</c:v>
                </c:pt>
                <c:pt idx="309">
                  <c:v>0.0</c:v>
                </c:pt>
                <c:pt idx="310">
                  <c:v>-0.0208288136818357</c:v>
                </c:pt>
                <c:pt idx="311">
                  <c:v>-0.0208288136818357</c:v>
                </c:pt>
                <c:pt idx="312">
                  <c:v>-0.755928946018454</c:v>
                </c:pt>
                <c:pt idx="313">
                  <c:v>-0.0760560739974242</c:v>
                </c:pt>
                <c:pt idx="314">
                  <c:v>-0.0720290253901615</c:v>
                </c:pt>
                <c:pt idx="315">
                  <c:v>0.0768311801531283</c:v>
                </c:pt>
                <c:pt idx="316">
                  <c:v>0.179061327389895</c:v>
                </c:pt>
                <c:pt idx="317">
                  <c:v>0.0788998612224961</c:v>
                </c:pt>
                <c:pt idx="318">
                  <c:v>0.0484526664345317</c:v>
                </c:pt>
                <c:pt idx="319">
                  <c:v>0.0835270257585995</c:v>
                </c:pt>
                <c:pt idx="320">
                  <c:v>-0.0131613763427425</c:v>
                </c:pt>
                <c:pt idx="321">
                  <c:v>0.00149198234072165</c:v>
                </c:pt>
                <c:pt idx="322">
                  <c:v>0.0412959019041808</c:v>
                </c:pt>
                <c:pt idx="323">
                  <c:v>0.153287206867863</c:v>
                </c:pt>
                <c:pt idx="324">
                  <c:v>0.437804495575018</c:v>
                </c:pt>
                <c:pt idx="325">
                  <c:v>0.304426592746385</c:v>
                </c:pt>
                <c:pt idx="326">
                  <c:v>0.193613831200709</c:v>
                </c:pt>
                <c:pt idx="327">
                  <c:v>0.124191281963709</c:v>
                </c:pt>
                <c:pt idx="328">
                  <c:v>0.0657313465916101</c:v>
                </c:pt>
                <c:pt idx="329">
                  <c:v>0.111843666731443</c:v>
                </c:pt>
                <c:pt idx="330">
                  <c:v>0.221270733673484</c:v>
                </c:pt>
                <c:pt idx="331">
                  <c:v>0.341080887068355</c:v>
                </c:pt>
                <c:pt idx="332">
                  <c:v>0.399427185065453</c:v>
                </c:pt>
                <c:pt idx="333">
                  <c:v>0.307438739229546</c:v>
                </c:pt>
                <c:pt idx="334">
                  <c:v>0.131460298009797</c:v>
                </c:pt>
                <c:pt idx="335">
                  <c:v>0.382614890124941</c:v>
                </c:pt>
                <c:pt idx="336">
                  <c:v>-0.00399996800038399</c:v>
                </c:pt>
                <c:pt idx="337">
                  <c:v>0.187084520417854</c:v>
                </c:pt>
                <c:pt idx="338">
                  <c:v>0.66896473162245</c:v>
                </c:pt>
                <c:pt idx="339">
                  <c:v>0.213740516344393</c:v>
                </c:pt>
                <c:pt idx="340">
                  <c:v>0.0199960011996001</c:v>
                </c:pt>
                <c:pt idx="341">
                  <c:v>0.0227230506738371</c:v>
                </c:pt>
                <c:pt idx="342">
                  <c:v>0.376230591587949</c:v>
                </c:pt>
                <c:pt idx="343">
                  <c:v>0.22562025944592</c:v>
                </c:pt>
                <c:pt idx="344">
                  <c:v>0.612410401215072</c:v>
                </c:pt>
                <c:pt idx="345">
                  <c:v>0.274774035192601</c:v>
                </c:pt>
                <c:pt idx="346">
                  <c:v>0.136163493706508</c:v>
                </c:pt>
                <c:pt idx="347">
                  <c:v>0.20127948709081</c:v>
                </c:pt>
                <c:pt idx="348">
                  <c:v>0.127939868538421</c:v>
                </c:pt>
                <c:pt idx="349">
                  <c:v>-0.297066552636244</c:v>
                </c:pt>
                <c:pt idx="350">
                  <c:v>-0.316227766016838</c:v>
                </c:pt>
                <c:pt idx="351">
                  <c:v>-0.0282729643226657</c:v>
                </c:pt>
                <c:pt idx="352">
                  <c:v>-0.00011111111042524</c:v>
                </c:pt>
                <c:pt idx="353">
                  <c:v>0.266550072059528</c:v>
                </c:pt>
                <c:pt idx="354">
                  <c:v>0.113702257331008</c:v>
                </c:pt>
                <c:pt idx="355">
                  <c:v>0.157122866716949</c:v>
                </c:pt>
                <c:pt idx="356">
                  <c:v>-0.0348627289540347</c:v>
                </c:pt>
                <c:pt idx="357">
                  <c:v>-0.287347885566345</c:v>
                </c:pt>
                <c:pt idx="358">
                  <c:v>0.00477772324716129</c:v>
                </c:pt>
                <c:pt idx="359">
                  <c:v>0.481936886037609</c:v>
                </c:pt>
                <c:pt idx="360">
                  <c:v>0.388436921055921</c:v>
                </c:pt>
                <c:pt idx="361">
                  <c:v>0.604951389468545</c:v>
                </c:pt>
                <c:pt idx="362">
                  <c:v>0.698369426055776</c:v>
                </c:pt>
                <c:pt idx="363">
                  <c:v>0.342915390010119</c:v>
                </c:pt>
                <c:pt idx="364">
                  <c:v>0.824041747677114</c:v>
                </c:pt>
                <c:pt idx="365">
                  <c:v>0.386849455141198</c:v>
                </c:pt>
                <c:pt idx="366">
                  <c:v>0.0116239784969616</c:v>
                </c:pt>
                <c:pt idx="367">
                  <c:v>0.192340342819706</c:v>
                </c:pt>
                <c:pt idx="368">
                  <c:v>0.225062079905515</c:v>
                </c:pt>
                <c:pt idx="369">
                  <c:v>-0.0133618691248475</c:v>
                </c:pt>
                <c:pt idx="370">
                  <c:v>-0.176140955751822</c:v>
                </c:pt>
                <c:pt idx="371">
                  <c:v>0.209656967344384</c:v>
                </c:pt>
                <c:pt idx="372">
                  <c:v>0.108109687516103</c:v>
                </c:pt>
                <c:pt idx="373">
                  <c:v>0.0905391525282113</c:v>
                </c:pt>
                <c:pt idx="374">
                  <c:v>0.108109687516103</c:v>
                </c:pt>
                <c:pt idx="375">
                  <c:v>0.0651097844569474</c:v>
                </c:pt>
              </c:numCache>
            </c:numRef>
          </c:xVal>
          <c:yVal>
            <c:numRef>
              <c:f>Database!$BC$2:$BC$377</c:f>
              <c:numCache>
                <c:formatCode>General</c:formatCode>
                <c:ptCount val="376"/>
                <c:pt idx="0">
                  <c:v>11.27070982680328</c:v>
                </c:pt>
                <c:pt idx="1">
                  <c:v>6.922542885385398</c:v>
                </c:pt>
                <c:pt idx="2">
                  <c:v>7.879346419595982</c:v>
                </c:pt>
                <c:pt idx="3">
                  <c:v>6.894410779754847</c:v>
                </c:pt>
                <c:pt idx="4">
                  <c:v>7.338228669099921</c:v>
                </c:pt>
                <c:pt idx="5">
                  <c:v>7.91444249457914</c:v>
                </c:pt>
                <c:pt idx="6">
                  <c:v>7.287036434655723</c:v>
                </c:pt>
                <c:pt idx="7">
                  <c:v>7.386474125047756</c:v>
                </c:pt>
                <c:pt idx="8">
                  <c:v>7.26102609828666</c:v>
                </c:pt>
                <c:pt idx="9">
                  <c:v>7.812099589738978</c:v>
                </c:pt>
                <c:pt idx="10">
                  <c:v>13.63671514698463</c:v>
                </c:pt>
                <c:pt idx="11">
                  <c:v>8.23164625090267</c:v>
                </c:pt>
                <c:pt idx="12">
                  <c:v>11.88010521838927</c:v>
                </c:pt>
                <c:pt idx="13">
                  <c:v>7.929918032363261</c:v>
                </c:pt>
                <c:pt idx="14">
                  <c:v>7.361412907859465</c:v>
                </c:pt>
                <c:pt idx="15">
                  <c:v>7.217762811287165</c:v>
                </c:pt>
                <c:pt idx="16">
                  <c:v>7.384314457009521</c:v>
                </c:pt>
                <c:pt idx="17">
                  <c:v>7.9950234521232</c:v>
                </c:pt>
                <c:pt idx="18">
                  <c:v>7.863084636451505</c:v>
                </c:pt>
                <c:pt idx="19">
                  <c:v>8.13623991779987</c:v>
                </c:pt>
                <c:pt idx="20">
                  <c:v>7.949238957283898</c:v>
                </c:pt>
                <c:pt idx="21">
                  <c:v>13.50231091332147</c:v>
                </c:pt>
                <c:pt idx="22">
                  <c:v>8.130658029950563</c:v>
                </c:pt>
                <c:pt idx="23">
                  <c:v>13.73713580044982</c:v>
                </c:pt>
                <c:pt idx="24">
                  <c:v>7.454669677457209</c:v>
                </c:pt>
                <c:pt idx="25">
                  <c:v>8.156132661991222</c:v>
                </c:pt>
                <c:pt idx="26">
                  <c:v>7.217340230306442</c:v>
                </c:pt>
                <c:pt idx="27">
                  <c:v>12.38164464035372</c:v>
                </c:pt>
                <c:pt idx="28">
                  <c:v>12.52832965722087</c:v>
                </c:pt>
                <c:pt idx="29">
                  <c:v>11.3920537656737</c:v>
                </c:pt>
                <c:pt idx="30">
                  <c:v>11.73873059576716</c:v>
                </c:pt>
                <c:pt idx="31">
                  <c:v>11.69950635710755</c:v>
                </c:pt>
                <c:pt idx="32">
                  <c:v>11.71494771648597</c:v>
                </c:pt>
                <c:pt idx="33">
                  <c:v>11.56546583584077</c:v>
                </c:pt>
                <c:pt idx="34">
                  <c:v>11.36881700090207</c:v>
                </c:pt>
                <c:pt idx="35">
                  <c:v>11.69870078256556</c:v>
                </c:pt>
                <c:pt idx="36">
                  <c:v>11.76395447968072</c:v>
                </c:pt>
                <c:pt idx="37">
                  <c:v>13.79511232284826</c:v>
                </c:pt>
                <c:pt idx="38">
                  <c:v>10.87073543970232</c:v>
                </c:pt>
                <c:pt idx="39">
                  <c:v>11.74734012447073</c:v>
                </c:pt>
                <c:pt idx="40">
                  <c:v>13.67884823367816</c:v>
                </c:pt>
                <c:pt idx="41">
                  <c:v>10.82043418722188</c:v>
                </c:pt>
                <c:pt idx="42">
                  <c:v>11.89354114635334</c:v>
                </c:pt>
                <c:pt idx="43">
                  <c:v>18.12997211801496</c:v>
                </c:pt>
                <c:pt idx="44">
                  <c:v>21.2284341391446</c:v>
                </c:pt>
                <c:pt idx="45">
                  <c:v>21.20148306133322</c:v>
                </c:pt>
                <c:pt idx="46">
                  <c:v>18.11077027627483</c:v>
                </c:pt>
                <c:pt idx="47">
                  <c:v>21.10395688016823</c:v>
                </c:pt>
                <c:pt idx="48">
                  <c:v>19.58139617085564</c:v>
                </c:pt>
                <c:pt idx="49">
                  <c:v>19.39584790618858</c:v>
                </c:pt>
                <c:pt idx="50">
                  <c:v>25.11117368822095</c:v>
                </c:pt>
                <c:pt idx="51">
                  <c:v>25.15804889096128</c:v>
                </c:pt>
                <c:pt idx="52">
                  <c:v>25.05741728510741</c:v>
                </c:pt>
                <c:pt idx="53">
                  <c:v>25.0220510949842</c:v>
                </c:pt>
                <c:pt idx="54">
                  <c:v>19.50921856456582</c:v>
                </c:pt>
                <c:pt idx="55">
                  <c:v>19.39428740634726</c:v>
                </c:pt>
                <c:pt idx="56">
                  <c:v>14.27994747889501</c:v>
                </c:pt>
                <c:pt idx="57">
                  <c:v>14.08188907781907</c:v>
                </c:pt>
                <c:pt idx="58">
                  <c:v>14.27994747889501</c:v>
                </c:pt>
                <c:pt idx="59">
                  <c:v>14.08188907781907</c:v>
                </c:pt>
                <c:pt idx="60">
                  <c:v>14.08188907781907</c:v>
                </c:pt>
                <c:pt idx="61">
                  <c:v>10.40288902180543</c:v>
                </c:pt>
                <c:pt idx="62">
                  <c:v>10.05326315183284</c:v>
                </c:pt>
                <c:pt idx="63">
                  <c:v>5.482928049865328</c:v>
                </c:pt>
                <c:pt idx="64">
                  <c:v>9.748276770793858</c:v>
                </c:pt>
                <c:pt idx="65">
                  <c:v>10.23720665025377</c:v>
                </c:pt>
                <c:pt idx="66">
                  <c:v>5.260456253976441</c:v>
                </c:pt>
                <c:pt idx="67">
                  <c:v>12.48544752902354</c:v>
                </c:pt>
                <c:pt idx="68">
                  <c:v>8.836311447657318</c:v>
                </c:pt>
                <c:pt idx="69">
                  <c:v>8.88666979244756</c:v>
                </c:pt>
                <c:pt idx="70">
                  <c:v>11.83845006747083</c:v>
                </c:pt>
                <c:pt idx="71">
                  <c:v>8.939888142476951</c:v>
                </c:pt>
                <c:pt idx="72">
                  <c:v>10.3811800870614</c:v>
                </c:pt>
                <c:pt idx="73">
                  <c:v>5.20316249986487</c:v>
                </c:pt>
                <c:pt idx="74">
                  <c:v>5.536867345349715</c:v>
                </c:pt>
                <c:pt idx="75">
                  <c:v>8.95600357302296</c:v>
                </c:pt>
                <c:pt idx="76">
                  <c:v>5.991335410407265</c:v>
                </c:pt>
                <c:pt idx="77">
                  <c:v>21.07148312293181</c:v>
                </c:pt>
                <c:pt idx="78">
                  <c:v>21.54089134646011</c:v>
                </c:pt>
                <c:pt idx="79">
                  <c:v>21.9137173706334</c:v>
                </c:pt>
                <c:pt idx="80">
                  <c:v>21.9137173706334</c:v>
                </c:pt>
                <c:pt idx="81">
                  <c:v>21.23024938619422</c:v>
                </c:pt>
                <c:pt idx="82">
                  <c:v>15.92659411173651</c:v>
                </c:pt>
                <c:pt idx="83">
                  <c:v>20.49003660318838</c:v>
                </c:pt>
                <c:pt idx="84">
                  <c:v>15.72585450778431</c:v>
                </c:pt>
                <c:pt idx="85">
                  <c:v>16.72478400458433</c:v>
                </c:pt>
                <c:pt idx="86">
                  <c:v>15.83551704239555</c:v>
                </c:pt>
                <c:pt idx="87">
                  <c:v>20.55860890235524</c:v>
                </c:pt>
                <c:pt idx="88">
                  <c:v>15.83797966913709</c:v>
                </c:pt>
                <c:pt idx="89">
                  <c:v>20.55860890235524</c:v>
                </c:pt>
                <c:pt idx="90">
                  <c:v>16.76272352572804</c:v>
                </c:pt>
                <c:pt idx="91">
                  <c:v>17.14017502827786</c:v>
                </c:pt>
                <c:pt idx="92">
                  <c:v>15.83797966913709</c:v>
                </c:pt>
                <c:pt idx="93">
                  <c:v>20.55860890235524</c:v>
                </c:pt>
                <c:pt idx="94">
                  <c:v>15.7248338623974</c:v>
                </c:pt>
                <c:pt idx="95">
                  <c:v>16.34778272427181</c:v>
                </c:pt>
                <c:pt idx="96">
                  <c:v>15.90298399672212</c:v>
                </c:pt>
                <c:pt idx="97">
                  <c:v>15.88845143492594</c:v>
                </c:pt>
                <c:pt idx="98">
                  <c:v>23.38459375315295</c:v>
                </c:pt>
                <c:pt idx="99">
                  <c:v>23.33012749643688</c:v>
                </c:pt>
                <c:pt idx="100">
                  <c:v>4.95834901958303</c:v>
                </c:pt>
                <c:pt idx="101">
                  <c:v>4.990240475167507</c:v>
                </c:pt>
                <c:pt idx="102">
                  <c:v>5.172581560497607</c:v>
                </c:pt>
                <c:pt idx="103">
                  <c:v>5.532169556331398</c:v>
                </c:pt>
                <c:pt idx="104">
                  <c:v>5.027613748091634</c:v>
                </c:pt>
                <c:pt idx="105">
                  <c:v>4.957580054825136</c:v>
                </c:pt>
                <c:pt idx="106">
                  <c:v>20.99428493662025</c:v>
                </c:pt>
                <c:pt idx="107">
                  <c:v>18.21035145185287</c:v>
                </c:pt>
                <c:pt idx="108">
                  <c:v>6.019329198507088</c:v>
                </c:pt>
                <c:pt idx="109">
                  <c:v>6.940538595815168</c:v>
                </c:pt>
                <c:pt idx="110">
                  <c:v>6.58830790112302</c:v>
                </c:pt>
                <c:pt idx="111">
                  <c:v>7.066066515395955</c:v>
                </c:pt>
                <c:pt idx="112">
                  <c:v>7.888746668514588</c:v>
                </c:pt>
                <c:pt idx="113">
                  <c:v>6.940538595815168</c:v>
                </c:pt>
                <c:pt idx="114">
                  <c:v>7.634010479426894</c:v>
                </c:pt>
                <c:pt idx="115">
                  <c:v>7.066066515395955</c:v>
                </c:pt>
                <c:pt idx="116">
                  <c:v>7.592101158440911</c:v>
                </c:pt>
                <c:pt idx="117">
                  <c:v>7.602111548773779</c:v>
                </c:pt>
                <c:pt idx="118">
                  <c:v>16.92669193906476</c:v>
                </c:pt>
                <c:pt idx="119">
                  <c:v>17.00959729094128</c:v>
                </c:pt>
                <c:pt idx="120">
                  <c:v>7.576074181263011</c:v>
                </c:pt>
                <c:pt idx="121">
                  <c:v>7.875125395827038</c:v>
                </c:pt>
                <c:pt idx="122">
                  <c:v>7.5752491708194</c:v>
                </c:pt>
                <c:pt idx="123">
                  <c:v>7.555402040924096</c:v>
                </c:pt>
                <c:pt idx="124">
                  <c:v>16.88557076322859</c:v>
                </c:pt>
                <c:pt idx="125">
                  <c:v>16.88197526949971</c:v>
                </c:pt>
                <c:pt idx="126">
                  <c:v>7.597532494172037</c:v>
                </c:pt>
                <c:pt idx="127">
                  <c:v>7.576074181263011</c:v>
                </c:pt>
                <c:pt idx="128">
                  <c:v>7.940503762356643</c:v>
                </c:pt>
                <c:pt idx="129">
                  <c:v>7.584088607077307</c:v>
                </c:pt>
                <c:pt idx="130">
                  <c:v>7.604478943359632</c:v>
                </c:pt>
                <c:pt idx="131">
                  <c:v>7.591053945270051</c:v>
                </c:pt>
                <c:pt idx="132">
                  <c:v>7.553972464869063</c:v>
                </c:pt>
                <c:pt idx="133">
                  <c:v>8.089925154165518</c:v>
                </c:pt>
                <c:pt idx="134">
                  <c:v>9.777527345909087</c:v>
                </c:pt>
                <c:pt idx="135">
                  <c:v>7.812162888726784</c:v>
                </c:pt>
                <c:pt idx="136">
                  <c:v>7.848878900836731</c:v>
                </c:pt>
                <c:pt idx="137">
                  <c:v>8.55049057072166</c:v>
                </c:pt>
                <c:pt idx="138">
                  <c:v>9.850172028954622</c:v>
                </c:pt>
                <c:pt idx="139">
                  <c:v>9.891937929445372</c:v>
                </c:pt>
                <c:pt idx="140">
                  <c:v>9.88356256620051</c:v>
                </c:pt>
                <c:pt idx="141">
                  <c:v>8.478530592030672</c:v>
                </c:pt>
                <c:pt idx="142">
                  <c:v>7.460084718017607</c:v>
                </c:pt>
                <c:pt idx="143">
                  <c:v>9.49840455023895</c:v>
                </c:pt>
                <c:pt idx="144">
                  <c:v>7.011419257183237</c:v>
                </c:pt>
                <c:pt idx="145">
                  <c:v>7.317319796209539</c:v>
                </c:pt>
                <c:pt idx="146">
                  <c:v>7.813099001036655</c:v>
                </c:pt>
                <c:pt idx="147">
                  <c:v>7.782995888473795</c:v>
                </c:pt>
                <c:pt idx="148">
                  <c:v>7.93927351840205</c:v>
                </c:pt>
                <c:pt idx="149">
                  <c:v>7.668024582641869</c:v>
                </c:pt>
                <c:pt idx="150">
                  <c:v>7.668024582641869</c:v>
                </c:pt>
                <c:pt idx="151">
                  <c:v>7.813099001036655</c:v>
                </c:pt>
                <c:pt idx="152">
                  <c:v>7.88355249871528</c:v>
                </c:pt>
                <c:pt idx="153">
                  <c:v>39.56473303334676</c:v>
                </c:pt>
                <c:pt idx="154">
                  <c:v>34.32741761333048</c:v>
                </c:pt>
                <c:pt idx="155">
                  <c:v>21.11706951733597</c:v>
                </c:pt>
                <c:pt idx="156">
                  <c:v>21.09133378902338</c:v>
                </c:pt>
                <c:pt idx="157">
                  <c:v>21.11706951733597</c:v>
                </c:pt>
                <c:pt idx="158">
                  <c:v>20.44896877595543</c:v>
                </c:pt>
                <c:pt idx="159">
                  <c:v>13.58978325802145</c:v>
                </c:pt>
                <c:pt idx="160">
                  <c:v>21.00072722550341</c:v>
                </c:pt>
                <c:pt idx="161">
                  <c:v>20.83279820379392</c:v>
                </c:pt>
                <c:pt idx="162">
                  <c:v>20.83279820379392</c:v>
                </c:pt>
                <c:pt idx="163">
                  <c:v>20.35283803306065</c:v>
                </c:pt>
                <c:pt idx="164">
                  <c:v>13.530584946705</c:v>
                </c:pt>
                <c:pt idx="165">
                  <c:v>21.00072722550341</c:v>
                </c:pt>
                <c:pt idx="166">
                  <c:v>9.693115288698468</c:v>
                </c:pt>
                <c:pt idx="167">
                  <c:v>22.81753711512266</c:v>
                </c:pt>
                <c:pt idx="168">
                  <c:v>25.78519825403712</c:v>
                </c:pt>
                <c:pt idx="169">
                  <c:v>38.10839802458245</c:v>
                </c:pt>
                <c:pt idx="170">
                  <c:v>23.10558754933528</c:v>
                </c:pt>
                <c:pt idx="171">
                  <c:v>26.24093359619662</c:v>
                </c:pt>
                <c:pt idx="172">
                  <c:v>11.55005805180216</c:v>
                </c:pt>
                <c:pt idx="173">
                  <c:v>15.06024382272744</c:v>
                </c:pt>
                <c:pt idx="174">
                  <c:v>11.56699027405141</c:v>
                </c:pt>
                <c:pt idx="175">
                  <c:v>11.58063487033418</c:v>
                </c:pt>
                <c:pt idx="176">
                  <c:v>17.25865394519515</c:v>
                </c:pt>
                <c:pt idx="177">
                  <c:v>11.4455231422596</c:v>
                </c:pt>
                <c:pt idx="178">
                  <c:v>11.56650768382574</c:v>
                </c:pt>
                <c:pt idx="179">
                  <c:v>11.54982250945875</c:v>
                </c:pt>
                <c:pt idx="180">
                  <c:v>17.08788623557636</c:v>
                </c:pt>
                <c:pt idx="181">
                  <c:v>17.13483294345177</c:v>
                </c:pt>
                <c:pt idx="182">
                  <c:v>15.27883794665026</c:v>
                </c:pt>
                <c:pt idx="183">
                  <c:v>11.61637206704399</c:v>
                </c:pt>
                <c:pt idx="184">
                  <c:v>10.60105655111791</c:v>
                </c:pt>
                <c:pt idx="185">
                  <c:v>11.77295629822858</c:v>
                </c:pt>
                <c:pt idx="186">
                  <c:v>11.59417526174242</c:v>
                </c:pt>
                <c:pt idx="187">
                  <c:v>10.98908549425292</c:v>
                </c:pt>
                <c:pt idx="188">
                  <c:v>11.63196028191293</c:v>
                </c:pt>
                <c:pt idx="189">
                  <c:v>8.12404455920818</c:v>
                </c:pt>
                <c:pt idx="190">
                  <c:v>8.124043389839811</c:v>
                </c:pt>
                <c:pt idx="191">
                  <c:v>33.31505515528978</c:v>
                </c:pt>
                <c:pt idx="192">
                  <c:v>33.99838231445725</c:v>
                </c:pt>
                <c:pt idx="193">
                  <c:v>26.61883731495423</c:v>
                </c:pt>
                <c:pt idx="194">
                  <c:v>33.5672593459758</c:v>
                </c:pt>
                <c:pt idx="195">
                  <c:v>34.71535107124799</c:v>
                </c:pt>
                <c:pt idx="196">
                  <c:v>34.0499765051314</c:v>
                </c:pt>
                <c:pt idx="197">
                  <c:v>21.87391368731257</c:v>
                </c:pt>
                <c:pt idx="198">
                  <c:v>34.04320930817188</c:v>
                </c:pt>
                <c:pt idx="199">
                  <c:v>26.63118660518153</c:v>
                </c:pt>
                <c:pt idx="200">
                  <c:v>34.6534904446868</c:v>
                </c:pt>
                <c:pt idx="201">
                  <c:v>21.88718574874351</c:v>
                </c:pt>
                <c:pt idx="202">
                  <c:v>21.95358740616212</c:v>
                </c:pt>
                <c:pt idx="203">
                  <c:v>25.98791257488758</c:v>
                </c:pt>
                <c:pt idx="204">
                  <c:v>33.21338435028859</c:v>
                </c:pt>
                <c:pt idx="205">
                  <c:v>33.108683151101</c:v>
                </c:pt>
                <c:pt idx="206">
                  <c:v>21.81413303342583</c:v>
                </c:pt>
                <c:pt idx="207">
                  <c:v>27.28928177874969</c:v>
                </c:pt>
                <c:pt idx="208">
                  <c:v>26.93515361010587</c:v>
                </c:pt>
                <c:pt idx="209">
                  <c:v>26.11398284444562</c:v>
                </c:pt>
                <c:pt idx="210">
                  <c:v>26.63088620380478</c:v>
                </c:pt>
                <c:pt idx="211">
                  <c:v>26.13520422724874</c:v>
                </c:pt>
                <c:pt idx="212">
                  <c:v>33.2078304018796</c:v>
                </c:pt>
                <c:pt idx="213">
                  <c:v>26.68790175341628</c:v>
                </c:pt>
                <c:pt idx="214">
                  <c:v>34.03119892099013</c:v>
                </c:pt>
                <c:pt idx="215">
                  <c:v>26.21762956485578</c:v>
                </c:pt>
                <c:pt idx="216">
                  <c:v>26.49830183238153</c:v>
                </c:pt>
                <c:pt idx="217">
                  <c:v>21.7688056631502</c:v>
                </c:pt>
                <c:pt idx="218">
                  <c:v>26.26111954963078</c:v>
                </c:pt>
                <c:pt idx="219">
                  <c:v>33.44246402405182</c:v>
                </c:pt>
                <c:pt idx="220">
                  <c:v>21.92635172572036</c:v>
                </c:pt>
                <c:pt idx="221">
                  <c:v>7.324042667816713</c:v>
                </c:pt>
                <c:pt idx="222">
                  <c:v>7.375440597008425</c:v>
                </c:pt>
                <c:pt idx="223">
                  <c:v>7.231688668630585</c:v>
                </c:pt>
                <c:pt idx="224">
                  <c:v>8.8591740021291</c:v>
                </c:pt>
                <c:pt idx="225">
                  <c:v>9.21560763053636</c:v>
                </c:pt>
                <c:pt idx="226">
                  <c:v>9.41493627169085</c:v>
                </c:pt>
                <c:pt idx="227">
                  <c:v>9.5451969073456</c:v>
                </c:pt>
                <c:pt idx="228">
                  <c:v>7.373164585169653</c:v>
                </c:pt>
                <c:pt idx="229">
                  <c:v>8.032004980078133</c:v>
                </c:pt>
                <c:pt idx="230">
                  <c:v>8.679078292076868</c:v>
                </c:pt>
                <c:pt idx="231">
                  <c:v>8.43666053601779</c:v>
                </c:pt>
                <c:pt idx="232">
                  <c:v>9.56476220300327</c:v>
                </c:pt>
                <c:pt idx="233">
                  <c:v>7.70927778718604</c:v>
                </c:pt>
                <c:pt idx="234">
                  <c:v>17.77638883463118</c:v>
                </c:pt>
                <c:pt idx="235">
                  <c:v>15.90597372058687</c:v>
                </c:pt>
                <c:pt idx="236">
                  <c:v>17.77638883463118</c:v>
                </c:pt>
                <c:pt idx="237">
                  <c:v>17.89029066281485</c:v>
                </c:pt>
                <c:pt idx="238">
                  <c:v>9.263368717696581</c:v>
                </c:pt>
                <c:pt idx="239">
                  <c:v>9.223585474206871</c:v>
                </c:pt>
                <c:pt idx="240">
                  <c:v>17.61391495380853</c:v>
                </c:pt>
                <c:pt idx="241">
                  <c:v>21.37855095650778</c:v>
                </c:pt>
                <c:pt idx="242">
                  <c:v>21.38824387367966</c:v>
                </c:pt>
                <c:pt idx="243">
                  <c:v>21.47007182102566</c:v>
                </c:pt>
                <c:pt idx="244">
                  <c:v>21.466774699521</c:v>
                </c:pt>
                <c:pt idx="245">
                  <c:v>21.47521196635786</c:v>
                </c:pt>
                <c:pt idx="246">
                  <c:v>21.56080898296722</c:v>
                </c:pt>
                <c:pt idx="247">
                  <c:v>23.47104599288238</c:v>
                </c:pt>
                <c:pt idx="248">
                  <c:v>34.2559323329551</c:v>
                </c:pt>
                <c:pt idx="249">
                  <c:v>14.8946164771034</c:v>
                </c:pt>
                <c:pt idx="250">
                  <c:v>20.70087920838147</c:v>
                </c:pt>
                <c:pt idx="251">
                  <c:v>23.31626256499956</c:v>
                </c:pt>
                <c:pt idx="252">
                  <c:v>6.24709284387545</c:v>
                </c:pt>
                <c:pt idx="253">
                  <c:v>6.347136677274233</c:v>
                </c:pt>
                <c:pt idx="254">
                  <c:v>14.5657131648265</c:v>
                </c:pt>
                <c:pt idx="255">
                  <c:v>14.56159331941391</c:v>
                </c:pt>
                <c:pt idx="256">
                  <c:v>14.56159331941391</c:v>
                </c:pt>
                <c:pt idx="257">
                  <c:v>11.35598520604885</c:v>
                </c:pt>
                <c:pt idx="258">
                  <c:v>8.34451220863149</c:v>
                </c:pt>
                <c:pt idx="259">
                  <c:v>12.30131086510702</c:v>
                </c:pt>
                <c:pt idx="260">
                  <c:v>7.628072430175266</c:v>
                </c:pt>
                <c:pt idx="261">
                  <c:v>7.628072430175266</c:v>
                </c:pt>
                <c:pt idx="262">
                  <c:v>22.25089885824841</c:v>
                </c:pt>
                <c:pt idx="263">
                  <c:v>22.22103507940168</c:v>
                </c:pt>
                <c:pt idx="264">
                  <c:v>5.126021849348668</c:v>
                </c:pt>
                <c:pt idx="265">
                  <c:v>5.441038503815242</c:v>
                </c:pt>
                <c:pt idx="266">
                  <c:v>13.3510299228187</c:v>
                </c:pt>
                <c:pt idx="267">
                  <c:v>13.35179388696515</c:v>
                </c:pt>
                <c:pt idx="268">
                  <c:v>24.22238570000899</c:v>
                </c:pt>
                <c:pt idx="269">
                  <c:v>23.87681930241128</c:v>
                </c:pt>
                <c:pt idx="270">
                  <c:v>24.20955389923573</c:v>
                </c:pt>
                <c:pt idx="271">
                  <c:v>8.83268928469693</c:v>
                </c:pt>
                <c:pt idx="272">
                  <c:v>7.498821507410348</c:v>
                </c:pt>
                <c:pt idx="273">
                  <c:v>17.68595264609741</c:v>
                </c:pt>
                <c:pt idx="274">
                  <c:v>8.103819408155638</c:v>
                </c:pt>
                <c:pt idx="275">
                  <c:v>7.483314773547883</c:v>
                </c:pt>
                <c:pt idx="276">
                  <c:v>18.36052311346275</c:v>
                </c:pt>
                <c:pt idx="277">
                  <c:v>7.43191018514083</c:v>
                </c:pt>
                <c:pt idx="278">
                  <c:v>7.75089420647707</c:v>
                </c:pt>
                <c:pt idx="279">
                  <c:v>17.88880680761017</c:v>
                </c:pt>
                <c:pt idx="280">
                  <c:v>21.50866153436785</c:v>
                </c:pt>
                <c:pt idx="281">
                  <c:v>7.95002899365783</c:v>
                </c:pt>
                <c:pt idx="282">
                  <c:v>18.96769474659479</c:v>
                </c:pt>
                <c:pt idx="283">
                  <c:v>16.77820398612428</c:v>
                </c:pt>
                <c:pt idx="284">
                  <c:v>20.41266900726112</c:v>
                </c:pt>
                <c:pt idx="285">
                  <c:v>23.40421192862514</c:v>
                </c:pt>
                <c:pt idx="286">
                  <c:v>9.39414711402797</c:v>
                </c:pt>
                <c:pt idx="287">
                  <c:v>8.069255789724353</c:v>
                </c:pt>
                <c:pt idx="288">
                  <c:v>23.6738346914901</c:v>
                </c:pt>
                <c:pt idx="289">
                  <c:v>23.70531155669547</c:v>
                </c:pt>
                <c:pt idx="290">
                  <c:v>19.92485884517128</c:v>
                </c:pt>
                <c:pt idx="291">
                  <c:v>26.26151863468676</c:v>
                </c:pt>
                <c:pt idx="292">
                  <c:v>22.15782771392539</c:v>
                </c:pt>
                <c:pt idx="293">
                  <c:v>23.6738346914901</c:v>
                </c:pt>
                <c:pt idx="294">
                  <c:v>26.9526786980441</c:v>
                </c:pt>
                <c:pt idx="295">
                  <c:v>18.61612204515215</c:v>
                </c:pt>
                <c:pt idx="296">
                  <c:v>26.90927143198046</c:v>
                </c:pt>
                <c:pt idx="297">
                  <c:v>22.60262040118357</c:v>
                </c:pt>
                <c:pt idx="298">
                  <c:v>21.87368796065264</c:v>
                </c:pt>
                <c:pt idx="299">
                  <c:v>21.94975434942268</c:v>
                </c:pt>
                <c:pt idx="300">
                  <c:v>21.94975434942268</c:v>
                </c:pt>
                <c:pt idx="301">
                  <c:v>35.06344107471485</c:v>
                </c:pt>
                <c:pt idx="302">
                  <c:v>30.32649666545742</c:v>
                </c:pt>
                <c:pt idx="303">
                  <c:v>13.41373922513778</c:v>
                </c:pt>
                <c:pt idx="304">
                  <c:v>15.78441003015317</c:v>
                </c:pt>
                <c:pt idx="305">
                  <c:v>23.19085356342021</c:v>
                </c:pt>
                <c:pt idx="306">
                  <c:v>6.390618123468183</c:v>
                </c:pt>
                <c:pt idx="307">
                  <c:v>0.0</c:v>
                </c:pt>
                <c:pt idx="308">
                  <c:v>11.48938331678424</c:v>
                </c:pt>
                <c:pt idx="309">
                  <c:v>0.0</c:v>
                </c:pt>
                <c:pt idx="310">
                  <c:v>6.001301942078902</c:v>
                </c:pt>
                <c:pt idx="311">
                  <c:v>6.001301942078902</c:v>
                </c:pt>
                <c:pt idx="312">
                  <c:v>15.87450786638755</c:v>
                </c:pt>
                <c:pt idx="313">
                  <c:v>10.51855503384377</c:v>
                </c:pt>
                <c:pt idx="314">
                  <c:v>10.27363616252785</c:v>
                </c:pt>
                <c:pt idx="315">
                  <c:v>24.87271438745679</c:v>
                </c:pt>
                <c:pt idx="316">
                  <c:v>23.70696153031847</c:v>
                </c:pt>
                <c:pt idx="317">
                  <c:v>23.39674584210377</c:v>
                </c:pt>
                <c:pt idx="318">
                  <c:v>24.82835493946387</c:v>
                </c:pt>
                <c:pt idx="319">
                  <c:v>23.40559815514228</c:v>
                </c:pt>
                <c:pt idx="320">
                  <c:v>23.32582793814615</c:v>
                </c:pt>
                <c:pt idx="321">
                  <c:v>24.79922113696312</c:v>
                </c:pt>
                <c:pt idx="322">
                  <c:v>23.3437206974381</c:v>
                </c:pt>
                <c:pt idx="323">
                  <c:v>23.60275246660863</c:v>
                </c:pt>
                <c:pt idx="324">
                  <c:v>10.72624892495042</c:v>
                </c:pt>
                <c:pt idx="325">
                  <c:v>19.44311088792109</c:v>
                </c:pt>
                <c:pt idx="326">
                  <c:v>11.48678266530711</c:v>
                </c:pt>
                <c:pt idx="327">
                  <c:v>18.66475619985431</c:v>
                </c:pt>
                <c:pt idx="328">
                  <c:v>18.56039870261412</c:v>
                </c:pt>
                <c:pt idx="329">
                  <c:v>9.808333650523925</c:v>
                </c:pt>
                <c:pt idx="330">
                  <c:v>11.69155973341453</c:v>
                </c:pt>
                <c:pt idx="331">
                  <c:v>12.12908772332033</c:v>
                </c:pt>
                <c:pt idx="332">
                  <c:v>12.29260346712607</c:v>
                </c:pt>
                <c:pt idx="333">
                  <c:v>11.84300979481145</c:v>
                </c:pt>
                <c:pt idx="334">
                  <c:v>11.50157137090407</c:v>
                </c:pt>
                <c:pt idx="335">
                  <c:v>17.14779055738668</c:v>
                </c:pt>
                <c:pt idx="336">
                  <c:v>15.00011999952</c:v>
                </c:pt>
                <c:pt idx="337">
                  <c:v>10.53</c:v>
                </c:pt>
                <c:pt idx="338">
                  <c:v>5.381449618829484</c:v>
                </c:pt>
                <c:pt idx="339">
                  <c:v>9.871783020305906</c:v>
                </c:pt>
                <c:pt idx="340">
                  <c:v>15.00299970006</c:v>
                </c:pt>
                <c:pt idx="341">
                  <c:v>16.28302490325431</c:v>
                </c:pt>
                <c:pt idx="342">
                  <c:v>4.704561616133856</c:v>
                </c:pt>
                <c:pt idx="343">
                  <c:v>12.18862174324891</c:v>
                </c:pt>
                <c:pt idx="344">
                  <c:v>5.796766339951956</c:v>
                </c:pt>
                <c:pt idx="345">
                  <c:v>7.642643521714196</c:v>
                </c:pt>
                <c:pt idx="346">
                  <c:v>7.417553505031157</c:v>
                </c:pt>
                <c:pt idx="347">
                  <c:v>7.502006398291059</c:v>
                </c:pt>
                <c:pt idx="348">
                  <c:v>9.07457552726297</c:v>
                </c:pt>
                <c:pt idx="349">
                  <c:v>9.42549733435855</c:v>
                </c:pt>
                <c:pt idx="350">
                  <c:v>9.48683298050514</c:v>
                </c:pt>
                <c:pt idx="351">
                  <c:v>8.488674808237146</c:v>
                </c:pt>
                <c:pt idx="352">
                  <c:v>9.000000055555553</c:v>
                </c:pt>
                <c:pt idx="353">
                  <c:v>9.33783277854128</c:v>
                </c:pt>
                <c:pt idx="354">
                  <c:v>9.05874715399431</c:v>
                </c:pt>
                <c:pt idx="355">
                  <c:v>8.592002094971812</c:v>
                </c:pt>
                <c:pt idx="356">
                  <c:v>8.49044262685992</c:v>
                </c:pt>
                <c:pt idx="357">
                  <c:v>9.396275858019494</c:v>
                </c:pt>
                <c:pt idx="358">
                  <c:v>9.000102721636015</c:v>
                </c:pt>
                <c:pt idx="359">
                  <c:v>23.05281110840932</c:v>
                </c:pt>
                <c:pt idx="360">
                  <c:v>22.34597055399474</c:v>
                </c:pt>
                <c:pt idx="361">
                  <c:v>7.322902430047787</c:v>
                </c:pt>
                <c:pt idx="362">
                  <c:v>22.22319508981551</c:v>
                </c:pt>
                <c:pt idx="363">
                  <c:v>8.176944172488887</c:v>
                </c:pt>
                <c:pt idx="364">
                  <c:v>30.05915667479712</c:v>
                </c:pt>
                <c:pt idx="365">
                  <c:v>21.22272602659702</c:v>
                </c:pt>
                <c:pt idx="366">
                  <c:v>8.60290648560125</c:v>
                </c:pt>
                <c:pt idx="367">
                  <c:v>10.19026986885038</c:v>
                </c:pt>
                <c:pt idx="368">
                  <c:v>8.708708285388818</c:v>
                </c:pt>
                <c:pt idx="369">
                  <c:v>7.483982896827062</c:v>
                </c:pt>
                <c:pt idx="370">
                  <c:v>9.3107249986239</c:v>
                </c:pt>
                <c:pt idx="371">
                  <c:v>9.539392014169456</c:v>
                </c:pt>
                <c:pt idx="372">
                  <c:v>46.24932431938871</c:v>
                </c:pt>
                <c:pt idx="373">
                  <c:v>46.167871945759</c:v>
                </c:pt>
                <c:pt idx="374">
                  <c:v>46.24932431938871</c:v>
                </c:pt>
                <c:pt idx="375">
                  <c:v>46.0760241340331</c:v>
                </c:pt>
              </c:numCache>
            </c:numRef>
          </c:yVal>
          <c:smooth val="0"/>
        </c:ser>
        <c:dLbls>
          <c:showLegendKey val="0"/>
          <c:showVal val="0"/>
          <c:showCatName val="0"/>
          <c:showSerName val="0"/>
          <c:showPercent val="0"/>
          <c:showBubbleSize val="0"/>
        </c:dLbls>
        <c:axId val="2139389816"/>
        <c:axId val="2139395320"/>
      </c:scatterChart>
      <c:valAx>
        <c:axId val="2139389816"/>
        <c:scaling>
          <c:orientation val="minMax"/>
        </c:scaling>
        <c:delete val="0"/>
        <c:axPos val="b"/>
        <c:title>
          <c:tx>
            <c:rich>
              <a:bodyPr/>
              <a:lstStyle/>
              <a:p>
                <a:pPr>
                  <a:defRPr sz="1400"/>
                </a:pPr>
                <a:r>
                  <a:rPr lang="en-US" sz="1400"/>
                  <a:t>Partial Correlation Coefficient</a:t>
                </a:r>
              </a:p>
            </c:rich>
          </c:tx>
          <c:layout/>
          <c:overlay val="0"/>
        </c:title>
        <c:numFmt formatCode="General" sourceLinked="1"/>
        <c:majorTickMark val="out"/>
        <c:minorTickMark val="none"/>
        <c:tickLblPos val="nextTo"/>
        <c:crossAx val="2139395320"/>
        <c:crosses val="autoZero"/>
        <c:crossBetween val="midCat"/>
      </c:valAx>
      <c:valAx>
        <c:axId val="2139395320"/>
        <c:scaling>
          <c:orientation val="minMax"/>
        </c:scaling>
        <c:delete val="0"/>
        <c:axPos val="l"/>
        <c:majorGridlines/>
        <c:title>
          <c:tx>
            <c:rich>
              <a:bodyPr rot="-5400000" vert="horz"/>
              <a:lstStyle/>
              <a:p>
                <a:pPr>
                  <a:defRPr sz="1400"/>
                </a:pPr>
                <a:r>
                  <a:rPr lang="en-US" sz="1400"/>
                  <a:t>Precision</a:t>
                </a:r>
                <a:r>
                  <a:rPr lang="en-US" sz="1400" baseline="0"/>
                  <a:t> (1/SE)</a:t>
                </a:r>
                <a:endParaRPr lang="en-US" sz="1400"/>
              </a:p>
            </c:rich>
          </c:tx>
          <c:layout/>
          <c:overlay val="0"/>
        </c:title>
        <c:numFmt formatCode="General" sourceLinked="1"/>
        <c:majorTickMark val="out"/>
        <c:minorTickMark val="none"/>
        <c:tickLblPos val="nextTo"/>
        <c:crossAx val="2139389816"/>
        <c:crosses val="autoZero"/>
        <c:crossBetween val="midCat"/>
      </c:valAx>
    </c:plotArea>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D7C3A134-F1C3-464B-BF47-54DC2DE08F52}" type="datetimeFigureOut">
              <a:rPr lang="en-US" smtClean="0"/>
              <a:t>9/11/15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48F39E-9C37-485F-AC97-16BB4BDF9F49}" type="slidenum">
              <a:rPr kumimoji="0" lang="en-US" smtClean="0"/>
              <a:t>‹#›</a:t>
            </a:fld>
            <a:endParaRPr kumimoji="0"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C3A134-F1C3-464B-BF47-54DC2DE08F52}" type="datetimeFigureOut">
              <a:rPr lang="en-US" smtClean="0"/>
              <a:t>9/11/15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48F39E-9C37-485F-AC97-16BB4BDF9F49}" type="slidenum">
              <a:rPr kumimoji="0" lang="en-US" smtClean="0"/>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7C3A134-F1C3-464B-BF47-54DC2DE08F52}" type="datetimeFigureOut">
              <a:rPr lang="en-US" smtClean="0"/>
              <a:t>9/11/15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48F39E-9C37-485F-AC97-16BB4BDF9F49}" type="slidenum">
              <a:rPr kumimoji="0" lang="en-US" smtClean="0"/>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7C3A134-F1C3-464B-BF47-54DC2DE08F52}" type="datetimeFigureOut">
              <a:rPr lang="en-US" smtClean="0"/>
              <a:t>9/11/15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9648F39E-9C37-485F-AC97-16BB4BDF9F49}" type="slidenum">
              <a:rPr kumimoji="0" lang="en-US" smtClean="0"/>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7C3A134-F1C3-464B-BF47-54DC2DE08F52}" type="datetimeFigureOut">
              <a:rPr lang="en-US" smtClean="0"/>
              <a:t>9/11/15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9648F39E-9C37-485F-AC97-16BB4BDF9F49}" type="slidenum">
              <a:rPr kumimoji="0" lang="en-US" smtClean="0"/>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7C3A134-F1C3-464B-BF47-54DC2DE08F52}" type="datetimeFigureOut">
              <a:rPr lang="en-US" smtClean="0"/>
              <a:t>9/11/15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9648F39E-9C37-485F-AC97-16BB4BDF9F49}" type="slidenum">
              <a:rPr kumimoji="0" lang="en-US" smtClean="0"/>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C3A134-F1C3-464B-BF47-54DC2DE08F52}" type="datetimeFigureOut">
              <a:rPr lang="en-US" smtClean="0"/>
              <a:t>9/11/15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9648F39E-9C37-485F-AC97-16BB4BDF9F49}" type="slidenum">
              <a:rPr kumimoji="0" lang="en-US" smtClean="0"/>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7C3A134-F1C3-464B-BF47-54DC2DE08F52}" type="datetimeFigureOut">
              <a:rPr lang="en-US" smtClean="0"/>
              <a:t>9/11/15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9648F39E-9C37-485F-AC97-16BB4BDF9F49}" type="slidenum">
              <a:rPr kumimoji="0" lang="en-US" smtClean="0"/>
              <a:t>‹#›</a:t>
            </a:fld>
            <a:endParaRPr kumimoji="0"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Drag picture to placeholder or click icon to add</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D7C3A134-F1C3-464B-BF47-54DC2DE08F52}" type="datetimeFigureOut">
              <a:rPr lang="en-US" smtClean="0"/>
              <a:t>9/11/15</a:t>
            </a:fld>
            <a:endParaRPr lang="en-US" dirty="0"/>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kumimoji="0" lang="en-US" dirty="0"/>
          </a:p>
        </p:txBody>
      </p:sp>
      <p:sp>
        <p:nvSpPr>
          <p:cNvPr id="7" name="Slide Number Placeholder 6"/>
          <p:cNvSpPr>
            <a:spLocks noGrp="1"/>
          </p:cNvSpPr>
          <p:nvPr>
            <p:ph type="sldNum" sz="quarter" idx="12"/>
          </p:nvPr>
        </p:nvSpPr>
        <p:spPr>
          <a:xfrm>
            <a:off x="8339328" y="1170432"/>
            <a:ext cx="733864" cy="201168"/>
          </a:xfrm>
        </p:spPr>
        <p:txBody>
          <a:bodyPr/>
          <a:lstStyle/>
          <a:p>
            <a:fld id="{9648F39E-9C37-485F-AC97-16BB4BDF9F49}" type="slidenum">
              <a:rPr kumimoji="0" lang="en-US" smtClean="0"/>
              <a:t>‹#›</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C3A134-F1C3-464B-BF47-54DC2DE08F52}" type="datetimeFigureOut">
              <a:rPr lang="en-US" smtClean="0"/>
              <a:t>9/11/15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48F39E-9C37-485F-AC97-16BB4BDF9F49}" type="slidenum">
              <a:rPr kumimoji="0" lang="en-US" smtClean="0"/>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C3A134-F1C3-464B-BF47-54DC2DE08F52}" type="datetimeFigureOut">
              <a:rPr lang="en-US" smtClean="0"/>
              <a:t>9/11/15</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kumimoji="0" lang="en-US"/>
          </a:p>
        </p:txBody>
      </p:sp>
      <p:sp>
        <p:nvSpPr>
          <p:cNvPr id="6" name="Slide Number Placeholder 5"/>
          <p:cNvSpPr>
            <a:spLocks noGrp="1"/>
          </p:cNvSpPr>
          <p:nvPr>
            <p:ph type="sldNum" sz="quarter" idx="12"/>
          </p:nvPr>
        </p:nvSpPr>
        <p:spPr/>
        <p:txBody>
          <a:bodyPr/>
          <a:lstStyle/>
          <a:p>
            <a:fld id="{9648F39E-9C37-485F-AC97-16BB4BDF9F49}" type="slidenum">
              <a:rPr kumimoji="0" lang="en-US" smtClean="0"/>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D7C3A134-F1C3-464B-BF47-54DC2DE08F52}" type="datetimeFigureOut">
              <a:rPr lang="en-US" smtClean="0"/>
              <a:t>9/11/15</a:t>
            </a:fld>
            <a:endParaRPr lang="en-US" dirty="0"/>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kumimoji="0" lang="en-US" dirty="0"/>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9648F39E-9C37-485F-AC97-16BB4BDF9F49}" type="slidenum">
              <a:rPr kumimoji="0" lang="en-US" smtClean="0"/>
              <a:t>‹#›</a:t>
            </a:fld>
            <a:endParaRPr kumimoji="0"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package" Target="../embeddings/Microsoft_Word_Document1.docx"/><Relationship Id="rId5" Type="http://schemas.openxmlformats.org/officeDocument/2006/relationships/image" Target="../media/image3.png"/><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package" Target="../embeddings/Microsoft_Word_Document2.docx"/><Relationship Id="rId5" Type="http://schemas.openxmlformats.org/officeDocument/2006/relationships/image" Target="../media/image4.png"/><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dx.doi.org/10.5089/9781451871241.001" TargetMode="External"/><Relationship Id="rId3" Type="http://schemas.openxmlformats.org/officeDocument/2006/relationships/hyperlink" Target="http://dx.doi.org/10.1016/j.jimonfin.2012.11.013"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econ.umn.edu/~tkehoe/classes/Krugman1.pdf"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50799"/>
            <a:ext cx="9144001" cy="6807201"/>
          </a:xfrm>
          <a:prstGeom prst="rect">
            <a:avLst/>
          </a:prstGeom>
        </p:spPr>
      </p:pic>
    </p:spTree>
    <p:extLst>
      <p:ext uri="{BB962C8B-B14F-4D97-AF65-F5344CB8AC3E}">
        <p14:creationId xmlns:p14="http://schemas.microsoft.com/office/powerpoint/2010/main" val="2972216634"/>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60065" y="985042"/>
            <a:ext cx="8077200" cy="1673352"/>
          </a:xfrm>
        </p:spPr>
        <p:txBody>
          <a:bodyPr>
            <a:normAutofit fontScale="90000"/>
          </a:bodyPr>
          <a:lstStyle/>
          <a:p>
            <a:pPr algn="ctr"/>
            <a:r>
              <a:rPr lang="en-US" dirty="0" smtClean="0"/>
              <a:t>Financial Deregulation and its Effect on Economic Growth: A Meta-Analysis  </a:t>
            </a:r>
            <a:endParaRPr lang="en-US" dirty="0"/>
          </a:p>
        </p:txBody>
      </p:sp>
      <p:sp>
        <p:nvSpPr>
          <p:cNvPr id="4" name="TextBox 3"/>
          <p:cNvSpPr txBox="1"/>
          <p:nvPr/>
        </p:nvSpPr>
        <p:spPr>
          <a:xfrm>
            <a:off x="3319375" y="5839385"/>
            <a:ext cx="2187771" cy="369332"/>
          </a:xfrm>
          <a:prstGeom prst="rect">
            <a:avLst/>
          </a:prstGeom>
          <a:noFill/>
        </p:spPr>
        <p:txBody>
          <a:bodyPr wrap="square" rtlCol="0">
            <a:spAutoFit/>
          </a:bodyPr>
          <a:lstStyle/>
          <a:p>
            <a:r>
              <a:rPr lang="en-US" dirty="0" smtClean="0"/>
              <a:t>By: Joseph Korkames</a:t>
            </a:r>
            <a:endParaRPr lang="en-US" dirty="0"/>
          </a:p>
        </p:txBody>
      </p:sp>
    </p:spTree>
    <p:extLst>
      <p:ext uri="{BB962C8B-B14F-4D97-AF65-F5344CB8AC3E}">
        <p14:creationId xmlns:p14="http://schemas.microsoft.com/office/powerpoint/2010/main" val="361853028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Motivations for Research</a:t>
            </a:r>
            <a:endParaRPr lang="en-US" dirty="0"/>
          </a:p>
        </p:txBody>
      </p:sp>
      <p:sp>
        <p:nvSpPr>
          <p:cNvPr id="3" name="Content Placeholder 2"/>
          <p:cNvSpPr>
            <a:spLocks noGrp="1"/>
          </p:cNvSpPr>
          <p:nvPr>
            <p:ph idx="1"/>
          </p:nvPr>
        </p:nvSpPr>
        <p:spPr>
          <a:xfrm>
            <a:off x="457200" y="1887716"/>
            <a:ext cx="8229600" cy="4625609"/>
          </a:xfrm>
        </p:spPr>
        <p:txBody>
          <a:bodyPr/>
          <a:lstStyle/>
          <a:p>
            <a:r>
              <a:rPr lang="en-US" dirty="0" smtClean="0"/>
              <a:t>To explore </a:t>
            </a:r>
            <a:r>
              <a:rPr lang="en-US" dirty="0"/>
              <a:t>the effects of international financial policies in the hopes of influencing international development </a:t>
            </a:r>
            <a:endParaRPr lang="en-US" dirty="0" smtClean="0"/>
          </a:p>
          <a:p>
            <a:r>
              <a:rPr lang="en-US" dirty="0" smtClean="0"/>
              <a:t>To evaluate </a:t>
            </a:r>
            <a:r>
              <a:rPr lang="en-US" dirty="0"/>
              <a:t>the validity of the McKinnon-Shaw hypotheses based on the magnitude and direction of these effects </a:t>
            </a:r>
            <a:endParaRPr lang="en-US" dirty="0" smtClean="0"/>
          </a:p>
          <a:p>
            <a:r>
              <a:rPr lang="en-US" dirty="0" smtClean="0"/>
              <a:t>To provide evidence </a:t>
            </a:r>
            <a:r>
              <a:rPr lang="en-US" dirty="0"/>
              <a:t>to support certain policy agendas that will promote global economic growth and welfare </a:t>
            </a:r>
          </a:p>
          <a:p>
            <a:pPr marL="118872" indent="0">
              <a:buNone/>
            </a:pPr>
            <a:endParaRPr lang="en-US" dirty="0"/>
          </a:p>
        </p:txBody>
      </p:sp>
    </p:spTree>
    <p:extLst>
      <p:ext uri="{BB962C8B-B14F-4D97-AF65-F5344CB8AC3E}">
        <p14:creationId xmlns:p14="http://schemas.microsoft.com/office/powerpoint/2010/main" val="3270827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Purpose of the Paper</a:t>
            </a:r>
            <a:endParaRPr lang="en-US" dirty="0"/>
          </a:p>
        </p:txBody>
      </p:sp>
      <p:sp>
        <p:nvSpPr>
          <p:cNvPr id="3" name="Content Placeholder 2"/>
          <p:cNvSpPr>
            <a:spLocks noGrp="1"/>
          </p:cNvSpPr>
          <p:nvPr>
            <p:ph idx="1"/>
          </p:nvPr>
        </p:nvSpPr>
        <p:spPr/>
        <p:txBody>
          <a:bodyPr/>
          <a:lstStyle/>
          <a:p>
            <a:r>
              <a:rPr lang="en-US" dirty="0" smtClean="0"/>
              <a:t> To report a summary of the scholarly literature </a:t>
            </a:r>
          </a:p>
          <a:p>
            <a:pPr marL="118872" indent="0">
              <a:buNone/>
            </a:pPr>
            <a:endParaRPr lang="en-US" dirty="0" smtClean="0"/>
          </a:p>
          <a:p>
            <a:r>
              <a:rPr lang="en-US" dirty="0" smtClean="0"/>
              <a:t>To estimate </a:t>
            </a:r>
            <a:r>
              <a:rPr lang="en-US" dirty="0"/>
              <a:t>the true effect of financial deregulation on economic growth through a comprehensive WLS multivariate meta-regression analysis </a:t>
            </a:r>
          </a:p>
        </p:txBody>
      </p:sp>
    </p:spTree>
    <p:extLst>
      <p:ext uri="{BB962C8B-B14F-4D97-AF65-F5344CB8AC3E}">
        <p14:creationId xmlns:p14="http://schemas.microsoft.com/office/powerpoint/2010/main" val="3588284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Financial Deregulation?</a:t>
            </a:r>
            <a:endParaRPr lang="en-US" dirty="0"/>
          </a:p>
        </p:txBody>
      </p:sp>
      <p:sp>
        <p:nvSpPr>
          <p:cNvPr id="3" name="Content Placeholder 2"/>
          <p:cNvSpPr>
            <a:spLocks noGrp="1"/>
          </p:cNvSpPr>
          <p:nvPr>
            <p:ph idx="1"/>
          </p:nvPr>
        </p:nvSpPr>
        <p:spPr>
          <a:xfrm>
            <a:off x="478301" y="1775191"/>
            <a:ext cx="8229600" cy="4625609"/>
          </a:xfrm>
        </p:spPr>
        <p:txBody>
          <a:bodyPr/>
          <a:lstStyle/>
          <a:p>
            <a:r>
              <a:rPr lang="en-US" dirty="0"/>
              <a:t>Financial </a:t>
            </a:r>
            <a:r>
              <a:rPr lang="en-US" dirty="0" smtClean="0"/>
              <a:t>deregulation (FD) </a:t>
            </a:r>
            <a:r>
              <a:rPr lang="en-US" dirty="0"/>
              <a:t>= </a:t>
            </a:r>
            <a:r>
              <a:rPr lang="en-US" dirty="0" smtClean="0"/>
              <a:t>Financial liberalization</a:t>
            </a:r>
          </a:p>
          <a:p>
            <a:pPr marL="118872" indent="0">
              <a:buNone/>
            </a:pPr>
            <a:endParaRPr lang="en-US" dirty="0" smtClean="0"/>
          </a:p>
          <a:p>
            <a:r>
              <a:rPr lang="en-US" dirty="0" smtClean="0"/>
              <a:t> FD consists </a:t>
            </a:r>
            <a:r>
              <a:rPr lang="en-US" dirty="0"/>
              <a:t>of the removal of interest rate controls, capital account restrictions, and/or any other laws or regulations that restrict the actions of financial institutions. </a:t>
            </a:r>
          </a:p>
          <a:p>
            <a:pPr marL="118872" indent="0">
              <a:buNone/>
            </a:pPr>
            <a:endParaRPr lang="en-US" dirty="0"/>
          </a:p>
        </p:txBody>
      </p:sp>
    </p:spTree>
    <p:extLst>
      <p:ext uri="{BB962C8B-B14F-4D97-AF65-F5344CB8AC3E}">
        <p14:creationId xmlns:p14="http://schemas.microsoft.com/office/powerpoint/2010/main" val="333975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Study</a:t>
            </a:r>
            <a:endParaRPr lang="en-US" dirty="0"/>
          </a:p>
        </p:txBody>
      </p:sp>
      <p:sp>
        <p:nvSpPr>
          <p:cNvPr id="3" name="Content Placeholder 2"/>
          <p:cNvSpPr>
            <a:spLocks noGrp="1"/>
          </p:cNvSpPr>
          <p:nvPr>
            <p:ph idx="1"/>
          </p:nvPr>
        </p:nvSpPr>
        <p:spPr/>
        <p:txBody>
          <a:bodyPr/>
          <a:lstStyle/>
          <a:p>
            <a:r>
              <a:rPr lang="en-US" dirty="0"/>
              <a:t>Meta-Analysis Based on 374 estimates from 53 </a:t>
            </a:r>
            <a:r>
              <a:rPr lang="en-US" dirty="0" smtClean="0"/>
              <a:t>studies examining the effect of financial deregulation on economic growth rates</a:t>
            </a:r>
          </a:p>
          <a:p>
            <a:pPr marL="118872" indent="0">
              <a:buNone/>
            </a:pPr>
            <a:endParaRPr lang="en-US" dirty="0"/>
          </a:p>
          <a:p>
            <a:r>
              <a:rPr lang="en-US" dirty="0"/>
              <a:t>Positive long-run prediction </a:t>
            </a:r>
            <a:r>
              <a:rPr lang="en-US" dirty="0" smtClean="0"/>
              <a:t>interval found </a:t>
            </a:r>
            <a:r>
              <a:rPr lang="en-US" dirty="0"/>
              <a:t>with smaller short-run effects </a:t>
            </a:r>
            <a:r>
              <a:rPr lang="en-US" dirty="0" smtClean="0"/>
              <a:t>also shown</a:t>
            </a:r>
            <a:endParaRPr lang="en-US" dirty="0"/>
          </a:p>
          <a:p>
            <a:endParaRPr lang="en-US" dirty="0"/>
          </a:p>
        </p:txBody>
      </p:sp>
    </p:spTree>
    <p:extLst>
      <p:ext uri="{BB962C8B-B14F-4D97-AF65-F5344CB8AC3E}">
        <p14:creationId xmlns:p14="http://schemas.microsoft.com/office/powerpoint/2010/main" val="2252538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Meta-Analysis?</a:t>
            </a:r>
            <a:endParaRPr lang="en-US" dirty="0"/>
          </a:p>
        </p:txBody>
      </p:sp>
      <p:sp>
        <p:nvSpPr>
          <p:cNvPr id="3" name="Content Placeholder 2"/>
          <p:cNvSpPr>
            <a:spLocks noGrp="1"/>
          </p:cNvSpPr>
          <p:nvPr>
            <p:ph idx="1"/>
          </p:nvPr>
        </p:nvSpPr>
        <p:spPr/>
        <p:txBody>
          <a:bodyPr/>
          <a:lstStyle/>
          <a:p>
            <a:r>
              <a:rPr lang="en-US" dirty="0" smtClean="0"/>
              <a:t>provides </a:t>
            </a:r>
            <a:r>
              <a:rPr lang="en-US" dirty="0"/>
              <a:t>econometricians with an objective statistical method to combine </a:t>
            </a:r>
            <a:r>
              <a:rPr lang="en-US" dirty="0" smtClean="0"/>
              <a:t>many estimates </a:t>
            </a:r>
            <a:r>
              <a:rPr lang="en-US" dirty="0"/>
              <a:t>into one “meta-estimate” to more accurately estimate the phenomena. </a:t>
            </a:r>
            <a:endParaRPr lang="en-US" dirty="0" smtClean="0"/>
          </a:p>
          <a:p>
            <a:r>
              <a:rPr lang="en-US" dirty="0" smtClean="0"/>
              <a:t>Can weigh each study estimate by its relative accuracy to come up with a powerful estimate of a population parameter</a:t>
            </a:r>
            <a:endParaRPr lang="en-US" dirty="0"/>
          </a:p>
        </p:txBody>
      </p:sp>
    </p:spTree>
    <p:extLst>
      <p:ext uri="{BB962C8B-B14F-4D97-AF65-F5344CB8AC3E}">
        <p14:creationId xmlns:p14="http://schemas.microsoft.com/office/powerpoint/2010/main" val="1242338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measure of effect</a:t>
            </a:r>
            <a:endParaRPr lang="en-US" dirty="0"/>
          </a:p>
        </p:txBody>
      </p:sp>
      <p:sp>
        <p:nvSpPr>
          <p:cNvPr id="3" name="Content Placeholder 2"/>
          <p:cNvSpPr>
            <a:spLocks noGrp="1"/>
          </p:cNvSpPr>
          <p:nvPr>
            <p:ph idx="1"/>
          </p:nvPr>
        </p:nvSpPr>
        <p:spPr/>
        <p:txBody>
          <a:bodyPr/>
          <a:lstStyle/>
          <a:p>
            <a:r>
              <a:rPr lang="en-US" dirty="0" smtClean="0"/>
              <a:t>Need for WLS </a:t>
            </a:r>
          </a:p>
          <a:p>
            <a:endParaRPr lang="en-US" dirty="0"/>
          </a:p>
          <a:p>
            <a:r>
              <a:rPr lang="en-US" dirty="0" smtClean="0"/>
              <a:t>Need for Partial Correlation Coefficient Conversion</a:t>
            </a:r>
            <a:endParaRPr lang="en-US" dirty="0"/>
          </a:p>
        </p:txBody>
      </p:sp>
    </p:spTree>
    <p:extLst>
      <p:ext uri="{BB962C8B-B14F-4D97-AF65-F5344CB8AC3E}">
        <p14:creationId xmlns:p14="http://schemas.microsoft.com/office/powerpoint/2010/main" val="1913106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Theoretical Economic Relation</a:t>
            </a:r>
            <a:endParaRPr lang="en-US" dirty="0"/>
          </a:p>
        </p:txBody>
      </p:sp>
      <p:sp>
        <p:nvSpPr>
          <p:cNvPr id="3" name="Content Placeholder 2"/>
          <p:cNvSpPr>
            <a:spLocks noGrp="1"/>
          </p:cNvSpPr>
          <p:nvPr>
            <p:ph idx="1"/>
          </p:nvPr>
        </p:nvSpPr>
        <p:spPr/>
        <p:txBody>
          <a:bodyPr/>
          <a:lstStyle/>
          <a:p>
            <a:r>
              <a:rPr lang="en-US" dirty="0" smtClean="0"/>
              <a:t>Theoretically ambiguous</a:t>
            </a:r>
          </a:p>
          <a:p>
            <a:endParaRPr lang="en-US" dirty="0"/>
          </a:p>
          <a:p>
            <a:r>
              <a:rPr lang="en-US" dirty="0" smtClean="0"/>
              <a:t>McKinnon-Shaw Hypotheses</a:t>
            </a:r>
          </a:p>
          <a:p>
            <a:endParaRPr lang="en-US" dirty="0"/>
          </a:p>
          <a:p>
            <a:r>
              <a:rPr lang="en-US" dirty="0" smtClean="0"/>
              <a:t>Keynesian Arguments</a:t>
            </a:r>
          </a:p>
          <a:p>
            <a:endParaRPr lang="en-US" dirty="0"/>
          </a:p>
          <a:p>
            <a:endParaRPr lang="en-US" dirty="0"/>
          </a:p>
        </p:txBody>
      </p:sp>
    </p:spTree>
    <p:extLst>
      <p:ext uri="{BB962C8B-B14F-4D97-AF65-F5344CB8AC3E}">
        <p14:creationId xmlns:p14="http://schemas.microsoft.com/office/powerpoint/2010/main" val="245907864"/>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McKinnon-Shaw Hypotheses</a:t>
            </a:r>
            <a:endParaRPr lang="en-US" dirty="0"/>
          </a:p>
        </p:txBody>
      </p:sp>
      <p:sp>
        <p:nvSpPr>
          <p:cNvPr id="3" name="Content Placeholder 2"/>
          <p:cNvSpPr>
            <a:spLocks noGrp="1"/>
          </p:cNvSpPr>
          <p:nvPr>
            <p:ph idx="1"/>
          </p:nvPr>
        </p:nvSpPr>
        <p:spPr/>
        <p:txBody>
          <a:bodyPr/>
          <a:lstStyle/>
          <a:p>
            <a:r>
              <a:rPr lang="en-US" dirty="0" smtClean="0"/>
              <a:t>Based on Efficient Market Hypothesis</a:t>
            </a:r>
          </a:p>
          <a:p>
            <a:endParaRPr lang="en-US" dirty="0"/>
          </a:p>
          <a:p>
            <a:r>
              <a:rPr lang="en-US" dirty="0" smtClean="0"/>
              <a:t>Both explain a reason for deregulation having a positive effect on growth rates</a:t>
            </a:r>
          </a:p>
          <a:p>
            <a:endParaRPr lang="en-US" dirty="0"/>
          </a:p>
          <a:p>
            <a:r>
              <a:rPr lang="en-US" dirty="0" smtClean="0"/>
              <a:t>Difference lies in use of internal financing argument and External financing arguments</a:t>
            </a:r>
          </a:p>
          <a:p>
            <a:endParaRPr lang="en-US" dirty="0"/>
          </a:p>
          <a:p>
            <a:endParaRPr lang="en-US" dirty="0" smtClean="0"/>
          </a:p>
        </p:txBody>
      </p:sp>
    </p:spTree>
    <p:extLst>
      <p:ext uri="{BB962C8B-B14F-4D97-AF65-F5344CB8AC3E}">
        <p14:creationId xmlns:p14="http://schemas.microsoft.com/office/powerpoint/2010/main" val="959510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Theory Behind McKinnon-Shaw</a:t>
            </a:r>
            <a:endParaRPr lang="en-US" dirty="0"/>
          </a:p>
        </p:txBody>
      </p:sp>
      <p:sp>
        <p:nvSpPr>
          <p:cNvPr id="3" name="Content Placeholder 2"/>
          <p:cNvSpPr>
            <a:spLocks noGrp="1"/>
          </p:cNvSpPr>
          <p:nvPr>
            <p:ph idx="1"/>
          </p:nvPr>
        </p:nvSpPr>
        <p:spPr/>
        <p:txBody>
          <a:bodyPr/>
          <a:lstStyle/>
          <a:p>
            <a:r>
              <a:rPr lang="en-US" dirty="0" smtClean="0"/>
              <a:t>Capital allocation can be more efficiently performed, bank competition increases interest rates on deposits, national savings increases, investment increases, GDP increases. </a:t>
            </a:r>
          </a:p>
          <a:p>
            <a:r>
              <a:rPr lang="en-US" dirty="0" err="1" smtClean="0"/>
              <a:t>Mckinnon</a:t>
            </a:r>
            <a:r>
              <a:rPr lang="en-US" dirty="0" smtClean="0"/>
              <a:t>: internal financing</a:t>
            </a:r>
          </a:p>
          <a:p>
            <a:r>
              <a:rPr lang="en-US" dirty="0" smtClean="0"/>
              <a:t>Shaw: external Financing</a:t>
            </a:r>
            <a:endParaRPr lang="en-US" dirty="0"/>
          </a:p>
        </p:txBody>
      </p:sp>
    </p:spTree>
    <p:extLst>
      <p:ext uri="{BB962C8B-B14F-4D97-AF65-F5344CB8AC3E}">
        <p14:creationId xmlns:p14="http://schemas.microsoft.com/office/powerpoint/2010/main" val="633122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the Theories </a:t>
            </a:r>
            <a:r>
              <a:rPr lang="en-US" dirty="0"/>
              <a:t>D</a:t>
            </a:r>
            <a:r>
              <a:rPr lang="en-US" dirty="0" smtClean="0"/>
              <a:t>iffer</a:t>
            </a:r>
            <a:endParaRPr lang="en-US" dirty="0"/>
          </a:p>
        </p:txBody>
      </p:sp>
      <p:sp>
        <p:nvSpPr>
          <p:cNvPr id="3" name="Content Placeholder 2"/>
          <p:cNvSpPr>
            <a:spLocks noGrp="1"/>
          </p:cNvSpPr>
          <p:nvPr>
            <p:ph idx="1"/>
          </p:nvPr>
        </p:nvSpPr>
        <p:spPr/>
        <p:txBody>
          <a:bodyPr>
            <a:normAutofit lnSpcReduction="10000"/>
          </a:bodyPr>
          <a:lstStyle/>
          <a:p>
            <a:r>
              <a:rPr lang="en-US" dirty="0"/>
              <a:t>The internal financing argument </a:t>
            </a:r>
            <a:r>
              <a:rPr lang="en-US" dirty="0" smtClean="0"/>
              <a:t>- firms </a:t>
            </a:r>
            <a:r>
              <a:rPr lang="en-US" dirty="0"/>
              <a:t>can more easily raise capital </a:t>
            </a:r>
            <a:endParaRPr lang="en-US" dirty="0" smtClean="0"/>
          </a:p>
          <a:p>
            <a:r>
              <a:rPr lang="en-US" dirty="0"/>
              <a:t>T</a:t>
            </a:r>
            <a:r>
              <a:rPr lang="en-US" dirty="0" smtClean="0"/>
              <a:t>he </a:t>
            </a:r>
            <a:r>
              <a:rPr lang="en-US" dirty="0"/>
              <a:t>external financing argument </a:t>
            </a:r>
            <a:r>
              <a:rPr lang="en-US" dirty="0" smtClean="0"/>
              <a:t>- firms </a:t>
            </a:r>
            <a:r>
              <a:rPr lang="en-US" dirty="0"/>
              <a:t>can get financed more easily with debt and at better </a:t>
            </a:r>
            <a:r>
              <a:rPr lang="en-US" dirty="0" smtClean="0"/>
              <a:t>rates</a:t>
            </a:r>
          </a:p>
          <a:p>
            <a:r>
              <a:rPr lang="en-US" dirty="0" smtClean="0"/>
              <a:t>Whether </a:t>
            </a:r>
            <a:r>
              <a:rPr lang="en-US" dirty="0"/>
              <a:t>financing is done externally or internally, the deregulation causes financing constraints of firms to be reduced. This means higher investment and economic growth. </a:t>
            </a:r>
          </a:p>
        </p:txBody>
      </p:sp>
    </p:spTree>
    <p:extLst>
      <p:ext uri="{BB962C8B-B14F-4D97-AF65-F5344CB8AC3E}">
        <p14:creationId xmlns:p14="http://schemas.microsoft.com/office/powerpoint/2010/main" val="2661512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Keynesian Arguments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Instability due to inexperienced banks taking on excessive risk in newly liberalized/more sophisticated market in which it </a:t>
            </a:r>
            <a:r>
              <a:rPr lang="en-US" dirty="0" err="1" smtClean="0"/>
              <a:t>doesn</a:t>
            </a:r>
            <a:r>
              <a:rPr lang="fr-FR" dirty="0" smtClean="0"/>
              <a:t>’</a:t>
            </a:r>
            <a:r>
              <a:rPr lang="en-US" dirty="0" smtClean="0"/>
              <a:t>t understand</a:t>
            </a:r>
          </a:p>
          <a:p>
            <a:pPr marL="118872" indent="0">
              <a:buNone/>
            </a:pPr>
            <a:endParaRPr lang="en-US" dirty="0" smtClean="0"/>
          </a:p>
          <a:p>
            <a:r>
              <a:rPr lang="en-US" dirty="0" smtClean="0"/>
              <a:t>Asymmetric information- new relations between lender and borrow can lead to confusion, misinformation, etc. </a:t>
            </a:r>
          </a:p>
          <a:p>
            <a:r>
              <a:rPr lang="en-US" dirty="0" smtClean="0"/>
              <a:t>Asymmetric information can lead to excessive bank competition leading to excessive risk taking in the SR in inefficient institutions</a:t>
            </a:r>
            <a:endParaRPr lang="en-US" dirty="0"/>
          </a:p>
        </p:txBody>
      </p:sp>
    </p:spTree>
    <p:extLst>
      <p:ext uri="{BB962C8B-B14F-4D97-AF65-F5344CB8AC3E}">
        <p14:creationId xmlns:p14="http://schemas.microsoft.com/office/powerpoint/2010/main" val="3335043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Deregulation Literature</a:t>
            </a:r>
            <a:endParaRPr lang="en-US" dirty="0"/>
          </a:p>
        </p:txBody>
      </p:sp>
      <p:sp>
        <p:nvSpPr>
          <p:cNvPr id="3" name="Content Placeholder 2"/>
          <p:cNvSpPr>
            <a:spLocks noGrp="1"/>
          </p:cNvSpPr>
          <p:nvPr>
            <p:ph idx="1"/>
          </p:nvPr>
        </p:nvSpPr>
        <p:spPr/>
        <p:txBody>
          <a:bodyPr>
            <a:normAutofit lnSpcReduction="10000"/>
          </a:bodyPr>
          <a:lstStyle/>
          <a:p>
            <a:r>
              <a:rPr lang="en-US" dirty="0" smtClean="0"/>
              <a:t>Mostly qualitative </a:t>
            </a:r>
            <a:endParaRPr lang="en-US" dirty="0"/>
          </a:p>
          <a:p>
            <a:endParaRPr lang="en-US" dirty="0"/>
          </a:p>
          <a:p>
            <a:r>
              <a:rPr lang="en-US" dirty="0" smtClean="0"/>
              <a:t>Most attempting to validate </a:t>
            </a:r>
            <a:r>
              <a:rPr lang="en-US" dirty="0" err="1" smtClean="0"/>
              <a:t>Mckinnon</a:t>
            </a:r>
            <a:r>
              <a:rPr lang="en-US" dirty="0" smtClean="0"/>
              <a:t>-Shaw hypothesis</a:t>
            </a:r>
          </a:p>
          <a:p>
            <a:endParaRPr lang="en-US" dirty="0" smtClean="0"/>
          </a:p>
          <a:p>
            <a:r>
              <a:rPr lang="en-US" dirty="0" smtClean="0"/>
              <a:t>Heavily focused on capital account deregulation</a:t>
            </a:r>
          </a:p>
          <a:p>
            <a:endParaRPr lang="en-US" dirty="0"/>
          </a:p>
          <a:p>
            <a:r>
              <a:rPr lang="en-US" dirty="0" smtClean="0"/>
              <a:t>Not significantly separated into various forms of deregulation</a:t>
            </a:r>
          </a:p>
        </p:txBody>
      </p:sp>
    </p:spTree>
    <p:extLst>
      <p:ext uri="{BB962C8B-B14F-4D97-AF65-F5344CB8AC3E}">
        <p14:creationId xmlns:p14="http://schemas.microsoft.com/office/powerpoint/2010/main" val="3836978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Significant Literature</a:t>
            </a:r>
            <a:endParaRPr lang="en-US" dirty="0"/>
          </a:p>
        </p:txBody>
      </p:sp>
      <p:sp>
        <p:nvSpPr>
          <p:cNvPr id="3" name="Content Placeholder 2"/>
          <p:cNvSpPr>
            <a:spLocks noGrp="1"/>
          </p:cNvSpPr>
          <p:nvPr>
            <p:ph idx="1"/>
          </p:nvPr>
        </p:nvSpPr>
        <p:spPr/>
        <p:txBody>
          <a:bodyPr/>
          <a:lstStyle/>
          <a:p>
            <a:r>
              <a:rPr lang="en-US" dirty="0" smtClean="0"/>
              <a:t>McKinnon Shaw Hypothesis developed further by: Maxwell </a:t>
            </a:r>
            <a:r>
              <a:rPr lang="en-US" dirty="0"/>
              <a:t>Fry, Paul </a:t>
            </a:r>
            <a:r>
              <a:rPr lang="en-US" dirty="0" err="1"/>
              <a:t>Krugman</a:t>
            </a:r>
            <a:r>
              <a:rPr lang="en-US" dirty="0"/>
              <a:t>, Frederic </a:t>
            </a:r>
            <a:r>
              <a:rPr lang="en-US" dirty="0" err="1"/>
              <a:t>Mishkin</a:t>
            </a:r>
            <a:r>
              <a:rPr lang="en-US" dirty="0"/>
              <a:t>, and Maurice </a:t>
            </a:r>
            <a:r>
              <a:rPr lang="en-US" dirty="0" err="1" smtClean="0"/>
              <a:t>Obstfeld</a:t>
            </a:r>
            <a:endParaRPr lang="en-US" dirty="0" smtClean="0"/>
          </a:p>
          <a:p>
            <a:r>
              <a:rPr lang="en-US" dirty="0" smtClean="0"/>
              <a:t>Howard 2001 had success in both hypothesis validations for Jamaican Economy</a:t>
            </a:r>
          </a:p>
          <a:p>
            <a:r>
              <a:rPr lang="en-US" dirty="0" smtClean="0"/>
              <a:t>Moore 2010 utilized panel data to validate McKinnon’s Complementarity hypothesis</a:t>
            </a:r>
            <a:endParaRPr lang="en-US" dirty="0"/>
          </a:p>
        </p:txBody>
      </p:sp>
    </p:spTree>
    <p:extLst>
      <p:ext uri="{BB962C8B-B14F-4D97-AF65-F5344CB8AC3E}">
        <p14:creationId xmlns:p14="http://schemas.microsoft.com/office/powerpoint/2010/main" val="2518525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Conduction of Meta-Analysis</a:t>
            </a:r>
            <a:endParaRPr lang="en-US" dirty="0"/>
          </a:p>
        </p:txBody>
      </p:sp>
      <p:sp>
        <p:nvSpPr>
          <p:cNvPr id="3" name="Content Placeholder 2"/>
          <p:cNvSpPr>
            <a:spLocks noGrp="1"/>
          </p:cNvSpPr>
          <p:nvPr>
            <p:ph idx="1"/>
          </p:nvPr>
        </p:nvSpPr>
        <p:spPr/>
        <p:txBody>
          <a:bodyPr>
            <a:normAutofit/>
          </a:bodyPr>
          <a:lstStyle/>
          <a:p>
            <a:r>
              <a:rPr lang="en-US" dirty="0" smtClean="0"/>
              <a:t>First</a:t>
            </a:r>
            <a:r>
              <a:rPr lang="en-US" dirty="0"/>
              <a:t> </a:t>
            </a:r>
            <a:r>
              <a:rPr lang="en-US" dirty="0" smtClean="0"/>
              <a:t>gather studies </a:t>
            </a:r>
          </a:p>
          <a:p>
            <a:r>
              <a:rPr lang="en-US" dirty="0" smtClean="0"/>
              <a:t>Next compile data and code variables </a:t>
            </a:r>
          </a:p>
          <a:p>
            <a:r>
              <a:rPr lang="en-US" dirty="0" smtClean="0"/>
              <a:t> Then use meta</a:t>
            </a:r>
            <a:r>
              <a:rPr lang="en-US" dirty="0"/>
              <a:t>-regression </a:t>
            </a:r>
            <a:r>
              <a:rPr lang="en-US" dirty="0" smtClean="0"/>
              <a:t>to test </a:t>
            </a:r>
            <a:r>
              <a:rPr lang="en-US" dirty="0"/>
              <a:t>for publication bias and </a:t>
            </a:r>
            <a:r>
              <a:rPr lang="en-US" dirty="0" smtClean="0"/>
              <a:t>find </a:t>
            </a:r>
            <a:r>
              <a:rPr lang="en-US" dirty="0"/>
              <a:t>a model that explains the wide variation of reported research results </a:t>
            </a:r>
            <a:endParaRPr lang="en-US" dirty="0" smtClean="0"/>
          </a:p>
          <a:p>
            <a:r>
              <a:rPr lang="en-US" dirty="0" smtClean="0"/>
              <a:t>For </a:t>
            </a:r>
            <a:r>
              <a:rPr lang="en-US" dirty="0"/>
              <a:t>a more detailed overview of meta-regression techniques, see Stanley and </a:t>
            </a:r>
            <a:r>
              <a:rPr lang="en-US" dirty="0" err="1"/>
              <a:t>Doucouliagos</a:t>
            </a:r>
            <a:r>
              <a:rPr lang="en-US" dirty="0"/>
              <a:t> (2012).</a:t>
            </a:r>
          </a:p>
        </p:txBody>
      </p:sp>
    </p:spTree>
    <p:extLst>
      <p:ext uri="{BB962C8B-B14F-4D97-AF65-F5344CB8AC3E}">
        <p14:creationId xmlns:p14="http://schemas.microsoft.com/office/powerpoint/2010/main" val="217399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WLS Meta-Regression</a:t>
            </a:r>
            <a:endParaRPr lang="en-US" dirty="0"/>
          </a:p>
        </p:txBody>
      </p:sp>
      <p:sp>
        <p:nvSpPr>
          <p:cNvPr id="3" name="Content Placeholder 2"/>
          <p:cNvSpPr>
            <a:spLocks noGrp="1"/>
          </p:cNvSpPr>
          <p:nvPr>
            <p:ph idx="1"/>
          </p:nvPr>
        </p:nvSpPr>
        <p:spPr/>
        <p:txBody>
          <a:bodyPr/>
          <a:lstStyle/>
          <a:p>
            <a:r>
              <a:rPr lang="en-US" dirty="0" smtClean="0"/>
              <a:t>Weight regression by dividing by precision^2 (1/SE^2) or (one/variance)</a:t>
            </a:r>
          </a:p>
          <a:p>
            <a:pPr marL="118872" indent="0">
              <a:buNone/>
            </a:pPr>
            <a:endParaRPr lang="en-US" dirty="0" smtClean="0"/>
          </a:p>
          <a:p>
            <a:r>
              <a:rPr lang="en-US" dirty="0" smtClean="0"/>
              <a:t>Allows meta regression to account for accuracy of each study estimate to provide accuracy weighted estimate</a:t>
            </a:r>
            <a:endParaRPr lang="en-US" dirty="0"/>
          </a:p>
        </p:txBody>
      </p:sp>
    </p:spTree>
    <p:extLst>
      <p:ext uri="{BB962C8B-B14F-4D97-AF65-F5344CB8AC3E}">
        <p14:creationId xmlns:p14="http://schemas.microsoft.com/office/powerpoint/2010/main" val="1150134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Funnel Graph</a:t>
            </a:r>
            <a:endParaRPr lang="en-US" dirty="0"/>
          </a:p>
        </p:txBody>
      </p:sp>
      <p:sp>
        <p:nvSpPr>
          <p:cNvPr id="3" name="Content Placeholder 2"/>
          <p:cNvSpPr>
            <a:spLocks noGrp="1"/>
          </p:cNvSpPr>
          <p:nvPr>
            <p:ph idx="1"/>
          </p:nvPr>
        </p:nvSpPr>
        <p:spPr/>
        <p:txBody>
          <a:bodyPr/>
          <a:lstStyle/>
          <a:p>
            <a:r>
              <a:rPr lang="en-US" dirty="0" smtClean="0"/>
              <a:t>Visible representation of research </a:t>
            </a:r>
            <a:r>
              <a:rPr lang="en-US" dirty="0"/>
              <a:t>r</a:t>
            </a:r>
            <a:r>
              <a:rPr lang="en-US" dirty="0" smtClean="0"/>
              <a:t>esults for all studies coded representing an entire research literature</a:t>
            </a:r>
          </a:p>
          <a:p>
            <a:r>
              <a:rPr lang="en-US" dirty="0" smtClean="0"/>
              <a:t>Graph of 1/se (precision) on the vertical and measure of effect (partial cc) on horizontal </a:t>
            </a:r>
          </a:p>
          <a:p>
            <a:r>
              <a:rPr lang="en-US" dirty="0" smtClean="0"/>
              <a:t>Publication bias free literature should have a symmetric funnel-like set of points</a:t>
            </a:r>
          </a:p>
          <a:p>
            <a:r>
              <a:rPr lang="en-US" dirty="0" smtClean="0"/>
              <a:t>Most accurate studies are at the top of funnel (highest y value) </a:t>
            </a:r>
            <a:endParaRPr lang="en-US" dirty="0"/>
          </a:p>
        </p:txBody>
      </p:sp>
    </p:spTree>
    <p:extLst>
      <p:ext uri="{BB962C8B-B14F-4D97-AF65-F5344CB8AC3E}">
        <p14:creationId xmlns:p14="http://schemas.microsoft.com/office/powerpoint/2010/main" val="1836995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extLst>
              <p:ext uri="{D42A27DB-BD31-4B8C-83A1-F6EECF244321}">
                <p14:modId xmlns:p14="http://schemas.microsoft.com/office/powerpoint/2010/main" val="137917640"/>
              </p:ext>
            </p:extLst>
          </p:nvPr>
        </p:nvGraphicFramePr>
        <p:xfrm>
          <a:off x="401934" y="739450"/>
          <a:ext cx="8456692" cy="63114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69114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FAT-PET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Performed by running </a:t>
            </a:r>
            <a:r>
              <a:rPr lang="en-US" dirty="0"/>
              <a:t>a WLS regression on the measure of effect regressed against its standard error as the predictor. </a:t>
            </a:r>
            <a:endParaRPr lang="en-US" dirty="0" smtClean="0"/>
          </a:p>
          <a:p>
            <a:endParaRPr lang="en-US" dirty="0"/>
          </a:p>
          <a:p>
            <a:r>
              <a:rPr lang="en-US" dirty="0"/>
              <a:t>The statistician hopes that this meta-regression is ‘bad’, statistically, </a:t>
            </a:r>
            <a:r>
              <a:rPr lang="en-US" dirty="0" smtClean="0"/>
              <a:t>this </a:t>
            </a:r>
            <a:r>
              <a:rPr lang="en-US" dirty="0"/>
              <a:t>indicates that there is no evidence of publication selection bias. </a:t>
            </a:r>
            <a:endParaRPr lang="en-US" dirty="0" smtClean="0"/>
          </a:p>
          <a:p>
            <a:r>
              <a:rPr lang="en-US" dirty="0"/>
              <a:t>An insignificant t-value on the coefficient for the standard error as a predictor shows that there is no clear evidence of publication bias. While a significant t-value on the constant term shows that there is a genuine non-zero empirical effect beyond the reach of publication bias. The value of the constant is an estimate of the true overall effect present in the research literature after correcting for publication selection bias </a:t>
            </a:r>
            <a:endParaRPr lang="en-US" dirty="0" smtClean="0"/>
          </a:p>
          <a:p>
            <a:endParaRPr lang="en-US" dirty="0"/>
          </a:p>
        </p:txBody>
      </p:sp>
    </p:spTree>
    <p:extLst>
      <p:ext uri="{BB962C8B-B14F-4D97-AF65-F5344CB8AC3E}">
        <p14:creationId xmlns:p14="http://schemas.microsoft.com/office/powerpoint/2010/main" val="3568384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Conversion to Partials </a:t>
            </a:r>
            <a:endParaRPr lang="en-US" dirty="0"/>
          </a:p>
        </p:txBody>
      </p:sp>
      <p:sp>
        <p:nvSpPr>
          <p:cNvPr id="3" name="Content Placeholder 2"/>
          <p:cNvSpPr>
            <a:spLocks noGrp="1"/>
          </p:cNvSpPr>
          <p:nvPr>
            <p:ph idx="1"/>
          </p:nvPr>
        </p:nvSpPr>
        <p:spPr/>
        <p:txBody>
          <a:bodyPr>
            <a:normAutofit fontScale="92500" lnSpcReduction="20000"/>
          </a:bodyPr>
          <a:lstStyle/>
          <a:p>
            <a:r>
              <a:rPr lang="en-US" dirty="0"/>
              <a:t>Traditional MRA starts with a measure of effect that is meaningfully comparable across research studies. </a:t>
            </a:r>
            <a:endParaRPr lang="en-US" dirty="0" smtClean="0"/>
          </a:p>
          <a:p>
            <a:r>
              <a:rPr lang="en-US" dirty="0" smtClean="0"/>
              <a:t>financial deregulation </a:t>
            </a:r>
            <a:r>
              <a:rPr lang="en-US" dirty="0"/>
              <a:t>effects are measured quite differently from study to study due to wide differences in how deregulation is undertaken and which economic effects are observed. </a:t>
            </a:r>
            <a:endParaRPr lang="en-US" dirty="0" smtClean="0"/>
          </a:p>
          <a:p>
            <a:r>
              <a:rPr lang="en-US" dirty="0" smtClean="0"/>
              <a:t>T values cannot be used as they do not account for differences in statistical power when different metrics are used to measure deregulation – why </a:t>
            </a:r>
            <a:r>
              <a:rPr lang="en-US" dirty="0" err="1" smtClean="0"/>
              <a:t>Bumann</a:t>
            </a:r>
            <a:r>
              <a:rPr lang="en-US" dirty="0" smtClean="0"/>
              <a:t> et. al. needed to be changed to partials for making analysis</a:t>
            </a:r>
          </a:p>
          <a:p>
            <a:endParaRPr lang="en-US" dirty="0"/>
          </a:p>
        </p:txBody>
      </p:sp>
    </p:spTree>
    <p:extLst>
      <p:ext uri="{BB962C8B-B14F-4D97-AF65-F5344CB8AC3E}">
        <p14:creationId xmlns:p14="http://schemas.microsoft.com/office/powerpoint/2010/main" val="543380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0123"/>
            <a:ext cx="8229600" cy="1252728"/>
          </a:xfrm>
        </p:spPr>
        <p:txBody>
          <a:bodyPr/>
          <a:lstStyle/>
          <a:p>
            <a:r>
              <a:rPr lang="en-US" dirty="0" smtClean="0"/>
              <a:t>FAT-PET Results</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4118134656"/>
              </p:ext>
            </p:extLst>
          </p:nvPr>
        </p:nvGraphicFramePr>
        <p:xfrm>
          <a:off x="373578" y="1948874"/>
          <a:ext cx="8770422" cy="4304303"/>
        </p:xfrm>
        <a:graphic>
          <a:graphicData uri="http://schemas.openxmlformats.org/presentationml/2006/ole">
            <mc:AlternateContent xmlns:mc="http://schemas.openxmlformats.org/markup-compatibility/2006">
              <mc:Choice xmlns:v="urn:schemas-microsoft-com:vml" Requires="v">
                <p:oleObj spid="_x0000_s1035" name="Document" r:id="rId4" imgW="6883400" imgH="3378200" progId="Word.Document.12">
                  <p:embed/>
                </p:oleObj>
              </mc:Choice>
              <mc:Fallback>
                <p:oleObj name="Document" r:id="rId4" imgW="6883400" imgH="3378200" progId="Word.Document.12">
                  <p:embed/>
                  <p:pic>
                    <p:nvPicPr>
                      <p:cNvPr id="0" name=""/>
                      <p:cNvPicPr/>
                      <p:nvPr/>
                    </p:nvPicPr>
                    <p:blipFill>
                      <a:blip r:embed="rId5"/>
                      <a:stretch>
                        <a:fillRect/>
                      </a:stretch>
                    </p:blipFill>
                    <p:spPr>
                      <a:xfrm>
                        <a:off x="373578" y="1948874"/>
                        <a:ext cx="8770422" cy="4304303"/>
                      </a:xfrm>
                      <a:prstGeom prst="rect">
                        <a:avLst/>
                      </a:prstGeom>
                    </p:spPr>
                  </p:pic>
                </p:oleObj>
              </mc:Fallback>
            </mc:AlternateContent>
          </a:graphicData>
        </a:graphic>
      </p:graphicFrame>
    </p:spTree>
    <p:extLst>
      <p:ext uri="{BB962C8B-B14F-4D97-AF65-F5344CB8AC3E}">
        <p14:creationId xmlns:p14="http://schemas.microsoft.com/office/powerpoint/2010/main" val="27004361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Multivariate meta-regression</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629820178"/>
              </p:ext>
            </p:extLst>
          </p:nvPr>
        </p:nvGraphicFramePr>
        <p:xfrm>
          <a:off x="1852078" y="1408176"/>
          <a:ext cx="5533185" cy="5359635"/>
        </p:xfrm>
        <a:graphic>
          <a:graphicData uri="http://schemas.openxmlformats.org/presentationml/2006/ole">
            <mc:AlternateContent xmlns:mc="http://schemas.openxmlformats.org/markup-compatibility/2006">
              <mc:Choice xmlns:v="urn:schemas-microsoft-com:vml" Requires="v">
                <p:oleObj spid="_x0000_s2060" name="Document" r:id="rId4" imgW="6883400" imgH="6667500" progId="Word.Document.12">
                  <p:embed/>
                </p:oleObj>
              </mc:Choice>
              <mc:Fallback>
                <p:oleObj name="Document" r:id="rId4" imgW="6883400" imgH="6667500" progId="Word.Document.12">
                  <p:embed/>
                  <p:pic>
                    <p:nvPicPr>
                      <p:cNvPr id="0" name=""/>
                      <p:cNvPicPr/>
                      <p:nvPr/>
                    </p:nvPicPr>
                    <p:blipFill>
                      <a:blip r:embed="rId5"/>
                      <a:stretch>
                        <a:fillRect/>
                      </a:stretch>
                    </p:blipFill>
                    <p:spPr>
                      <a:xfrm>
                        <a:off x="1852078" y="1408176"/>
                        <a:ext cx="5533185" cy="5359635"/>
                      </a:xfrm>
                      <a:prstGeom prst="rect">
                        <a:avLst/>
                      </a:prstGeom>
                    </p:spPr>
                  </p:pic>
                </p:oleObj>
              </mc:Fallback>
            </mc:AlternateContent>
          </a:graphicData>
        </a:graphic>
      </p:graphicFrame>
    </p:spTree>
    <p:extLst>
      <p:ext uri="{BB962C8B-B14F-4D97-AF65-F5344CB8AC3E}">
        <p14:creationId xmlns:p14="http://schemas.microsoft.com/office/powerpoint/2010/main" val="894079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Variables Explained</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a:t>
            </a:r>
            <a:r>
              <a:rPr lang="en-US" dirty="0"/>
              <a:t>variables found to be relevant included a number of dummy or dichotomous </a:t>
            </a:r>
            <a:r>
              <a:rPr lang="en-US" dirty="0" smtClean="0"/>
              <a:t>variables </a:t>
            </a:r>
          </a:p>
          <a:p>
            <a:r>
              <a:rPr lang="en-US" b="1" dirty="0" smtClean="0"/>
              <a:t>Inflation</a:t>
            </a:r>
            <a:r>
              <a:rPr lang="en-US" dirty="0" smtClean="0"/>
              <a:t> = </a:t>
            </a:r>
            <a:r>
              <a:rPr lang="en-US" dirty="0"/>
              <a:t>1 if the inflation rate was included in the original </a:t>
            </a:r>
            <a:r>
              <a:rPr lang="en-US" dirty="0" smtClean="0"/>
              <a:t>study</a:t>
            </a:r>
            <a:endParaRPr lang="en-US" dirty="0"/>
          </a:p>
          <a:p>
            <a:r>
              <a:rPr lang="en-US" b="1" dirty="0" smtClean="0"/>
              <a:t>Government</a:t>
            </a:r>
            <a:r>
              <a:rPr lang="en-US" dirty="0" smtClean="0"/>
              <a:t> </a:t>
            </a:r>
            <a:r>
              <a:rPr lang="en-US" dirty="0"/>
              <a:t>= 1 if a measure of the size of the government was included in the original </a:t>
            </a:r>
            <a:r>
              <a:rPr lang="en-US" dirty="0" smtClean="0"/>
              <a:t>study</a:t>
            </a:r>
          </a:p>
          <a:p>
            <a:r>
              <a:rPr lang="en-US" dirty="0" smtClean="0"/>
              <a:t> </a:t>
            </a:r>
            <a:r>
              <a:rPr lang="en-US" b="1" dirty="0"/>
              <a:t>Interaction </a:t>
            </a:r>
            <a:r>
              <a:rPr lang="en-US" dirty="0"/>
              <a:t>= 1 if a variable representing an interaction between the financial liberalization indicator and other variables is accounted </a:t>
            </a:r>
            <a:r>
              <a:rPr lang="en-US" dirty="0" smtClean="0"/>
              <a:t>for</a:t>
            </a:r>
          </a:p>
          <a:p>
            <a:r>
              <a:rPr lang="en-US" dirty="0" smtClean="0"/>
              <a:t> </a:t>
            </a:r>
            <a:r>
              <a:rPr lang="en-US" b="1" dirty="0"/>
              <a:t>Object of Study</a:t>
            </a:r>
            <a:r>
              <a:rPr lang="en-US" dirty="0"/>
              <a:t> = 1 if the link between deregulation and growth was the only object of the </a:t>
            </a:r>
            <a:r>
              <a:rPr lang="en-US" dirty="0" smtClean="0"/>
              <a:t>study</a:t>
            </a:r>
            <a:endParaRPr lang="en-US" dirty="0"/>
          </a:p>
          <a:p>
            <a:r>
              <a:rPr lang="en-US" b="1" dirty="0" smtClean="0"/>
              <a:t>Five </a:t>
            </a:r>
            <a:r>
              <a:rPr lang="en-US" b="1" dirty="0"/>
              <a:t>Year</a:t>
            </a:r>
            <a:r>
              <a:rPr lang="en-US" dirty="0"/>
              <a:t> = 1 if 5 year growth estimates are </a:t>
            </a:r>
            <a:r>
              <a:rPr lang="en-US" dirty="0" smtClean="0"/>
              <a:t>used</a:t>
            </a:r>
            <a:endParaRPr lang="en-US" dirty="0"/>
          </a:p>
          <a:p>
            <a:r>
              <a:rPr lang="en-US" b="1" dirty="0" smtClean="0"/>
              <a:t>Ten </a:t>
            </a:r>
            <a:r>
              <a:rPr lang="en-US" b="1" dirty="0"/>
              <a:t>Year</a:t>
            </a:r>
            <a:r>
              <a:rPr lang="en-US" dirty="0"/>
              <a:t> = 1 if 10 year growth estimates are </a:t>
            </a:r>
            <a:r>
              <a:rPr lang="en-US" dirty="0" smtClean="0"/>
              <a:t>used</a:t>
            </a:r>
          </a:p>
          <a:p>
            <a:r>
              <a:rPr lang="en-US" b="1" dirty="0" smtClean="0"/>
              <a:t>Fixed </a:t>
            </a:r>
            <a:r>
              <a:rPr lang="en-US" b="1" dirty="0"/>
              <a:t>Effect</a:t>
            </a:r>
            <a:r>
              <a:rPr lang="en-US" dirty="0"/>
              <a:t> = 1 if fixed effects are included in a panel </a:t>
            </a:r>
            <a:r>
              <a:rPr lang="en-US" dirty="0" smtClean="0"/>
              <a:t>model</a:t>
            </a:r>
            <a:endParaRPr lang="en-US" dirty="0"/>
          </a:p>
          <a:p>
            <a:r>
              <a:rPr lang="en-US" b="1" dirty="0" smtClean="0"/>
              <a:t>1970</a:t>
            </a:r>
            <a:r>
              <a:rPr lang="en-US" b="1" dirty="0"/>
              <a:t>’s</a:t>
            </a:r>
            <a:r>
              <a:rPr lang="en-US" dirty="0"/>
              <a:t> = 1 if deregulation occurred in the 1970’</a:t>
            </a:r>
            <a:r>
              <a:rPr lang="en-US" dirty="0" smtClean="0"/>
              <a:t>s </a:t>
            </a:r>
          </a:p>
          <a:p>
            <a:r>
              <a:rPr lang="en-US" b="1" dirty="0" smtClean="0"/>
              <a:t>2000</a:t>
            </a:r>
            <a:r>
              <a:rPr lang="en-US" b="1" dirty="0"/>
              <a:t>’s</a:t>
            </a:r>
            <a:r>
              <a:rPr lang="en-US" dirty="0"/>
              <a:t> = 1 if deregulation occurred in the 2000’s. The multivariate regression results are shown in Table 2 below. </a:t>
            </a:r>
          </a:p>
        </p:txBody>
      </p:sp>
    </p:spTree>
    <p:extLst>
      <p:ext uri="{BB962C8B-B14F-4D97-AF65-F5344CB8AC3E}">
        <p14:creationId xmlns:p14="http://schemas.microsoft.com/office/powerpoint/2010/main" val="1140236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US" dirty="0"/>
          </a:p>
        </p:txBody>
      </p:sp>
      <p:sp>
        <p:nvSpPr>
          <p:cNvPr id="3" name="Content Placeholder 2"/>
          <p:cNvSpPr>
            <a:spLocks noGrp="1"/>
          </p:cNvSpPr>
          <p:nvPr>
            <p:ph idx="1"/>
          </p:nvPr>
        </p:nvSpPr>
        <p:spPr/>
        <p:txBody>
          <a:bodyPr/>
          <a:lstStyle/>
          <a:p>
            <a:r>
              <a:rPr lang="en-US" dirty="0" smtClean="0"/>
              <a:t>Variable values selected to represent closest to current real world circumstances</a:t>
            </a:r>
          </a:p>
          <a:p>
            <a:r>
              <a:rPr lang="en-US" dirty="0"/>
              <a:t>Substituting these values into the multiple meta-regression reported </a:t>
            </a:r>
            <a:r>
              <a:rPr lang="en-US" dirty="0" smtClean="0"/>
              <a:t>above gives </a:t>
            </a:r>
            <a:r>
              <a:rPr lang="en-US" dirty="0"/>
              <a:t>a positive prediction interval for the long-run effect that ranges from .011 to .181, with a mean prediction of .096. </a:t>
            </a:r>
            <a:endParaRPr lang="en-US" dirty="0" smtClean="0"/>
          </a:p>
          <a:p>
            <a:r>
              <a:rPr lang="en-US" dirty="0" smtClean="0"/>
              <a:t>This ends 40-year debate on deregulation-growth nexus</a:t>
            </a:r>
            <a:endParaRPr lang="en-US" dirty="0"/>
          </a:p>
        </p:txBody>
      </p:sp>
    </p:spTree>
    <p:extLst>
      <p:ext uri="{BB962C8B-B14F-4D97-AF65-F5344CB8AC3E}">
        <p14:creationId xmlns:p14="http://schemas.microsoft.com/office/powerpoint/2010/main" val="2885646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continued</a:t>
            </a:r>
            <a:endParaRPr lang="en-US" dirty="0"/>
          </a:p>
        </p:txBody>
      </p:sp>
      <p:sp>
        <p:nvSpPr>
          <p:cNvPr id="3" name="Content Placeholder 2"/>
          <p:cNvSpPr>
            <a:spLocks noGrp="1"/>
          </p:cNvSpPr>
          <p:nvPr>
            <p:ph idx="1"/>
          </p:nvPr>
        </p:nvSpPr>
        <p:spPr/>
        <p:txBody>
          <a:bodyPr>
            <a:normAutofit fontScale="85000" lnSpcReduction="10000"/>
          </a:bodyPr>
          <a:lstStyle/>
          <a:p>
            <a:r>
              <a:rPr lang="en-US" dirty="0"/>
              <a:t>However, this research also provides evidence that the effect financial deregulation on growth is mitigated by other factors. </a:t>
            </a:r>
            <a:endParaRPr lang="en-US" dirty="0" smtClean="0"/>
          </a:p>
          <a:p>
            <a:r>
              <a:rPr lang="en-US" dirty="0" smtClean="0"/>
              <a:t>this </a:t>
            </a:r>
            <a:r>
              <a:rPr lang="en-US" dirty="0"/>
              <a:t>same meta-regression model </a:t>
            </a:r>
            <a:r>
              <a:rPr lang="en-US" dirty="0" smtClean="0"/>
              <a:t>predicts </a:t>
            </a:r>
            <a:r>
              <a:rPr lang="en-US" dirty="0"/>
              <a:t>an ambiguous or slightly negative intermediate-run effect, ranging from -.100 to .016 with a mean prediction value of -.042 when </a:t>
            </a:r>
            <a:r>
              <a:rPr lang="en-US" b="1" dirty="0"/>
              <a:t>Five Year</a:t>
            </a:r>
            <a:r>
              <a:rPr lang="en-US" dirty="0"/>
              <a:t> is set equal to one rather than </a:t>
            </a:r>
            <a:r>
              <a:rPr lang="en-US" b="1" dirty="0"/>
              <a:t>Ten Year</a:t>
            </a:r>
            <a:r>
              <a:rPr lang="en-US" dirty="0"/>
              <a:t>. </a:t>
            </a:r>
            <a:endParaRPr lang="en-US" dirty="0" smtClean="0"/>
          </a:p>
          <a:p>
            <a:r>
              <a:rPr lang="en-US" dirty="0" smtClean="0"/>
              <a:t>This </a:t>
            </a:r>
            <a:r>
              <a:rPr lang="en-US" dirty="0"/>
              <a:t>is consistent with the original hypothesis that long-run positive results may be dampened or even reversed in the short-run, and it can explain why variations are seen in this area of research.</a:t>
            </a:r>
          </a:p>
          <a:p>
            <a:endParaRPr lang="en-US" dirty="0"/>
          </a:p>
        </p:txBody>
      </p:sp>
    </p:spTree>
    <p:extLst>
      <p:ext uri="{BB962C8B-B14F-4D97-AF65-F5344CB8AC3E}">
        <p14:creationId xmlns:p14="http://schemas.microsoft.com/office/powerpoint/2010/main" val="986852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Results – OECD </a:t>
            </a:r>
            <a:r>
              <a:rPr lang="en-US" dirty="0" err="1" smtClean="0"/>
              <a:t>vs</a:t>
            </a:r>
            <a:r>
              <a:rPr lang="en-US" dirty="0"/>
              <a:t> </a:t>
            </a:r>
            <a:r>
              <a:rPr lang="en-US" dirty="0" smtClean="0"/>
              <a:t>DC</a:t>
            </a:r>
            <a:endParaRPr lang="en-US" dirty="0"/>
          </a:p>
        </p:txBody>
      </p:sp>
      <p:sp>
        <p:nvSpPr>
          <p:cNvPr id="3" name="Content Placeholder 2"/>
          <p:cNvSpPr>
            <a:spLocks noGrp="1"/>
          </p:cNvSpPr>
          <p:nvPr>
            <p:ph idx="1"/>
          </p:nvPr>
        </p:nvSpPr>
        <p:spPr/>
        <p:txBody>
          <a:bodyPr/>
          <a:lstStyle/>
          <a:p>
            <a:r>
              <a:rPr lang="en-US" dirty="0" smtClean="0"/>
              <a:t>When adding in the variables OECD and DC and making predictions, different results are added. If OECD is added and 1 selected for the prediction, the value of the effect, the partial goes from .096 to .13; this shows that deregulation is more effective in the long-run for developed countries as opposed to less developed ones, this contrasts most theory.</a:t>
            </a:r>
            <a:endParaRPr lang="en-US" dirty="0"/>
          </a:p>
        </p:txBody>
      </p:sp>
    </p:spTree>
    <p:extLst>
      <p:ext uri="{BB962C8B-B14F-4D97-AF65-F5344CB8AC3E}">
        <p14:creationId xmlns:p14="http://schemas.microsoft.com/office/powerpoint/2010/main" val="589478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Conclusions</a:t>
            </a:r>
            <a:endParaRPr lang="en-US" dirty="0"/>
          </a:p>
        </p:txBody>
      </p:sp>
      <p:sp>
        <p:nvSpPr>
          <p:cNvPr id="3" name="Content Placeholder 2"/>
          <p:cNvSpPr>
            <a:spLocks noGrp="1"/>
          </p:cNvSpPr>
          <p:nvPr>
            <p:ph idx="1"/>
          </p:nvPr>
        </p:nvSpPr>
        <p:spPr/>
        <p:txBody>
          <a:bodyPr>
            <a:normAutofit lnSpcReduction="10000"/>
          </a:bodyPr>
          <a:lstStyle/>
          <a:p>
            <a:r>
              <a:rPr lang="en-US" dirty="0"/>
              <a:t>No publication/selection bias found in </a:t>
            </a:r>
            <a:r>
              <a:rPr lang="en-US" dirty="0" smtClean="0"/>
              <a:t>research literature</a:t>
            </a:r>
          </a:p>
          <a:p>
            <a:endParaRPr lang="en-US" dirty="0"/>
          </a:p>
          <a:p>
            <a:r>
              <a:rPr lang="en-US" dirty="0" smtClean="0"/>
              <a:t>While the literature is quite ambiguous, both theoretically and empirically, this meta-analysis ended the 40 year debate by providing significant quantitative empirical evidence that the effect is positive</a:t>
            </a:r>
          </a:p>
          <a:p>
            <a:endParaRPr lang="en-US" dirty="0" smtClean="0"/>
          </a:p>
          <a:p>
            <a:r>
              <a:rPr lang="en-US" dirty="0" smtClean="0"/>
              <a:t>Short run results are smaller and/or negative</a:t>
            </a:r>
          </a:p>
          <a:p>
            <a:endParaRPr lang="en-US" dirty="0"/>
          </a:p>
        </p:txBody>
      </p:sp>
    </p:spTree>
    <p:extLst>
      <p:ext uri="{BB962C8B-B14F-4D97-AF65-F5344CB8AC3E}">
        <p14:creationId xmlns:p14="http://schemas.microsoft.com/office/powerpoint/2010/main" val="1503064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Policy Implications</a:t>
            </a:r>
            <a:endParaRPr lang="en-US" dirty="0"/>
          </a:p>
        </p:txBody>
      </p:sp>
      <p:sp>
        <p:nvSpPr>
          <p:cNvPr id="3" name="Content Placeholder 2"/>
          <p:cNvSpPr>
            <a:spLocks noGrp="1"/>
          </p:cNvSpPr>
          <p:nvPr>
            <p:ph idx="1"/>
          </p:nvPr>
        </p:nvSpPr>
        <p:spPr/>
        <p:txBody>
          <a:bodyPr>
            <a:normAutofit fontScale="85000" lnSpcReduction="10000"/>
          </a:bodyPr>
          <a:lstStyle/>
          <a:p>
            <a:pPr marL="118872" indent="0">
              <a:buNone/>
            </a:pPr>
            <a:r>
              <a:rPr lang="en-US" dirty="0"/>
              <a:t>While this effect accounts for a small portion of the overall growth rate, it is our view that these effects could be made even larger if financial deregulation is </a:t>
            </a:r>
            <a:r>
              <a:rPr lang="en-US" dirty="0" smtClean="0"/>
              <a:t>conducted </a:t>
            </a:r>
            <a:r>
              <a:rPr lang="en-US" dirty="0"/>
              <a:t>with care and prudential financial industry regulations. </a:t>
            </a:r>
            <a:endParaRPr lang="en-US" dirty="0" smtClean="0"/>
          </a:p>
          <a:p>
            <a:pPr marL="118872" indent="0">
              <a:buNone/>
            </a:pPr>
            <a:endParaRPr lang="en-US" dirty="0"/>
          </a:p>
          <a:p>
            <a:pPr marL="118872" indent="0">
              <a:buNone/>
            </a:pPr>
            <a:r>
              <a:rPr lang="en-US" dirty="0" smtClean="0"/>
              <a:t>Consequently</a:t>
            </a:r>
            <a:r>
              <a:rPr lang="en-US" dirty="0"/>
              <a:t>, if </a:t>
            </a:r>
            <a:r>
              <a:rPr lang="en-US" dirty="0" smtClean="0"/>
              <a:t>no </a:t>
            </a:r>
            <a:r>
              <a:rPr lang="en-US" dirty="0"/>
              <a:t>care for prudential practices is in place during deregulation, the consequences could be quite larger also. Purposeful financial repression is likely to stifle economic progress, and careful and continual deregulation is ideal for the long-run success of domestic markets in their current state.</a:t>
            </a:r>
          </a:p>
          <a:p>
            <a:pPr marL="118872" indent="0">
              <a:buNone/>
            </a:pPr>
            <a:endParaRPr lang="en-US" dirty="0"/>
          </a:p>
        </p:txBody>
      </p:sp>
    </p:spTree>
    <p:extLst>
      <p:ext uri="{BB962C8B-B14F-4D97-AF65-F5344CB8AC3E}">
        <p14:creationId xmlns:p14="http://schemas.microsoft.com/office/powerpoint/2010/main" val="3288678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(1 of 5)</a:t>
            </a:r>
            <a:endParaRPr lang="en-US" dirty="0"/>
          </a:p>
        </p:txBody>
      </p:sp>
      <p:sp>
        <p:nvSpPr>
          <p:cNvPr id="3" name="Content Placeholder 2"/>
          <p:cNvSpPr>
            <a:spLocks noGrp="1"/>
          </p:cNvSpPr>
          <p:nvPr>
            <p:ph idx="1"/>
          </p:nvPr>
        </p:nvSpPr>
        <p:spPr>
          <a:xfrm>
            <a:off x="457200" y="1823416"/>
            <a:ext cx="8229600" cy="4625609"/>
          </a:xfrm>
        </p:spPr>
        <p:txBody>
          <a:bodyPr>
            <a:normAutofit fontScale="70000" lnSpcReduction="20000"/>
          </a:bodyPr>
          <a:lstStyle/>
          <a:p>
            <a:pPr marL="118872" indent="0">
              <a:buNone/>
            </a:pPr>
            <a:r>
              <a:rPr lang="en-US" dirty="0" err="1"/>
              <a:t>Abiad</a:t>
            </a:r>
            <a:r>
              <a:rPr lang="en-US" dirty="0"/>
              <a:t> A., &amp; </a:t>
            </a:r>
            <a:r>
              <a:rPr lang="en-US" dirty="0" err="1"/>
              <a:t>Mody</a:t>
            </a:r>
            <a:r>
              <a:rPr lang="en-US" dirty="0"/>
              <a:t> A. (2005). Financial reform: What shakes it? what shapes it?, </a:t>
            </a:r>
            <a:r>
              <a:rPr lang="en-US" i="1" dirty="0" smtClean="0"/>
              <a:t>American</a:t>
            </a:r>
            <a:r>
              <a:rPr lang="en-US" dirty="0"/>
              <a:t> </a:t>
            </a:r>
            <a:r>
              <a:rPr lang="en-US" i="1" dirty="0" smtClean="0"/>
              <a:t>Economic </a:t>
            </a:r>
            <a:r>
              <a:rPr lang="en-US" i="1" dirty="0"/>
              <a:t>Review</a:t>
            </a:r>
            <a:r>
              <a:rPr lang="en-US" dirty="0"/>
              <a:t>,</a:t>
            </a:r>
            <a:r>
              <a:rPr lang="en-US" i="1" dirty="0"/>
              <a:t> 95</a:t>
            </a:r>
            <a:r>
              <a:rPr lang="en-US" dirty="0"/>
              <a:t>(1), 66-88. </a:t>
            </a:r>
            <a:r>
              <a:rPr lang="en-US" dirty="0" err="1"/>
              <a:t>doi</a:t>
            </a:r>
            <a:r>
              <a:rPr lang="en-US" dirty="0"/>
              <a:t>: 10.1257/</a:t>
            </a:r>
            <a:r>
              <a:rPr lang="en-US" dirty="0" smtClean="0"/>
              <a:t>0002828053828699</a:t>
            </a:r>
          </a:p>
          <a:p>
            <a:pPr marL="118872" indent="0">
              <a:buNone/>
            </a:pPr>
            <a:endParaRPr lang="en-US" dirty="0"/>
          </a:p>
          <a:p>
            <a:pPr marL="118872" indent="0">
              <a:buNone/>
            </a:pPr>
            <a:r>
              <a:rPr lang="en-US" dirty="0" err="1"/>
              <a:t>Abiad</a:t>
            </a:r>
            <a:r>
              <a:rPr lang="en-US" dirty="0"/>
              <a:t> A., </a:t>
            </a:r>
            <a:r>
              <a:rPr lang="en-US" dirty="0" err="1"/>
              <a:t>Detragiache</a:t>
            </a:r>
            <a:r>
              <a:rPr lang="en-US" dirty="0"/>
              <a:t> E., &amp; </a:t>
            </a:r>
            <a:r>
              <a:rPr lang="en-US" dirty="0" err="1"/>
              <a:t>Tressel</a:t>
            </a:r>
            <a:r>
              <a:rPr lang="en-US" dirty="0"/>
              <a:t> T. (2010).  A new database of financial reforms, </a:t>
            </a:r>
            <a:r>
              <a:rPr lang="en-US" i="1" dirty="0"/>
              <a:t>IMF </a:t>
            </a:r>
            <a:r>
              <a:rPr lang="en-US" i="1" dirty="0" smtClean="0"/>
              <a:t>Staff</a:t>
            </a:r>
            <a:r>
              <a:rPr lang="en-US" dirty="0"/>
              <a:t> </a:t>
            </a:r>
            <a:r>
              <a:rPr lang="en-US" i="1" dirty="0" smtClean="0"/>
              <a:t>Papers</a:t>
            </a:r>
            <a:r>
              <a:rPr lang="en-US" dirty="0"/>
              <a:t>,</a:t>
            </a:r>
            <a:r>
              <a:rPr lang="en-US" i="1" dirty="0"/>
              <a:t> 57</a:t>
            </a:r>
            <a:r>
              <a:rPr lang="en-US" dirty="0"/>
              <a:t>(2) , 281–302. </a:t>
            </a:r>
            <a:r>
              <a:rPr lang="en-US" dirty="0">
                <a:hlinkClick r:id="rId2"/>
              </a:rPr>
              <a:t>http://dx.doi.org/10.5089/</a:t>
            </a:r>
            <a:r>
              <a:rPr lang="en-US" dirty="0" smtClean="0">
                <a:hlinkClick r:id="rId2"/>
              </a:rPr>
              <a:t>9781451871241.001</a:t>
            </a:r>
            <a:endParaRPr lang="en-US" dirty="0" smtClean="0"/>
          </a:p>
          <a:p>
            <a:pPr marL="118872" indent="0">
              <a:buNone/>
            </a:pPr>
            <a:endParaRPr lang="en-US" dirty="0"/>
          </a:p>
          <a:p>
            <a:pPr marL="118872" indent="0">
              <a:buNone/>
            </a:pPr>
            <a:r>
              <a:rPr lang="en-US" dirty="0" err="1"/>
              <a:t>Bumann</a:t>
            </a:r>
            <a:r>
              <a:rPr lang="en-US" dirty="0"/>
              <a:t>, S., </a:t>
            </a:r>
            <a:r>
              <a:rPr lang="en-US" dirty="0" err="1"/>
              <a:t>Niels</a:t>
            </a:r>
            <a:r>
              <a:rPr lang="en-US" dirty="0"/>
              <a:t>, H., &amp; </a:t>
            </a:r>
            <a:r>
              <a:rPr lang="en-US" dirty="0" err="1"/>
              <a:t>Lensink</a:t>
            </a:r>
            <a:r>
              <a:rPr lang="en-US" dirty="0"/>
              <a:t>, R. (2012). Financial </a:t>
            </a:r>
            <a:r>
              <a:rPr lang="en-US" dirty="0" err="1"/>
              <a:t>liberalisation</a:t>
            </a:r>
            <a:r>
              <a:rPr lang="en-US" dirty="0"/>
              <a:t> and economic growth: </a:t>
            </a:r>
            <a:r>
              <a:rPr lang="en-US" dirty="0" smtClean="0"/>
              <a:t>A meta</a:t>
            </a:r>
            <a:r>
              <a:rPr lang="en-US" dirty="0"/>
              <a:t>-</a:t>
            </a:r>
            <a:r>
              <a:rPr lang="en-US" dirty="0" err="1"/>
              <a:t>anaylsis</a:t>
            </a:r>
            <a:r>
              <a:rPr lang="en-US" dirty="0"/>
              <a:t>, </a:t>
            </a:r>
            <a:r>
              <a:rPr lang="en-US" i="1" dirty="0"/>
              <a:t>Journal of International Money and Finance, 33</a:t>
            </a:r>
            <a:r>
              <a:rPr lang="en-US" dirty="0" smtClean="0"/>
              <a:t>. </a:t>
            </a:r>
            <a:r>
              <a:rPr lang="en-US" dirty="0" smtClean="0">
                <a:hlinkClick r:id="rId3"/>
              </a:rPr>
              <a:t>http</a:t>
            </a:r>
            <a:r>
              <a:rPr lang="en-US" dirty="0">
                <a:hlinkClick r:id="rId3"/>
              </a:rPr>
              <a:t>://dx.doi.org/10.1016/j.jimonfin.</a:t>
            </a:r>
            <a:r>
              <a:rPr lang="en-US" dirty="0" smtClean="0">
                <a:hlinkClick r:id="rId3"/>
              </a:rPr>
              <a:t>2012.11.013</a:t>
            </a:r>
            <a:endParaRPr lang="en-US" dirty="0" smtClean="0"/>
          </a:p>
          <a:p>
            <a:pPr marL="118872" indent="0">
              <a:buNone/>
            </a:pPr>
            <a:endParaRPr lang="en-US" dirty="0"/>
          </a:p>
          <a:p>
            <a:pPr marL="118872" indent="0">
              <a:buNone/>
            </a:pPr>
            <a:r>
              <a:rPr lang="en-US" dirty="0"/>
              <a:t>Fry, M. J. (1978). Money and capital or financial deepening in economic development?" </a:t>
            </a:r>
            <a:r>
              <a:rPr lang="en-US" i="1" dirty="0" smtClean="0"/>
              <a:t>Journal</a:t>
            </a:r>
            <a:r>
              <a:rPr lang="en-US" dirty="0"/>
              <a:t> </a:t>
            </a:r>
            <a:r>
              <a:rPr lang="en-US" i="1" dirty="0" smtClean="0"/>
              <a:t>of </a:t>
            </a:r>
            <a:r>
              <a:rPr lang="en-US" i="1" dirty="0"/>
              <a:t>Money, Credit and Banking</a:t>
            </a:r>
            <a:r>
              <a:rPr lang="en-US" dirty="0"/>
              <a:t>, </a:t>
            </a:r>
            <a:r>
              <a:rPr lang="en-US" i="1" dirty="0"/>
              <a:t>10</a:t>
            </a:r>
            <a:r>
              <a:rPr lang="en-US" dirty="0"/>
              <a:t>, 464-75. doi:10.2307/1991576</a:t>
            </a:r>
          </a:p>
          <a:p>
            <a:pPr marL="118872" indent="0">
              <a:buNone/>
            </a:pPr>
            <a:endParaRPr lang="en-US" dirty="0"/>
          </a:p>
        </p:txBody>
      </p:sp>
    </p:spTree>
    <p:extLst>
      <p:ext uri="{BB962C8B-B14F-4D97-AF65-F5344CB8AC3E}">
        <p14:creationId xmlns:p14="http://schemas.microsoft.com/office/powerpoint/2010/main" val="36726747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(2 of 5)</a:t>
            </a:r>
            <a:endParaRPr lang="en-US" dirty="0"/>
          </a:p>
        </p:txBody>
      </p:sp>
      <p:sp>
        <p:nvSpPr>
          <p:cNvPr id="3" name="Content Placeholder 2"/>
          <p:cNvSpPr>
            <a:spLocks noGrp="1"/>
          </p:cNvSpPr>
          <p:nvPr>
            <p:ph idx="1"/>
          </p:nvPr>
        </p:nvSpPr>
        <p:spPr/>
        <p:txBody>
          <a:bodyPr>
            <a:normAutofit fontScale="70000" lnSpcReduction="20000"/>
          </a:bodyPr>
          <a:lstStyle/>
          <a:p>
            <a:pPr marL="118872" indent="0">
              <a:buNone/>
            </a:pPr>
            <a:r>
              <a:rPr lang="en-US" dirty="0"/>
              <a:t>Fry, M. J. (1995). Money, interest, and banking in economic development (2</a:t>
            </a:r>
            <a:r>
              <a:rPr lang="en-US" baseline="30000" dirty="0"/>
              <a:t>nd </a:t>
            </a:r>
            <a:r>
              <a:rPr lang="en-US" dirty="0"/>
              <a:t>ed.), </a:t>
            </a:r>
            <a:r>
              <a:rPr lang="en-US" dirty="0" err="1"/>
              <a:t>Balitmore</a:t>
            </a:r>
            <a:r>
              <a:rPr lang="en-US" dirty="0" smtClean="0"/>
              <a:t>, MD</a:t>
            </a:r>
            <a:r>
              <a:rPr lang="en-US" dirty="0"/>
              <a:t>: The Johns Hopkins University Press</a:t>
            </a:r>
            <a:r>
              <a:rPr lang="en-US" dirty="0" smtClean="0"/>
              <a:t>.</a:t>
            </a:r>
          </a:p>
          <a:p>
            <a:pPr marL="118872" indent="0">
              <a:buNone/>
            </a:pPr>
            <a:endParaRPr lang="en-US" dirty="0"/>
          </a:p>
          <a:p>
            <a:pPr marL="118872" indent="0">
              <a:buNone/>
            </a:pPr>
            <a:r>
              <a:rPr lang="en-US" dirty="0"/>
              <a:t>Fry, M. J. (1980). Savings, investment and the cost of financial repression, </a:t>
            </a:r>
            <a:r>
              <a:rPr lang="en-US" i="1" dirty="0" smtClean="0"/>
              <a:t>World</a:t>
            </a:r>
            <a:r>
              <a:rPr lang="en-US" dirty="0"/>
              <a:t> </a:t>
            </a:r>
            <a:r>
              <a:rPr lang="en-US" i="1" dirty="0" smtClean="0"/>
              <a:t>Development</a:t>
            </a:r>
            <a:r>
              <a:rPr lang="en-US" i="1" dirty="0"/>
              <a:t>,</a:t>
            </a:r>
            <a:r>
              <a:rPr lang="en-US" dirty="0"/>
              <a:t> </a:t>
            </a:r>
            <a:r>
              <a:rPr lang="en-US" i="1" dirty="0"/>
              <a:t>8</a:t>
            </a:r>
            <a:r>
              <a:rPr lang="en-US" dirty="0"/>
              <a:t>(4)</a:t>
            </a:r>
            <a:r>
              <a:rPr lang="en-US" i="1" dirty="0"/>
              <a:t>,</a:t>
            </a:r>
            <a:r>
              <a:rPr lang="en-US" dirty="0"/>
              <a:t> 317-27. doi:10.1016/0305-750X(80)90030-</a:t>
            </a:r>
            <a:r>
              <a:rPr lang="en-US" dirty="0" smtClean="0"/>
              <a:t>3</a:t>
            </a:r>
          </a:p>
          <a:p>
            <a:pPr marL="118872" indent="0">
              <a:buNone/>
            </a:pPr>
            <a:endParaRPr lang="en-US" dirty="0"/>
          </a:p>
          <a:p>
            <a:pPr marL="118872" indent="0">
              <a:buNone/>
            </a:pPr>
            <a:r>
              <a:rPr lang="en-US" dirty="0" err="1"/>
              <a:t>Gemech</a:t>
            </a:r>
            <a:r>
              <a:rPr lang="en-US" dirty="0"/>
              <a:t>, F., &amp; Struthers, J. (2003). The McKinnon -Shaw hypothesis: Thirty years on: A </a:t>
            </a:r>
            <a:r>
              <a:rPr lang="en-US" dirty="0" smtClean="0"/>
              <a:t>review of </a:t>
            </a:r>
            <a:r>
              <a:rPr lang="en-US" dirty="0"/>
              <a:t>recent developments in financial liberalization theory.</a:t>
            </a:r>
            <a:r>
              <a:rPr lang="en-US" i="1" dirty="0"/>
              <a:t> </a:t>
            </a:r>
            <a:r>
              <a:rPr lang="en-US" dirty="0"/>
              <a:t>Retrieved </a:t>
            </a:r>
            <a:r>
              <a:rPr lang="en-US" dirty="0" smtClean="0"/>
              <a:t>from http://</a:t>
            </a:r>
            <a:r>
              <a:rPr lang="en-US" dirty="0" err="1" smtClean="0"/>
              <a:t>citeseerx.ist.psu.edu</a:t>
            </a:r>
            <a:r>
              <a:rPr lang="en-US" dirty="0" smtClean="0"/>
              <a:t>/</a:t>
            </a:r>
            <a:r>
              <a:rPr lang="en-US" dirty="0" err="1" smtClean="0"/>
              <a:t>viewdoc</a:t>
            </a:r>
            <a:r>
              <a:rPr lang="en-US" dirty="0" smtClean="0"/>
              <a:t>/</a:t>
            </a:r>
            <a:r>
              <a:rPr lang="en-US" dirty="0" err="1" smtClean="0"/>
              <a:t>summary?doi</a:t>
            </a:r>
            <a:r>
              <a:rPr lang="en-US" dirty="0" smtClean="0"/>
              <a:t>=10.1.1.202.265</a:t>
            </a:r>
          </a:p>
          <a:p>
            <a:pPr marL="118872" indent="0">
              <a:buNone/>
            </a:pPr>
            <a:endParaRPr lang="en-US" dirty="0" smtClean="0"/>
          </a:p>
          <a:p>
            <a:pPr marL="118872" indent="0">
              <a:buNone/>
            </a:pPr>
            <a:r>
              <a:rPr lang="en-US" dirty="0" smtClean="0"/>
              <a:t>Gurley</a:t>
            </a:r>
            <a:r>
              <a:rPr lang="en-US" dirty="0"/>
              <a:t>, J., and Shaw, E. S. (1967). Financial structure and economic development, </a:t>
            </a:r>
            <a:r>
              <a:rPr lang="en-US" i="1" dirty="0" smtClean="0"/>
              <a:t>Economic</a:t>
            </a:r>
            <a:r>
              <a:rPr lang="en-US" dirty="0"/>
              <a:t> </a:t>
            </a:r>
            <a:r>
              <a:rPr lang="en-US" i="1" dirty="0" smtClean="0"/>
              <a:t>Development </a:t>
            </a:r>
            <a:r>
              <a:rPr lang="en-US" i="1" dirty="0"/>
              <a:t>and Cultural Change,</a:t>
            </a:r>
            <a:r>
              <a:rPr lang="en-US" dirty="0"/>
              <a:t> </a:t>
            </a:r>
            <a:r>
              <a:rPr lang="en-US" i="1" dirty="0"/>
              <a:t>15</a:t>
            </a:r>
            <a:r>
              <a:rPr lang="en-US" dirty="0"/>
              <a:t>(3), </a:t>
            </a:r>
            <a:r>
              <a:rPr lang="en-US" i="1" dirty="0"/>
              <a:t>257</a:t>
            </a:r>
            <a:r>
              <a:rPr lang="en-US" dirty="0"/>
              <a:t>-68. doi:10.2307/1152277</a:t>
            </a:r>
          </a:p>
        </p:txBody>
      </p:sp>
    </p:spTree>
    <p:extLst>
      <p:ext uri="{BB962C8B-B14F-4D97-AF65-F5344CB8AC3E}">
        <p14:creationId xmlns:p14="http://schemas.microsoft.com/office/powerpoint/2010/main" val="2931237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(3 of 5)</a:t>
            </a:r>
            <a:endParaRPr lang="en-US" dirty="0"/>
          </a:p>
        </p:txBody>
      </p:sp>
      <p:sp>
        <p:nvSpPr>
          <p:cNvPr id="3" name="Content Placeholder 2"/>
          <p:cNvSpPr>
            <a:spLocks noGrp="1"/>
          </p:cNvSpPr>
          <p:nvPr>
            <p:ph idx="1"/>
          </p:nvPr>
        </p:nvSpPr>
        <p:spPr/>
        <p:txBody>
          <a:bodyPr>
            <a:normAutofit fontScale="70000" lnSpcReduction="20000"/>
          </a:bodyPr>
          <a:lstStyle/>
          <a:p>
            <a:pPr marL="118872" indent="0">
              <a:buNone/>
            </a:pPr>
            <a:r>
              <a:rPr lang="en-US" dirty="0"/>
              <a:t>Howard, M. (2001). Financial liberalization in Jamaica, </a:t>
            </a:r>
            <a:r>
              <a:rPr lang="en-US" i="1" dirty="0"/>
              <a:t>Savings and Development: </a:t>
            </a:r>
            <a:r>
              <a:rPr lang="en-US" i="1" dirty="0" smtClean="0"/>
              <a:t>Quarterly</a:t>
            </a:r>
            <a:r>
              <a:rPr lang="en-US" dirty="0"/>
              <a:t> </a:t>
            </a:r>
            <a:r>
              <a:rPr lang="en-US" i="1" dirty="0" err="1" smtClean="0"/>
              <a:t>Reivew</a:t>
            </a:r>
            <a:r>
              <a:rPr lang="en-US" dirty="0"/>
              <a:t>, </a:t>
            </a:r>
            <a:r>
              <a:rPr lang="en-US" i="1" dirty="0"/>
              <a:t>25</a:t>
            </a:r>
            <a:r>
              <a:rPr lang="en-US" dirty="0"/>
              <a:t>(4), 457-473. doi:10.2307/</a:t>
            </a:r>
            <a:r>
              <a:rPr lang="en-US" dirty="0" smtClean="0"/>
              <a:t>25830776</a:t>
            </a:r>
          </a:p>
          <a:p>
            <a:pPr marL="118872" indent="0">
              <a:buNone/>
            </a:pPr>
            <a:endParaRPr lang="en-US" dirty="0"/>
          </a:p>
          <a:p>
            <a:pPr marL="118872" indent="0">
              <a:buNone/>
            </a:pPr>
            <a:r>
              <a:rPr lang="en-US" dirty="0" err="1" smtClean="0"/>
              <a:t>Krugman</a:t>
            </a:r>
            <a:r>
              <a:rPr lang="en-US" dirty="0" smtClean="0"/>
              <a:t>, P. (1979). A model of balance of payments crises, </a:t>
            </a:r>
            <a:r>
              <a:rPr lang="en-US" i="1" dirty="0" smtClean="0"/>
              <a:t>Journal of Money, </a:t>
            </a:r>
            <a:r>
              <a:rPr lang="en-US" i="1" dirty="0"/>
              <a:t>Credit, </a:t>
            </a:r>
            <a:r>
              <a:rPr lang="en-US" i="1" dirty="0" smtClean="0"/>
              <a:t>and</a:t>
            </a:r>
            <a:r>
              <a:rPr lang="en-US" dirty="0"/>
              <a:t> </a:t>
            </a:r>
            <a:r>
              <a:rPr lang="en-US" i="1" dirty="0" smtClean="0"/>
              <a:t>Banking</a:t>
            </a:r>
            <a:r>
              <a:rPr lang="en-US" i="1" dirty="0"/>
              <a:t>,</a:t>
            </a:r>
            <a:r>
              <a:rPr lang="en-US" dirty="0"/>
              <a:t> 11, 311-325. Retrieved </a:t>
            </a:r>
            <a:r>
              <a:rPr lang="en-US" dirty="0" smtClean="0"/>
              <a:t>from </a:t>
            </a:r>
            <a:r>
              <a:rPr lang="en-US" dirty="0" smtClean="0">
                <a:hlinkClick r:id="rId2"/>
              </a:rPr>
              <a:t>www.econ.umn.edu</a:t>
            </a:r>
            <a:r>
              <a:rPr lang="en-US" dirty="0">
                <a:hlinkClick r:id="rId2"/>
              </a:rPr>
              <a:t>/~tkehoe/classes/Krugman1.</a:t>
            </a:r>
            <a:r>
              <a:rPr lang="en-US" dirty="0" smtClean="0">
                <a:hlinkClick r:id="rId2"/>
              </a:rPr>
              <a:t>pdf</a:t>
            </a:r>
            <a:endParaRPr lang="en-US" dirty="0" smtClean="0"/>
          </a:p>
          <a:p>
            <a:pPr marL="118872" indent="0">
              <a:buNone/>
            </a:pPr>
            <a:endParaRPr lang="en-US" dirty="0"/>
          </a:p>
          <a:p>
            <a:pPr marL="118872" indent="0">
              <a:buNone/>
            </a:pPr>
            <a:r>
              <a:rPr lang="en-US" dirty="0" err="1"/>
              <a:t>Krugman</a:t>
            </a:r>
            <a:r>
              <a:rPr lang="en-US" dirty="0"/>
              <a:t>, P. (1999). Balance sheets, the transfer problem and financial crises, paper prepared </a:t>
            </a:r>
            <a:r>
              <a:rPr lang="en-US" dirty="0" smtClean="0"/>
              <a:t>for the </a:t>
            </a:r>
            <a:r>
              <a:rPr lang="en-US" dirty="0"/>
              <a:t>festschrift volume in honor of </a:t>
            </a:r>
            <a:r>
              <a:rPr lang="en-US" dirty="0" err="1"/>
              <a:t>Rober</a:t>
            </a:r>
            <a:r>
              <a:rPr lang="en-US" dirty="0"/>
              <a:t> Flood, Retrieved </a:t>
            </a:r>
            <a:r>
              <a:rPr lang="en-US" dirty="0" smtClean="0"/>
              <a:t>from http</a:t>
            </a:r>
            <a:r>
              <a:rPr lang="en-US" dirty="0"/>
              <a:t>://</a:t>
            </a:r>
            <a:r>
              <a:rPr lang="en-US" dirty="0" err="1"/>
              <a:t>web.mit.edu</a:t>
            </a:r>
            <a:r>
              <a:rPr lang="en-US" dirty="0"/>
              <a:t>/</a:t>
            </a:r>
            <a:r>
              <a:rPr lang="en-US" dirty="0" err="1"/>
              <a:t>krugman</a:t>
            </a:r>
            <a:r>
              <a:rPr lang="en-US" dirty="0"/>
              <a:t>/www/#</a:t>
            </a:r>
            <a:r>
              <a:rPr lang="en-US" dirty="0" smtClean="0"/>
              <a:t>other</a:t>
            </a:r>
          </a:p>
          <a:p>
            <a:pPr marL="118872" indent="0">
              <a:buNone/>
            </a:pPr>
            <a:endParaRPr lang="en-US" dirty="0" smtClean="0"/>
          </a:p>
          <a:p>
            <a:pPr marL="118872" indent="0">
              <a:buNone/>
            </a:pPr>
            <a:r>
              <a:rPr lang="en-US" dirty="0" err="1" smtClean="0"/>
              <a:t>Krugman</a:t>
            </a:r>
            <a:r>
              <a:rPr lang="en-US" dirty="0"/>
              <a:t>, P. (1999). What happened to Asia?, </a:t>
            </a:r>
            <a:r>
              <a:rPr lang="en-US" i="1" dirty="0"/>
              <a:t>Global Competition and Integration </a:t>
            </a:r>
            <a:r>
              <a:rPr lang="en-US" i="1" dirty="0" smtClean="0"/>
              <a:t>Research</a:t>
            </a:r>
            <a:r>
              <a:rPr lang="en-US" dirty="0"/>
              <a:t> </a:t>
            </a:r>
            <a:r>
              <a:rPr lang="en-US" i="1" dirty="0" smtClean="0"/>
              <a:t>Monographs </a:t>
            </a:r>
            <a:r>
              <a:rPr lang="en-US" i="1" dirty="0"/>
              <a:t>in Japan-U. S. Business &amp; Economics, 4</a:t>
            </a:r>
            <a:r>
              <a:rPr lang="en-US" dirty="0"/>
              <a:t>, 315-327. Retrieved </a:t>
            </a:r>
            <a:r>
              <a:rPr lang="en-US" dirty="0" smtClean="0"/>
              <a:t>from http</a:t>
            </a:r>
            <a:r>
              <a:rPr lang="en-US" dirty="0"/>
              <a:t>://</a:t>
            </a:r>
            <a:r>
              <a:rPr lang="en-US" dirty="0" err="1"/>
              <a:t>web.mit.edu</a:t>
            </a:r>
            <a:r>
              <a:rPr lang="en-US" dirty="0"/>
              <a:t>/</a:t>
            </a:r>
            <a:r>
              <a:rPr lang="en-US" dirty="0" err="1"/>
              <a:t>krugman</a:t>
            </a:r>
            <a:r>
              <a:rPr lang="en-US" dirty="0"/>
              <a:t>/www/</a:t>
            </a:r>
            <a:r>
              <a:rPr lang="en-US" dirty="0" err="1"/>
              <a:t>DISINTER.html</a:t>
            </a:r>
            <a:endParaRPr lang="en-US" dirty="0"/>
          </a:p>
        </p:txBody>
      </p:sp>
    </p:spTree>
    <p:extLst>
      <p:ext uri="{BB962C8B-B14F-4D97-AF65-F5344CB8AC3E}">
        <p14:creationId xmlns:p14="http://schemas.microsoft.com/office/powerpoint/2010/main" val="2991786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(4 of 4)</a:t>
            </a:r>
            <a:endParaRPr lang="en-US" dirty="0"/>
          </a:p>
        </p:txBody>
      </p:sp>
      <p:sp>
        <p:nvSpPr>
          <p:cNvPr id="3" name="Content Placeholder 2"/>
          <p:cNvSpPr>
            <a:spLocks noGrp="1"/>
          </p:cNvSpPr>
          <p:nvPr>
            <p:ph idx="1"/>
          </p:nvPr>
        </p:nvSpPr>
        <p:spPr/>
        <p:txBody>
          <a:bodyPr>
            <a:normAutofit fontScale="70000" lnSpcReduction="20000"/>
          </a:bodyPr>
          <a:lstStyle/>
          <a:p>
            <a:pPr marL="118872" indent="0">
              <a:buNone/>
            </a:pPr>
            <a:r>
              <a:rPr lang="en-US" dirty="0"/>
              <a:t>McKinnon, R. I. (1973). Money and capital in economic development,</a:t>
            </a:r>
            <a:r>
              <a:rPr lang="en-US" i="1" dirty="0"/>
              <a:t> The </a:t>
            </a:r>
            <a:r>
              <a:rPr lang="en-US" i="1" dirty="0" smtClean="0"/>
              <a:t>Brookings</a:t>
            </a:r>
            <a:r>
              <a:rPr lang="en-US" dirty="0"/>
              <a:t> </a:t>
            </a:r>
            <a:r>
              <a:rPr lang="en-US" i="1" dirty="0" smtClean="0"/>
              <a:t>Institution</a:t>
            </a:r>
            <a:endParaRPr lang="en-US" dirty="0"/>
          </a:p>
          <a:p>
            <a:pPr marL="118872" indent="0">
              <a:buNone/>
            </a:pPr>
            <a:endParaRPr lang="en-US" dirty="0" smtClean="0"/>
          </a:p>
          <a:p>
            <a:pPr marL="118872" indent="0">
              <a:buNone/>
            </a:pPr>
            <a:r>
              <a:rPr lang="en-US" dirty="0" err="1" smtClean="0"/>
              <a:t>Mishkin</a:t>
            </a:r>
            <a:r>
              <a:rPr lang="en-US" dirty="0"/>
              <a:t>, F. (2001). Financial policies and the prevention of financial crises in emerging </a:t>
            </a:r>
            <a:r>
              <a:rPr lang="en-US" dirty="0" smtClean="0"/>
              <a:t>market countries</a:t>
            </a:r>
            <a:r>
              <a:rPr lang="en-US" dirty="0"/>
              <a:t>, </a:t>
            </a:r>
            <a:r>
              <a:rPr lang="en-US" i="1" dirty="0"/>
              <a:t>NBER Working Papers</a:t>
            </a:r>
            <a:r>
              <a:rPr lang="en-US" dirty="0"/>
              <a:t>, 8087. http://</a:t>
            </a:r>
            <a:r>
              <a:rPr lang="en-US" dirty="0" err="1"/>
              <a:t>dx.doi.org</a:t>
            </a:r>
            <a:r>
              <a:rPr lang="en-US" dirty="0"/>
              <a:t>/10.1596/1813-9450-2683</a:t>
            </a:r>
          </a:p>
          <a:p>
            <a:pPr marL="118872" indent="0">
              <a:buNone/>
            </a:pPr>
            <a:endParaRPr lang="en-US" dirty="0" smtClean="0"/>
          </a:p>
          <a:p>
            <a:pPr marL="118872" indent="0">
              <a:buNone/>
            </a:pPr>
            <a:r>
              <a:rPr lang="en-US" dirty="0" smtClean="0"/>
              <a:t>Moore</a:t>
            </a:r>
            <a:r>
              <a:rPr lang="en-US" dirty="0"/>
              <a:t>, T. (2010). A critical appraisal of McKinnon 's complementary hypothesis: Does the </a:t>
            </a:r>
            <a:r>
              <a:rPr lang="en-US" dirty="0" smtClean="0"/>
              <a:t>real rate </a:t>
            </a:r>
            <a:r>
              <a:rPr lang="en-US" dirty="0"/>
              <a:t>of return on money matter for investment in developing countries?, </a:t>
            </a:r>
            <a:r>
              <a:rPr lang="en-US" i="1" dirty="0" smtClean="0"/>
              <a:t>World</a:t>
            </a:r>
            <a:r>
              <a:rPr lang="en-US" dirty="0"/>
              <a:t> </a:t>
            </a:r>
            <a:r>
              <a:rPr lang="en-US" i="1" dirty="0" smtClean="0"/>
              <a:t>Development</a:t>
            </a:r>
            <a:r>
              <a:rPr lang="en-US" dirty="0"/>
              <a:t>, </a:t>
            </a:r>
            <a:r>
              <a:rPr lang="en-US" i="1" dirty="0"/>
              <a:t>38</a:t>
            </a:r>
            <a:r>
              <a:rPr lang="en-US" dirty="0"/>
              <a:t>(3), 260-69. http://</a:t>
            </a:r>
            <a:r>
              <a:rPr lang="en-US" dirty="0" err="1"/>
              <a:t>dx.doi.org</a:t>
            </a:r>
            <a:r>
              <a:rPr lang="en-US" dirty="0"/>
              <a:t>/10.1016/j.worlddev.2009.09.010</a:t>
            </a:r>
          </a:p>
          <a:p>
            <a:pPr marL="118872" indent="0">
              <a:buNone/>
            </a:pPr>
            <a:endParaRPr lang="en-US" dirty="0" smtClean="0"/>
          </a:p>
          <a:p>
            <a:pPr marL="118872" indent="0">
              <a:buNone/>
            </a:pPr>
            <a:r>
              <a:rPr lang="en-US" dirty="0" err="1" smtClean="0"/>
              <a:t>Obstfeld</a:t>
            </a:r>
            <a:r>
              <a:rPr lang="en-US" dirty="0"/>
              <a:t>, M. (1996). Models of currency crises with self-fulfilling features, </a:t>
            </a:r>
            <a:r>
              <a:rPr lang="en-US" i="1" dirty="0"/>
              <a:t>European </a:t>
            </a:r>
            <a:r>
              <a:rPr lang="en-US" i="1" dirty="0" smtClean="0"/>
              <a:t>Economic</a:t>
            </a:r>
            <a:r>
              <a:rPr lang="en-US" dirty="0"/>
              <a:t> </a:t>
            </a:r>
            <a:r>
              <a:rPr lang="en-US" i="1" dirty="0" smtClean="0"/>
              <a:t>Review</a:t>
            </a:r>
            <a:r>
              <a:rPr lang="en-US" dirty="0"/>
              <a:t>, </a:t>
            </a:r>
            <a:r>
              <a:rPr lang="en-US" i="1" dirty="0"/>
              <a:t>40</a:t>
            </a:r>
            <a:r>
              <a:rPr lang="en-US" dirty="0"/>
              <a:t>(12), 103-147. doi:10.3386/w1486</a:t>
            </a:r>
          </a:p>
          <a:p>
            <a:endParaRPr lang="en-US" dirty="0"/>
          </a:p>
        </p:txBody>
      </p:sp>
    </p:spTree>
    <p:extLst>
      <p:ext uri="{BB962C8B-B14F-4D97-AF65-F5344CB8AC3E}">
        <p14:creationId xmlns:p14="http://schemas.microsoft.com/office/powerpoint/2010/main" val="2134105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(5 of 5)</a:t>
            </a:r>
            <a:endParaRPr lang="en-US" dirty="0"/>
          </a:p>
        </p:txBody>
      </p:sp>
      <p:sp>
        <p:nvSpPr>
          <p:cNvPr id="3" name="Content Placeholder 2"/>
          <p:cNvSpPr>
            <a:spLocks noGrp="1"/>
          </p:cNvSpPr>
          <p:nvPr>
            <p:ph idx="1"/>
          </p:nvPr>
        </p:nvSpPr>
        <p:spPr/>
        <p:txBody>
          <a:bodyPr>
            <a:normAutofit fontScale="92500" lnSpcReduction="20000"/>
          </a:bodyPr>
          <a:lstStyle/>
          <a:p>
            <a:pPr marL="118872" indent="0">
              <a:buNone/>
            </a:pPr>
            <a:r>
              <a:rPr lang="en-US" dirty="0" err="1"/>
              <a:t>Obstfeld</a:t>
            </a:r>
            <a:r>
              <a:rPr lang="en-US" dirty="0"/>
              <a:t>, M. (1998). The global capital market: Benefactor or menace?, </a:t>
            </a:r>
            <a:r>
              <a:rPr lang="en-US" i="1" dirty="0"/>
              <a:t>Journal of </a:t>
            </a:r>
            <a:r>
              <a:rPr lang="en-US" i="1" dirty="0" smtClean="0"/>
              <a:t>Economic</a:t>
            </a:r>
            <a:r>
              <a:rPr lang="en-US" dirty="0"/>
              <a:t> </a:t>
            </a:r>
            <a:r>
              <a:rPr lang="en-US" i="1" dirty="0" smtClean="0"/>
              <a:t>Perspectives</a:t>
            </a:r>
            <a:r>
              <a:rPr lang="en-US" dirty="0"/>
              <a:t>, </a:t>
            </a:r>
            <a:r>
              <a:rPr lang="en-US" i="1" dirty="0"/>
              <a:t>12</a:t>
            </a:r>
            <a:r>
              <a:rPr lang="en-US" dirty="0"/>
              <a:t>(4), 9-30. doi:10.3386/w6559</a:t>
            </a:r>
          </a:p>
          <a:p>
            <a:pPr marL="118872" indent="0">
              <a:buNone/>
            </a:pPr>
            <a:endParaRPr lang="en-US" dirty="0" smtClean="0"/>
          </a:p>
          <a:p>
            <a:pPr marL="118872" indent="0">
              <a:buNone/>
            </a:pPr>
            <a:r>
              <a:rPr lang="en-US" dirty="0" smtClean="0"/>
              <a:t>Shaw</a:t>
            </a:r>
            <a:r>
              <a:rPr lang="en-US" dirty="0"/>
              <a:t>, E. S. (1973). Financial deepening in economic development, New York: </a:t>
            </a:r>
            <a:r>
              <a:rPr lang="en-US" dirty="0" smtClean="0"/>
              <a:t>Oxford University </a:t>
            </a:r>
            <a:r>
              <a:rPr lang="en-US" dirty="0"/>
              <a:t>Press.</a:t>
            </a:r>
          </a:p>
          <a:p>
            <a:pPr marL="118872" indent="0">
              <a:buNone/>
            </a:pPr>
            <a:endParaRPr lang="en-US" dirty="0"/>
          </a:p>
          <a:p>
            <a:pPr marL="118872" indent="0">
              <a:buNone/>
            </a:pPr>
            <a:r>
              <a:rPr lang="en-US" dirty="0"/>
              <a:t>S</a:t>
            </a:r>
            <a:r>
              <a:rPr lang="en-US" dirty="0" smtClean="0"/>
              <a:t>tanley</a:t>
            </a:r>
            <a:r>
              <a:rPr lang="en-US" dirty="0"/>
              <a:t>, T. D., &amp; </a:t>
            </a:r>
            <a:r>
              <a:rPr lang="en-US" dirty="0" err="1"/>
              <a:t>Doucouliagos</a:t>
            </a:r>
            <a:r>
              <a:rPr lang="en-US" dirty="0"/>
              <a:t>, H. (2012). </a:t>
            </a:r>
            <a:r>
              <a:rPr lang="en-US" i="1" dirty="0"/>
              <a:t>Meta-regression Analysis in Economics </a:t>
            </a:r>
            <a:r>
              <a:rPr lang="en-US" i="1" dirty="0" smtClean="0"/>
              <a:t>and</a:t>
            </a:r>
            <a:r>
              <a:rPr lang="en-US" dirty="0"/>
              <a:t> </a:t>
            </a:r>
            <a:r>
              <a:rPr lang="en-US" i="1" dirty="0" smtClean="0"/>
              <a:t>Business</a:t>
            </a:r>
            <a:r>
              <a:rPr lang="en-US" dirty="0"/>
              <a:t>. New York: </a:t>
            </a:r>
            <a:r>
              <a:rPr lang="en-US" dirty="0" err="1"/>
              <a:t>Routledge</a:t>
            </a:r>
            <a:r>
              <a:rPr lang="en-US" dirty="0"/>
              <a:t>.</a:t>
            </a:r>
          </a:p>
          <a:p>
            <a:pPr marL="118872" indent="0">
              <a:buNone/>
            </a:pPr>
            <a:endParaRPr lang="en-US" dirty="0"/>
          </a:p>
        </p:txBody>
      </p:sp>
    </p:spTree>
    <p:extLst>
      <p:ext uri="{BB962C8B-B14F-4D97-AF65-F5344CB8AC3E}">
        <p14:creationId xmlns:p14="http://schemas.microsoft.com/office/powerpoint/2010/main" val="6068877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Module.thmx</Template>
  <TotalTime>269</TotalTime>
  <Words>2061</Words>
  <Application>Microsoft Macintosh PowerPoint</Application>
  <PresentationFormat>On-screen Show (4:3)</PresentationFormat>
  <Paragraphs>159</Paragraphs>
  <Slides>34</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36" baseType="lpstr">
      <vt:lpstr>Module</vt:lpstr>
      <vt:lpstr>Document</vt:lpstr>
      <vt:lpstr>PowerPoint Presentation</vt:lpstr>
      <vt:lpstr>Financial Deregulation and its Effect on Economic Growth: A Meta-Analysis  </vt:lpstr>
      <vt:lpstr>Motivations for Research</vt:lpstr>
      <vt:lpstr>Purpose of the Paper</vt:lpstr>
      <vt:lpstr>What is Financial Deregulation?</vt:lpstr>
      <vt:lpstr>The Study</vt:lpstr>
      <vt:lpstr>What is a Meta-Analysis?</vt:lpstr>
      <vt:lpstr>Problems with measure of effect</vt:lpstr>
      <vt:lpstr>Theoretical Economic Relation</vt:lpstr>
      <vt:lpstr>McKinnon-Shaw Hypotheses</vt:lpstr>
      <vt:lpstr>Theory Behind McKinnon-Shaw</vt:lpstr>
      <vt:lpstr>How the Theories Differ</vt:lpstr>
      <vt:lpstr>Keynesian Arguments</vt:lpstr>
      <vt:lpstr>The Deregulation Literature</vt:lpstr>
      <vt:lpstr>Significant Literature</vt:lpstr>
      <vt:lpstr>Conduction of Meta-Analysis</vt:lpstr>
      <vt:lpstr>WLS Meta-Regression</vt:lpstr>
      <vt:lpstr>Funnel Graph</vt:lpstr>
      <vt:lpstr>PowerPoint Presentation</vt:lpstr>
      <vt:lpstr>FAT-PET</vt:lpstr>
      <vt:lpstr>Conversion to Partials </vt:lpstr>
      <vt:lpstr>FAT-PET Results</vt:lpstr>
      <vt:lpstr>Multivariate meta-regression</vt:lpstr>
      <vt:lpstr>Variables Explained</vt:lpstr>
      <vt:lpstr>Results</vt:lpstr>
      <vt:lpstr>Results continued</vt:lpstr>
      <vt:lpstr>Final Results – OECD vs DC</vt:lpstr>
      <vt:lpstr>Conclusions</vt:lpstr>
      <vt:lpstr>Policy Implications</vt:lpstr>
      <vt:lpstr>References (1 of 5)</vt:lpstr>
      <vt:lpstr>References (2 of 5)</vt:lpstr>
      <vt:lpstr>References (3 of 5)</vt:lpstr>
      <vt:lpstr>References (4 of 4)</vt:lpstr>
      <vt:lpstr>References (5 of 5)</vt:lpstr>
    </vt:vector>
  </TitlesOfParts>
  <Company>Famous Chili/Southside High School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Deregulation and its Effect on Economic Growth: A Meta-Analysis  </dc:title>
  <dc:creator>Joseph Korkames</dc:creator>
  <cp:lastModifiedBy>Joseph Korkames</cp:lastModifiedBy>
  <cp:revision>18</cp:revision>
  <dcterms:created xsi:type="dcterms:W3CDTF">2015-04-07T13:56:50Z</dcterms:created>
  <dcterms:modified xsi:type="dcterms:W3CDTF">2015-09-12T00:01:06Z</dcterms:modified>
</cp:coreProperties>
</file>